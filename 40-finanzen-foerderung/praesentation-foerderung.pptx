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 · Cruizy — Vorhabenbeschreibung für Förderstellen · Ziel 20 s
Cruizy ist eine Dating- und Verbindungs-App für schwule, bisexuelle und queere Männer. Die Gesellschaft entsteht zum Start in Köln, in der CSD-Saison — frühestens 2028, geplant wird mit einem Jahr später. Diese Fassung beantwortet drei Fragen: Ist das durchdacht, ist es umsetzbar, und wofür genau ist das Geld gedacht.
Was hier geprüft wird: Wer sind die Antragsteller, was ist das Vorhaben, wie viel Geld für welchen Zeitraum?
Quelle: Handbuch A und B · Businessplan-Rohfassung (A-20) · Beschluss Nr.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2 · Das Vorhaben in fünf Sätzen · Ziel 40 s
Wir bauen eine App, die nicht nur zeigt, wer in der Nähe ist, sondern was gerade läuft und wo man willkommen ist. Zielgruppe sind schwule, bisexuelle und queere Männer im deutschsprachigen Raum; gestartet wird in einer Stadt, nicht im ganzen Markt. Das Produkt ist datensparsam gebaut: Der Server speichert keinen genauen Standort, es gibt keine Werbung und keinen Datenverkauf. Finanziert wird der Anlauf aus Eigenmitteln, Crowdfunding und, falls es fortgeführt wird, dem Gründungsstipendium. Im Modell ist Monat achtundzwanzig der erste Monat mit Überschuss.
Was hier geprüft wird: Versteht ein Fachfremder in einer Minute, worum es geht?
Quelle: Businessplan, Abschnitt 1 · Finanzmodell, Blatt „Kennzahlen“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3 · Was daran neu ist · Ziel 45 s
Vier Dinge, die es so nicht gibt. Erstens: Der Server kennt den genauen Standort nicht — er rundet jede Position sofort auf eine Rasterzelle, die Trilateration ist konstruktiv ausgeschlossen. Zweitens: drei getrennte Moderationszonen, mit einer privaten Zone, in der bewusst kein Klassifikator läuft. Drittens: eine gestufte Altersprüfung, die die volle Identifizierung nur dort verlangt, wo der Jugendschutz sie fordert. Viertens: ein redaktionell gepflegtes Ortsverzeichnis, das die App mit realen Orten verbindet statt mit Werbeflächen.
Was hier geprüft wird: Was ist Stand der Technik, was ist die eigene Leistung?
Quelle: Produktspezifikation A-29 · Moderationsarchitektur A-37 · vor Verwendung klären: Zonen speichern laut Spezifikation noch einen genauen Mittelpunkt (W-27, Vorschlag: runden)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4 · Wem das nützt — nachprüfbar · Ziel 40 s
Der Nutzen ist kein Pathos, sondern eine Liste. Menschen, für die ein Datenleck ein Zwangsouting wäre, bekommen eine App, die weniger über sie weiß. Wer sich zu einem Treffen verabredet, bekommt kostenlose Sicherheitsfunktionen statt Bezahlschranken. Orte der Szene — Bars, Vereine, Beratungsstellen — bekommen Sichtbarkeit ohne Werbebudget. Und der Jugendschutz wird nicht nachgerüstet, sondern ist Teil der Architektur.
Was hier geprüft wird: Gibt es einen gesellschaftlichen Nutzen, und ist er belegbar statt behauptet?
Quelle: Handbuch A, Prinzipien · Produktspezifikation A-29, Q-04 und Abschnitt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5 · Rechtsrahmen: vorher durchdacht, nicht nachgereicht · Ziel 45 s
Der Rechtsrahmen ist für uns kein Anhang, sondern die erste Arbeit gewesen. Für jede Pflicht steht die Umsetzung daneben: ausdrückliche Einwilligung nach Artikel neun, Folgenabschätzung vor der Verarbeitung, Löschbarkeit ab der ersten Migration. Jugendschutz mit gestufter Prüfung und Jugendschutzbeauftragtem. Plattformpflichten nach dem Digital Services Act mit Fallnummer, Begründung und Widerspruch. Und der Abgleich gegen bekannte Missbrauchsdarstellungen vor jeder Veröffentlichung — ohne schlanke Variante.
Was hier geprüft wird: Kennen die Antragsteller ihre Pflichten — oder wird das Risiko dem Träger überlassen?
Quelle: Businessplan, Abschnitt 8 · Mandantenakte (A-24) über 15 Rechtsgebiete mit vier Nachträgen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6 · Was vor dem ersten Euro schon steht · Ziel 40 s
Vor dem Start liegt Vorarbeit, die ohne Gesellschaft möglich ist: Rechtsfragen gebündelt, Anbieter verglichen, Ortsliste aufgebaut, das Produkt vollständig auf Papier mit sechshundertfünfzig prüfbaren Kriterien, ein Finanzmodell mit drei Szenarien. Danach folgt der Bauplan in vier Abschnitten — Fundament, Kernprodukt, Sicherheit, Härtung —, dann die vollständige Prüfung des Codes und erst am Ende die geschlossene Testphase mit hundertfünfzig bis zweihundertfünfzig Menschen.
Was hier geprüft wird: Ist der Plan realistisch, und hat das Team schon geliefert?
Quelle: Businessplan, Abschnitt 12 · Code-Planer · Aufgabensystem · Beschlüsse Nr. 45 und 73 · offen: Nr. 88 (Reihenfolge) und Nr. 89 (Größe der Testphase)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7 · Meilensteine mit Nachweis · Ziel 40 s
Jeder Meilenstein hat einen Nachweis, den man vorlegen kann — keine Selbsteinschätzung. Tag neunzig: die Zahl der Wartelisten-Anmeldungen. Monat neun: die Berichte zur Prüfung des Codes, zum Penetrationstest und zur Barrierefreiheit. Monat zwölf: Reichweite der eigenen Kanäle. Monat fünfzehn: aktive Nutzer in Köln. Monat achtundzwanzig: das erste positive Monatsergebnis. Wird ein Tor verfehlt, ist vorher schriftlich festgelegt, was dann passiert.
Was hier geprüft wird: Woran erkennt der Träger, dass das Geld gewirkt hat?
Quelle: Handbuch B, Prüftore · Beschluss Nr. 15 · Finanzmodell · Einmalkostenplan · Zeitrechnung für Tor 2 offen (Nr. 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8 · Wofür jeder Euro gedacht ist · Ziel 45 s
Die Einmalkosten von fünfundfünfzigtausendneunhundert Euro sind Position für Position benannt: die vollständige Prüfung des Codes, Gutachten zum Jugendschutz, Rechtstexte, Folgenabschätzung, Gestaltung, Texte, Penetrationstest, Barrierefreiheitsprüfung, Gründung, Marke und Testgeräte. Die laufenden Kosten stehen als Staffel nach Nutzerzahl — von vierzehnhundertzwanzig Euro im Monat vor dem Start bis rund fünftausendachthundert bei zwanzigtausend Nutzern. Der CSD-Auftritt zum Start und die eigenen Veranstaltungen stehen als eigene Zeilen daneben. Kein Posten ist ein Sammelbecken, und keiner enthält Gehälter.
Was hier geprüft wird: Ist die Mittelverwendung nachvollziehbar und förderfähig?
Quelle: Finanzmodell, Blatt „Annahmen“, Abschnitte 4, 6, 7 und 7a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9 · Wer es macht — und was zugekauft wird · Ziel 40 s
Zwei Gründer mit getrennten Bereichen: Nicolas Greulich verantwortet Technik und Produktentwicklung, Henry Luca Kurz Marketing, Veranstaltungen und die Partnerschaften mit Orten und Clubs. Was uns fehlt, kaufen wir gezielt zu und haben es budgetiert: Fachanwalt, Datenschutzbeauftragter, Jugendschutzbeauftragter, externe Gestaltung, die vollständige Prüfung des Codes, Penetrationstest, Barrierefreiheitsprüfung durch Betroffene und die Taxonomie-Beratung durch trans und nichtbinäre Personen. Das ist keine Notlösung, sondern der Plan.
Was hier geprüft wird: Können die Antragsteller das umsetzen, und wie werden Lücken geschlossen?
Quelle: Businessplan, Abschnitt 7 · Gesellschaftsvertrag, Eckpunkte (Ressortprinzip) · Kostenstaffel und Einmalkosten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10 · Risiken, die wir selbst benennen · Ziel 40 s
Vier Risiken nennen wir zuerst, weil sie das Vorhaben beenden oder verteuern können. Die Dichte in der ersten Stadt kann ausbleiben — deshalb nur eine Stadt und ein Abbruchtor an Tag neunzig. Der organische Kanal kann nicht tragen — deshalb ein zweites Tor in Monat zwölf. Ein Datenleck wäre existenziell — deshalb Standortrundung, Zugriffstrennung und ein Penetrationstest vor dem Start. Und die Jugendschutzfrage kann teuer ausgehen — deshalb ist die Prüfstufe eine Einstellung und kein Umbau.
Was hier geprüft wird: Sind die Risiken erkannt, und gibt es Gegenmaßnahmen statt Hoffnung?
Quelle: Businessplan, Abschnitt 11 · Finanzmodell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11 · Was nach der Förderung trägt · Ziel 35 s
Die Förderung überbrückt den Anlauf, sie ersetzt nicht das Geschäft. Fünf Erlösquellen; am Ende des dritten Jahres kommt rund ein Sechstel der Erlöse aus Werkzeugabo, Ticketanteil, Unterstützerbeiträgen und Gesundheitspartnerschaft. Rechnerisch decken zweihundertneunundneunzig Zahler die laufenden Kosten bei fünftausend aktiven Nutzern; das erste positive Monatsergebnis liegt im Modell in Monat achtundzwanzig. Ohne Werbung, ohne Datenverkauf und ohne bezahlte Sichtbarkeit — das ist ausgeschlossen, nicht bloß nicht vorgesehen.
Was hier geprüft wird: Trägt sich das Vorhaben nach Ende der Förderung?
Quelle: Finanzmodell, Blätter „Realistisch“ (Monat 36) und „Kennzahlen“ (Abschnitt 6) · Beschlüsse Nr. 65 und 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Folie 12 · Welche Folie für welches Programm angepasst wird · Ziel 35 s
Diese Fassung ist ein Gerüst, kein Antrag. Für das Gründungsstipendium wird die Mittelfolie auf Lebensunterhalt umgestellt, weil das Programm nur Personen fördert. Für EXIST kommen Hochschulanbindung und der Nachweis dazu, dass noch keine Gesellschaft besteht. Für Wettbewerbe — an denen wir in der Vorbereitungsphase bewusst nicht teilnehmen — zählen Innovationsgehalt und Nutzen; dort wird gekürzt statt ergänzt. Die Anlagen sind in allen Fällen dieselben.
Was hier geprüft wird: Passt die Präsentation zum Programm, oder ist sie eine Standardfassung?
Quelle: Fördermittel-Übersicht A-09 · EXIST-Voraussetzungen A-10 · Wettbewerbsliste A-12 · Beschlüsse Nr. 21, 33, 37 und 62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B"/>
        </a:solidFill>
      </p:bgPr>
    </p:bg>
    <p:spTree>
      <p:nvGrpSpPr>
        <p:cNvPr id="1" name=""/>
        <p:cNvGrpSpPr/>
        <p:nvPr/>
      </p:nvGrpSpPr>
      <p:grpSpPr>
        <a:xfrm>
          <a:off x="0" y="0"/>
          <a:ext cx="0" cy="0"/>
          <a:chOff x="0" y="0"/>
          <a:chExt cx="0" cy="0"/>
        </a:xfrm>
      </p:grpSpPr>
      <p:sp>
        <p:nvSpPr>
          <p:cNvPr id="3" name="Shape 0"/>
          <p:cNvSpPr/>
          <p:nvPr/>
        </p:nvSpPr>
        <p:spPr>
          <a:xfrm>
            <a:off x="640080" y="1371600"/>
            <a:ext cx="822960" cy="822960"/>
          </a:xfrm>
          <a:prstGeom prst="roundRect">
            <a:avLst>
              <a:gd name="adj" fmla="val 17778"/>
            </a:avLst>
          </a:prstGeom>
          <a:solidFill>
            <a:srgbClr val="4D7CFE"/>
          </a:solidFill>
          <a:ln w="12700">
            <a:solidFill>
              <a:srgbClr val="4D7CFE"/>
            </a:solidFill>
            <a:prstDash val="solid"/>
          </a:ln>
        </p:spPr>
      </p:sp>
      <p:sp>
        <p:nvSpPr>
          <p:cNvPr id="4" name="Text 1"/>
          <p:cNvSpPr txBox="1"/>
          <p:nvPr/>
        </p:nvSpPr>
        <p:spPr>
          <a:xfrm>
            <a:off x="640080" y="1371600"/>
            <a:ext cx="822960" cy="822960"/>
          </a:xfrm>
          <a:prstGeom prst="rect">
            <a:avLst/>
          </a:prstGeom>
          <a:noFill/>
          <a:ln/>
        </p:spPr>
        <p:txBody>
          <a:bodyPr wrap="square" lIns="0" tIns="0" rIns="0" bIns="0" rtlCol="0" anchor="ctr"/>
          <a:lstStyle/>
          <a:p>
            <a:pPr algn="ctr" indent="0" marL="0">
              <a:buNone/>
            </a:pPr>
            <a:r>
              <a:rPr lang="en-US" sz="4000" b="1" dirty="0">
                <a:solidFill>
                  <a:srgbClr val="0B1220"/>
                </a:solidFill>
                <a:latin typeface="Cambria" pitchFamily="34" charset="0"/>
                <a:ea typeface="Cambria" pitchFamily="34" charset="-122"/>
                <a:cs typeface="Cambria" pitchFamily="34" charset="-120"/>
              </a:rPr>
              <a:t>C</a:t>
            </a:r>
            <a:endParaRPr lang="en-US" sz="4000" dirty="0"/>
          </a:p>
        </p:txBody>
      </p:sp>
      <p:sp>
        <p:nvSpPr>
          <p:cNvPr id="5" name="Text 2"/>
          <p:cNvSpPr txBox="1"/>
          <p:nvPr/>
        </p:nvSpPr>
        <p:spPr>
          <a:xfrm>
            <a:off x="640080" y="2331720"/>
            <a:ext cx="6949440" cy="822960"/>
          </a:xfrm>
          <a:prstGeom prst="rect">
            <a:avLst/>
          </a:prstGeom>
          <a:noFill/>
          <a:ln/>
        </p:spPr>
        <p:txBody>
          <a:bodyPr wrap="square" lIns="0" tIns="0" rIns="0" bIns="0" rtlCol="0" anchor="ctr"/>
          <a:lstStyle/>
          <a:p>
            <a:pPr indent="0" marL="0">
              <a:buNone/>
            </a:pPr>
            <a:r>
              <a:rPr lang="en-US" sz="5200" b="1" dirty="0">
                <a:solidFill>
                  <a:srgbClr val="F2F5F9"/>
                </a:solidFill>
                <a:latin typeface="Cambria" pitchFamily="34" charset="0"/>
                <a:ea typeface="Cambria" pitchFamily="34" charset="-122"/>
                <a:cs typeface="Cambria" pitchFamily="34" charset="-120"/>
              </a:rPr>
              <a:t>Cruizy</a:t>
            </a:r>
            <a:endParaRPr lang="en-US" sz="5200" dirty="0"/>
          </a:p>
        </p:txBody>
      </p:sp>
      <p:sp>
        <p:nvSpPr>
          <p:cNvPr id="6" name="Text 3"/>
          <p:cNvSpPr txBox="1"/>
          <p:nvPr/>
        </p:nvSpPr>
        <p:spPr>
          <a:xfrm>
            <a:off x="640080" y="3154680"/>
            <a:ext cx="6949440" cy="457200"/>
          </a:xfrm>
          <a:prstGeom prst="rect">
            <a:avLst/>
          </a:prstGeom>
          <a:noFill/>
          <a:ln/>
        </p:spPr>
        <p:txBody>
          <a:bodyPr wrap="square" lIns="0" tIns="0" rIns="0" bIns="0" rtlCol="0" anchor="ctr"/>
          <a:lstStyle/>
          <a:p>
            <a:pPr indent="0" marL="0">
              <a:buNone/>
            </a:pPr>
            <a:r>
              <a:rPr lang="en-US" sz="1800" dirty="0">
                <a:solidFill>
                  <a:srgbClr val="9DBAFF"/>
                </a:solidFill>
                <a:latin typeface="Calibri" pitchFamily="34" charset="0"/>
                <a:ea typeface="Calibri" pitchFamily="34" charset="-122"/>
                <a:cs typeface="Calibri" pitchFamily="34" charset="-120"/>
              </a:rPr>
              <a:t>Vorhabenbeschreibung für Förderstellen und Gründungswettbewerbe</a:t>
            </a:r>
            <a:endParaRPr lang="en-US" sz="1800" dirty="0"/>
          </a:p>
        </p:txBody>
      </p:sp>
      <p:sp>
        <p:nvSpPr>
          <p:cNvPr id="7" name="Text 4"/>
          <p:cNvSpPr txBox="1"/>
          <p:nvPr/>
        </p:nvSpPr>
        <p:spPr>
          <a:xfrm>
            <a:off x="640080" y="3703320"/>
            <a:ext cx="6949440" cy="1005840"/>
          </a:xfrm>
          <a:prstGeom prst="rect">
            <a:avLst/>
          </a:prstGeom>
          <a:noFill/>
          <a:ln/>
        </p:spPr>
        <p:txBody>
          <a:bodyPr wrap="square" lIns="0" tIns="0" rIns="0" bIns="0" rtlCol="0" anchor="ctr"/>
          <a:lstStyle/>
          <a:p>
            <a:pPr indent="0" marL="0">
              <a:lnSpc>
                <a:spcPct val="120000"/>
              </a:lnSpc>
              <a:buNone/>
            </a:pPr>
            <a:r>
              <a:rPr lang="en-US" sz="1300" dirty="0">
                <a:solidFill>
                  <a:srgbClr val="98A3B3"/>
                </a:solidFill>
                <a:latin typeface="Calibri" pitchFamily="34" charset="0"/>
                <a:ea typeface="Calibri" pitchFamily="34" charset="-122"/>
                <a:cs typeface="Calibri" pitchFamily="34" charset="-120"/>
              </a:rPr>
              <a:t>Dating- und Verbindungs-App für schwule, bisexuelle und queere Männer im deutschsprachigen Raum. Gesellschaft und Start in Köln zur CSD-Saison — frühestens 2028, geplant ein Jahr später. Diese Fassung beantwortet: Ist das durchdacht, ist es umsetzbar, wofür ist das Geld gedacht.</a:t>
            </a:r>
            <a:endParaRPr lang="en-US" sz="1300" dirty="0"/>
          </a:p>
        </p:txBody>
      </p:sp>
      <p:sp>
        <p:nvSpPr>
          <p:cNvPr id="8" name="Text 5"/>
          <p:cNvSpPr txBox="1"/>
          <p:nvPr/>
        </p:nvSpPr>
        <p:spPr>
          <a:xfrm>
            <a:off x="640080" y="5806440"/>
            <a:ext cx="5486400" cy="274320"/>
          </a:xfrm>
          <a:prstGeom prst="rect">
            <a:avLst/>
          </a:prstGeom>
          <a:noFill/>
          <a:ln/>
        </p:spPr>
        <p:txBody>
          <a:bodyPr wrap="square" lIns="0" tIns="0" rIns="0" bIns="0" rtlCol="0" anchor="ctr"/>
          <a:lstStyle/>
          <a:p>
            <a:pPr indent="0" marL="0">
              <a:buNone/>
            </a:pPr>
            <a:r>
              <a:rPr lang="en-US" sz="1200" dirty="0">
                <a:solidFill>
                  <a:srgbClr val="F2F5F9"/>
                </a:solidFill>
                <a:latin typeface="Calibri" pitchFamily="34" charset="0"/>
                <a:ea typeface="Calibri" pitchFamily="34" charset="-122"/>
                <a:cs typeface="Calibri" pitchFamily="34" charset="-120"/>
              </a:rPr>
              <a:t>Henry Luca Kurz · Nicolas Greulich</a:t>
            </a:r>
            <a:endParaRPr lang="en-US" sz="1200" dirty="0"/>
          </a:p>
        </p:txBody>
      </p:sp>
      <p:sp>
        <p:nvSpPr>
          <p:cNvPr id="9" name="Text 6"/>
          <p:cNvSpPr txBox="1"/>
          <p:nvPr/>
        </p:nvSpPr>
        <p:spPr>
          <a:xfrm>
            <a:off x="640080" y="6108192"/>
            <a:ext cx="9144000" cy="274320"/>
          </a:xfrm>
          <a:prstGeom prst="rect">
            <a:avLst/>
          </a:prstGeom>
          <a:noFill/>
          <a:ln/>
        </p:spPr>
        <p:txBody>
          <a:bodyPr wrap="square" lIns="0" tIns="0" rIns="0" bIns="0" rtlCol="0" anchor="ctr"/>
          <a:lstStyle/>
          <a:p>
            <a:pPr indent="0" marL="0">
              <a:buNone/>
            </a:pPr>
            <a:r>
              <a:rPr lang="en-US" sz="950" dirty="0">
                <a:solidFill>
                  <a:srgbClr val="6A7686"/>
                </a:solidFill>
                <a:latin typeface="Calibri" pitchFamily="34" charset="0"/>
                <a:ea typeface="Calibri" pitchFamily="34" charset="-122"/>
                <a:cs typeface="Calibri" pitchFamily="34" charset="-120"/>
              </a:rPr>
              <a:t>ENTWURF · Stand 26.09.2026 · Zahlen aus dem Finanzmodell vom 21.09.2026 · Alle Förderangaben sind vor Antragstellung beim Träger zu bestätigen</a:t>
            </a:r>
            <a:endParaRPr lang="en-US" sz="950" dirty="0"/>
          </a:p>
        </p:txBody>
      </p:sp>
      <p:sp>
        <p:nvSpPr>
          <p:cNvPr id="10" name="Shape 7"/>
          <p:cNvSpPr/>
          <p:nvPr/>
        </p:nvSpPr>
        <p:spPr>
          <a:xfrm>
            <a:off x="7863840" y="1371600"/>
            <a:ext cx="3685032" cy="1051560"/>
          </a:xfrm>
          <a:prstGeom prst="roundRect">
            <a:avLst>
              <a:gd name="adj" fmla="val 521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1" name="Text 8"/>
          <p:cNvSpPr txBox="1"/>
          <p:nvPr/>
        </p:nvSpPr>
        <p:spPr>
          <a:xfrm>
            <a:off x="8138160" y="1508760"/>
            <a:ext cx="3108960" cy="411480"/>
          </a:xfrm>
          <a:prstGeom prst="rect">
            <a:avLst/>
          </a:prstGeom>
          <a:noFill/>
          <a:ln/>
        </p:spPr>
        <p:txBody>
          <a:bodyPr wrap="square" lIns="0" tIns="0" rIns="0" bIns="0" rtlCol="0" anchor="ctr"/>
          <a:lstStyle/>
          <a:p>
            <a:pPr indent="0" marL="0">
              <a:buNone/>
            </a:pPr>
            <a:r>
              <a:rPr lang="en-US" sz="2200" b="1" dirty="0">
                <a:solidFill>
                  <a:srgbClr val="9DBAFF"/>
                </a:solidFill>
                <a:latin typeface="Cambria" pitchFamily="34" charset="0"/>
                <a:ea typeface="Cambria" pitchFamily="34" charset="-122"/>
                <a:cs typeface="Cambria" pitchFamily="34" charset="-120"/>
              </a:rPr>
              <a:t>55.900 €</a:t>
            </a:r>
            <a:endParaRPr lang="en-US" sz="2200" dirty="0"/>
          </a:p>
        </p:txBody>
      </p:sp>
      <p:sp>
        <p:nvSpPr>
          <p:cNvPr id="12" name="Text 9"/>
          <p:cNvSpPr txBox="1"/>
          <p:nvPr/>
        </p:nvSpPr>
        <p:spPr>
          <a:xfrm>
            <a:off x="8138160" y="1938528"/>
            <a:ext cx="3108960" cy="36576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Einmalkosten, Position für Position benannt</a:t>
            </a:r>
            <a:endParaRPr lang="en-US" sz="1100" dirty="0"/>
          </a:p>
        </p:txBody>
      </p:sp>
      <p:sp>
        <p:nvSpPr>
          <p:cNvPr id="13" name="Shape 10"/>
          <p:cNvSpPr/>
          <p:nvPr/>
        </p:nvSpPr>
        <p:spPr>
          <a:xfrm>
            <a:off x="7863840" y="2606040"/>
            <a:ext cx="3685032" cy="1051560"/>
          </a:xfrm>
          <a:prstGeom prst="roundRect">
            <a:avLst>
              <a:gd name="adj" fmla="val 521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4" name="Text 11"/>
          <p:cNvSpPr txBox="1"/>
          <p:nvPr/>
        </p:nvSpPr>
        <p:spPr>
          <a:xfrm>
            <a:off x="8138160" y="2743200"/>
            <a:ext cx="3108960" cy="411480"/>
          </a:xfrm>
          <a:prstGeom prst="rect">
            <a:avLst/>
          </a:prstGeom>
          <a:noFill/>
          <a:ln/>
        </p:spPr>
        <p:txBody>
          <a:bodyPr wrap="square" lIns="0" tIns="0" rIns="0" bIns="0" rtlCol="0" anchor="ctr"/>
          <a:lstStyle/>
          <a:p>
            <a:pPr indent="0" marL="0">
              <a:buNone/>
            </a:pPr>
            <a:r>
              <a:rPr lang="en-US" sz="2200" b="1" dirty="0">
                <a:solidFill>
                  <a:srgbClr val="9DBAFF"/>
                </a:solidFill>
                <a:latin typeface="Cambria" pitchFamily="34" charset="0"/>
                <a:ea typeface="Cambria" pitchFamily="34" charset="-122"/>
                <a:cs typeface="Cambria" pitchFamily="34" charset="-120"/>
              </a:rPr>
              <a:t>Monat 28</a:t>
            </a:r>
            <a:endParaRPr lang="en-US" sz="2200" dirty="0"/>
          </a:p>
        </p:txBody>
      </p:sp>
      <p:sp>
        <p:nvSpPr>
          <p:cNvPr id="15" name="Text 12"/>
          <p:cNvSpPr txBox="1"/>
          <p:nvPr/>
        </p:nvSpPr>
        <p:spPr>
          <a:xfrm>
            <a:off x="8138160" y="3172968"/>
            <a:ext cx="3108960" cy="36576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erstes positives Monatsergebnis im Modell</a:t>
            </a:r>
            <a:endParaRPr lang="en-US" sz="1100" dirty="0"/>
          </a:p>
        </p:txBody>
      </p:sp>
      <p:sp>
        <p:nvSpPr>
          <p:cNvPr id="16" name="Shape 13"/>
          <p:cNvSpPr/>
          <p:nvPr/>
        </p:nvSpPr>
        <p:spPr>
          <a:xfrm>
            <a:off x="7863840" y="3840480"/>
            <a:ext cx="3685032" cy="1051560"/>
          </a:xfrm>
          <a:prstGeom prst="roundRect">
            <a:avLst>
              <a:gd name="adj" fmla="val 521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7" name="Text 14"/>
          <p:cNvSpPr txBox="1"/>
          <p:nvPr/>
        </p:nvSpPr>
        <p:spPr>
          <a:xfrm>
            <a:off x="8138160" y="3977640"/>
            <a:ext cx="3108960" cy="411480"/>
          </a:xfrm>
          <a:prstGeom prst="rect">
            <a:avLst/>
          </a:prstGeom>
          <a:noFill/>
          <a:ln/>
        </p:spPr>
        <p:txBody>
          <a:bodyPr wrap="square" lIns="0" tIns="0" rIns="0" bIns="0" rtlCol="0" anchor="ctr"/>
          <a:lstStyle/>
          <a:p>
            <a:pPr indent="0" marL="0">
              <a:buNone/>
            </a:pPr>
            <a:r>
              <a:rPr lang="en-US" sz="2200" b="1" dirty="0">
                <a:solidFill>
                  <a:srgbClr val="9DBAFF"/>
                </a:solidFill>
                <a:latin typeface="Cambria" pitchFamily="34" charset="0"/>
                <a:ea typeface="Cambria" pitchFamily="34" charset="-122"/>
                <a:cs typeface="Cambria" pitchFamily="34" charset="-120"/>
              </a:rPr>
              <a:t>15 Rechtsgebiete</a:t>
            </a:r>
            <a:endParaRPr lang="en-US" sz="2200" dirty="0"/>
          </a:p>
        </p:txBody>
      </p:sp>
      <p:sp>
        <p:nvSpPr>
          <p:cNvPr id="18" name="Text 15"/>
          <p:cNvSpPr txBox="1"/>
          <p:nvPr/>
        </p:nvSpPr>
        <p:spPr>
          <a:xfrm>
            <a:off x="8138160" y="4407408"/>
            <a:ext cx="3108960" cy="36576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Fragen vorab für den Fachanwalt gebündelt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KURZFASSUNG</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Das Vorhaben in fünf Sätzen</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2</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sp>
        <p:nvSpPr>
          <p:cNvPr id="8" name="Shape 5"/>
          <p:cNvSpPr/>
          <p:nvPr/>
        </p:nvSpPr>
        <p:spPr>
          <a:xfrm>
            <a:off x="640080" y="1600200"/>
            <a:ext cx="10908792" cy="786384"/>
          </a:xfrm>
          <a:prstGeom prst="roundRect">
            <a:avLst>
              <a:gd name="adj" fmla="val 697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801368"/>
            <a:ext cx="1737360" cy="365760"/>
          </a:xfrm>
          <a:prstGeom prst="rect">
            <a:avLst/>
          </a:prstGeom>
          <a:noFill/>
          <a:ln/>
        </p:spPr>
        <p:txBody>
          <a:bodyPr wrap="square" lIns="0" tIns="0" rIns="0" bIns="0" rtlCol="0" anchor="ctr"/>
          <a:lstStyle/>
          <a:p>
            <a:pPr indent="0" marL="0">
              <a:buNone/>
            </a:pPr>
            <a:r>
              <a:rPr lang="en-US" sz="1300" b="1" dirty="0">
                <a:solidFill>
                  <a:srgbClr val="9DBAFF"/>
                </a:solidFill>
                <a:latin typeface="Calibri" pitchFamily="34" charset="0"/>
                <a:ea typeface="Calibri" pitchFamily="34" charset="-122"/>
                <a:cs typeface="Calibri" pitchFamily="34" charset="-120"/>
              </a:rPr>
              <a:t>Was</a:t>
            </a:r>
            <a:endParaRPr lang="en-US" sz="1300" dirty="0"/>
          </a:p>
        </p:txBody>
      </p:sp>
      <p:sp>
        <p:nvSpPr>
          <p:cNvPr id="10" name="Text 7"/>
          <p:cNvSpPr txBox="1"/>
          <p:nvPr/>
        </p:nvSpPr>
        <p:spPr>
          <a:xfrm>
            <a:off x="2743200" y="1801368"/>
            <a:ext cx="8531352" cy="411480"/>
          </a:xfrm>
          <a:prstGeom prst="rect">
            <a:avLst/>
          </a:prstGeom>
          <a:noFill/>
          <a:ln/>
        </p:spPr>
        <p:txBody>
          <a:bodyPr wrap="square" lIns="0" tIns="0" rIns="0" bIns="0" rtlCol="0" anchor="ctr"/>
          <a:lstStyle/>
          <a:p>
            <a:pPr indent="0" marL="0">
              <a:buNone/>
            </a:pPr>
            <a:r>
              <a:rPr lang="en-US" sz="1250" dirty="0">
                <a:solidFill>
                  <a:srgbClr val="F2F5F9"/>
                </a:solidFill>
                <a:latin typeface="Calibri" pitchFamily="34" charset="0"/>
                <a:ea typeface="Calibri" pitchFamily="34" charset="-122"/>
                <a:cs typeface="Calibri" pitchFamily="34" charset="-120"/>
              </a:rPr>
              <a:t>Eine App, die zeigt, was gerade läuft und wo man willkommen ist — nicht nur, wer in der Nähe ist.</a:t>
            </a:r>
            <a:endParaRPr lang="en-US" sz="1250" dirty="0"/>
          </a:p>
        </p:txBody>
      </p:sp>
      <p:sp>
        <p:nvSpPr>
          <p:cNvPr id="11" name="Shape 8"/>
          <p:cNvSpPr/>
          <p:nvPr/>
        </p:nvSpPr>
        <p:spPr>
          <a:xfrm>
            <a:off x="640080" y="2478024"/>
            <a:ext cx="10908792" cy="786384"/>
          </a:xfrm>
          <a:prstGeom prst="roundRect">
            <a:avLst>
              <a:gd name="adj" fmla="val 697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896112" y="2679192"/>
            <a:ext cx="1737360" cy="365760"/>
          </a:xfrm>
          <a:prstGeom prst="rect">
            <a:avLst/>
          </a:prstGeom>
          <a:noFill/>
          <a:ln/>
        </p:spPr>
        <p:txBody>
          <a:bodyPr wrap="square" lIns="0" tIns="0" rIns="0" bIns="0" rtlCol="0" anchor="ctr"/>
          <a:lstStyle/>
          <a:p>
            <a:pPr indent="0" marL="0">
              <a:buNone/>
            </a:pPr>
            <a:r>
              <a:rPr lang="en-US" sz="1300" b="1" dirty="0">
                <a:solidFill>
                  <a:srgbClr val="9DBAFF"/>
                </a:solidFill>
                <a:latin typeface="Calibri" pitchFamily="34" charset="0"/>
                <a:ea typeface="Calibri" pitchFamily="34" charset="-122"/>
                <a:cs typeface="Calibri" pitchFamily="34" charset="-120"/>
              </a:rPr>
              <a:t>Für wen</a:t>
            </a:r>
            <a:endParaRPr lang="en-US" sz="1300" dirty="0"/>
          </a:p>
        </p:txBody>
      </p:sp>
      <p:sp>
        <p:nvSpPr>
          <p:cNvPr id="13" name="Text 10"/>
          <p:cNvSpPr txBox="1"/>
          <p:nvPr/>
        </p:nvSpPr>
        <p:spPr>
          <a:xfrm>
            <a:off x="2743200" y="2679192"/>
            <a:ext cx="8531352" cy="411480"/>
          </a:xfrm>
          <a:prstGeom prst="rect">
            <a:avLst/>
          </a:prstGeom>
          <a:noFill/>
          <a:ln/>
        </p:spPr>
        <p:txBody>
          <a:bodyPr wrap="square" lIns="0" tIns="0" rIns="0" bIns="0" rtlCol="0" anchor="ctr"/>
          <a:lstStyle/>
          <a:p>
            <a:pPr indent="0" marL="0">
              <a:buNone/>
            </a:pPr>
            <a:r>
              <a:rPr lang="en-US" sz="1250" dirty="0">
                <a:solidFill>
                  <a:srgbClr val="F2F5F9"/>
                </a:solidFill>
                <a:latin typeface="Calibri" pitchFamily="34" charset="0"/>
                <a:ea typeface="Calibri" pitchFamily="34" charset="-122"/>
                <a:cs typeface="Calibri" pitchFamily="34" charset="-120"/>
              </a:rPr>
              <a:t>Schwule, bisexuelle und queere Männer im deutschsprachigen Raum; geschätzt 600.000 bis 850.000 aktive Nutzer.</a:t>
            </a:r>
            <a:endParaRPr lang="en-US" sz="1250" dirty="0"/>
          </a:p>
        </p:txBody>
      </p:sp>
      <p:sp>
        <p:nvSpPr>
          <p:cNvPr id="14" name="Shape 11"/>
          <p:cNvSpPr/>
          <p:nvPr/>
        </p:nvSpPr>
        <p:spPr>
          <a:xfrm>
            <a:off x="640080" y="3355848"/>
            <a:ext cx="10908792" cy="786384"/>
          </a:xfrm>
          <a:prstGeom prst="roundRect">
            <a:avLst>
              <a:gd name="adj" fmla="val 697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896112" y="3557016"/>
            <a:ext cx="1737360" cy="365760"/>
          </a:xfrm>
          <a:prstGeom prst="rect">
            <a:avLst/>
          </a:prstGeom>
          <a:noFill/>
          <a:ln/>
        </p:spPr>
        <p:txBody>
          <a:bodyPr wrap="square" lIns="0" tIns="0" rIns="0" bIns="0" rtlCol="0" anchor="ctr"/>
          <a:lstStyle/>
          <a:p>
            <a:pPr indent="0" marL="0">
              <a:buNone/>
            </a:pPr>
            <a:r>
              <a:rPr lang="en-US" sz="1300" b="1" dirty="0">
                <a:solidFill>
                  <a:srgbClr val="9DBAFF"/>
                </a:solidFill>
                <a:latin typeface="Calibri" pitchFamily="34" charset="0"/>
                <a:ea typeface="Calibri" pitchFamily="34" charset="-122"/>
                <a:cs typeface="Calibri" pitchFamily="34" charset="-120"/>
              </a:rPr>
              <a:t>Wo und wann</a:t>
            </a:r>
            <a:endParaRPr lang="en-US" sz="1300" dirty="0"/>
          </a:p>
        </p:txBody>
      </p:sp>
      <p:sp>
        <p:nvSpPr>
          <p:cNvPr id="16" name="Text 13"/>
          <p:cNvSpPr txBox="1"/>
          <p:nvPr/>
        </p:nvSpPr>
        <p:spPr>
          <a:xfrm>
            <a:off x="2743200" y="3557016"/>
            <a:ext cx="8531352" cy="411480"/>
          </a:xfrm>
          <a:prstGeom prst="rect">
            <a:avLst/>
          </a:prstGeom>
          <a:noFill/>
          <a:ln/>
        </p:spPr>
        <p:txBody>
          <a:bodyPr wrap="square" lIns="0" tIns="0" rIns="0" bIns="0" rtlCol="0" anchor="ctr"/>
          <a:lstStyle/>
          <a:p>
            <a:pPr indent="0" marL="0">
              <a:buNone/>
            </a:pPr>
            <a:r>
              <a:rPr lang="en-US" sz="1250" dirty="0">
                <a:solidFill>
                  <a:srgbClr val="F2F5F9"/>
                </a:solidFill>
                <a:latin typeface="Calibri" pitchFamily="34" charset="0"/>
                <a:ea typeface="Calibri" pitchFamily="34" charset="-122"/>
                <a:cs typeface="Calibri" pitchFamily="34" charset="-120"/>
              </a:rPr>
              <a:t>Start in Köln zur CSD-Saison — frühestens 2028, geplant ein Jahr später; eine Stadt nach der anderen. Bis dahin Vorbereitung ohne Gesellschaft.</a:t>
            </a:r>
            <a:endParaRPr lang="en-US" sz="1250" dirty="0"/>
          </a:p>
        </p:txBody>
      </p:sp>
      <p:sp>
        <p:nvSpPr>
          <p:cNvPr id="17" name="Shape 14"/>
          <p:cNvSpPr/>
          <p:nvPr/>
        </p:nvSpPr>
        <p:spPr>
          <a:xfrm>
            <a:off x="640080" y="4233672"/>
            <a:ext cx="10908792" cy="786384"/>
          </a:xfrm>
          <a:prstGeom prst="roundRect">
            <a:avLst>
              <a:gd name="adj" fmla="val 697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8" name="Text 15"/>
          <p:cNvSpPr txBox="1"/>
          <p:nvPr/>
        </p:nvSpPr>
        <p:spPr>
          <a:xfrm>
            <a:off x="896112" y="4434840"/>
            <a:ext cx="1737360" cy="365760"/>
          </a:xfrm>
          <a:prstGeom prst="rect">
            <a:avLst/>
          </a:prstGeom>
          <a:noFill/>
          <a:ln/>
        </p:spPr>
        <p:txBody>
          <a:bodyPr wrap="square" lIns="0" tIns="0" rIns="0" bIns="0" rtlCol="0" anchor="ctr"/>
          <a:lstStyle/>
          <a:p>
            <a:pPr indent="0" marL="0">
              <a:buNone/>
            </a:pPr>
            <a:r>
              <a:rPr lang="en-US" sz="1300" b="1" dirty="0">
                <a:solidFill>
                  <a:srgbClr val="9DBAFF"/>
                </a:solidFill>
                <a:latin typeface="Calibri" pitchFamily="34" charset="0"/>
                <a:ea typeface="Calibri" pitchFamily="34" charset="-122"/>
                <a:cs typeface="Calibri" pitchFamily="34" charset="-120"/>
              </a:rPr>
              <a:t>Wie gebaut</a:t>
            </a:r>
            <a:endParaRPr lang="en-US" sz="1300" dirty="0"/>
          </a:p>
        </p:txBody>
      </p:sp>
      <p:sp>
        <p:nvSpPr>
          <p:cNvPr id="19" name="Text 16"/>
          <p:cNvSpPr txBox="1"/>
          <p:nvPr/>
        </p:nvSpPr>
        <p:spPr>
          <a:xfrm>
            <a:off x="2743200" y="4434840"/>
            <a:ext cx="8531352" cy="411480"/>
          </a:xfrm>
          <a:prstGeom prst="rect">
            <a:avLst/>
          </a:prstGeom>
          <a:noFill/>
          <a:ln/>
        </p:spPr>
        <p:txBody>
          <a:bodyPr wrap="square" lIns="0" tIns="0" rIns="0" bIns="0" rtlCol="0" anchor="ctr"/>
          <a:lstStyle/>
          <a:p>
            <a:pPr indent="0" marL="0">
              <a:buNone/>
            </a:pPr>
            <a:r>
              <a:rPr lang="en-US" sz="1250" dirty="0">
                <a:solidFill>
                  <a:srgbClr val="F2F5F9"/>
                </a:solidFill>
                <a:latin typeface="Calibri" pitchFamily="34" charset="0"/>
                <a:ea typeface="Calibri" pitchFamily="34" charset="-122"/>
                <a:cs typeface="Calibri" pitchFamily="34" charset="-120"/>
              </a:rPr>
              <a:t>Datensparsam: kein genauer Standort auf dem Server, keine Werbung, kein Datenverkauf, deutsches Hosting.</a:t>
            </a:r>
            <a:endParaRPr lang="en-US" sz="1250" dirty="0"/>
          </a:p>
        </p:txBody>
      </p:sp>
      <p:sp>
        <p:nvSpPr>
          <p:cNvPr id="20" name="Shape 17"/>
          <p:cNvSpPr/>
          <p:nvPr/>
        </p:nvSpPr>
        <p:spPr>
          <a:xfrm>
            <a:off x="640080" y="5111496"/>
            <a:ext cx="10908792" cy="786384"/>
          </a:xfrm>
          <a:prstGeom prst="roundRect">
            <a:avLst>
              <a:gd name="adj" fmla="val 6977"/>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1" name="Text 18"/>
          <p:cNvSpPr txBox="1"/>
          <p:nvPr/>
        </p:nvSpPr>
        <p:spPr>
          <a:xfrm>
            <a:off x="896112" y="5312664"/>
            <a:ext cx="1737360" cy="365760"/>
          </a:xfrm>
          <a:prstGeom prst="rect">
            <a:avLst/>
          </a:prstGeom>
          <a:noFill/>
          <a:ln/>
        </p:spPr>
        <p:txBody>
          <a:bodyPr wrap="square" lIns="0" tIns="0" rIns="0" bIns="0" rtlCol="0" anchor="ctr"/>
          <a:lstStyle/>
          <a:p>
            <a:pPr indent="0" marL="0">
              <a:buNone/>
            </a:pPr>
            <a:r>
              <a:rPr lang="en-US" sz="1300" b="1" dirty="0">
                <a:solidFill>
                  <a:srgbClr val="9DBAFF"/>
                </a:solidFill>
                <a:latin typeface="Calibri" pitchFamily="34" charset="0"/>
                <a:ea typeface="Calibri" pitchFamily="34" charset="-122"/>
                <a:cs typeface="Calibri" pitchFamily="34" charset="-120"/>
              </a:rPr>
              <a:t>Wie finanziert</a:t>
            </a:r>
            <a:endParaRPr lang="en-US" sz="1300" dirty="0"/>
          </a:p>
        </p:txBody>
      </p:sp>
      <p:sp>
        <p:nvSpPr>
          <p:cNvPr id="22" name="Text 19"/>
          <p:cNvSpPr txBox="1"/>
          <p:nvPr/>
        </p:nvSpPr>
        <p:spPr>
          <a:xfrm>
            <a:off x="2743200" y="5312664"/>
            <a:ext cx="8531352" cy="411480"/>
          </a:xfrm>
          <a:prstGeom prst="rect">
            <a:avLst/>
          </a:prstGeom>
          <a:noFill/>
          <a:ln/>
        </p:spPr>
        <p:txBody>
          <a:bodyPr wrap="square" lIns="0" tIns="0" rIns="0" bIns="0" rtlCol="0" anchor="ctr"/>
          <a:lstStyle/>
          <a:p>
            <a:pPr indent="0" marL="0">
              <a:buNone/>
            </a:pPr>
            <a:r>
              <a:rPr lang="en-US" sz="1250" dirty="0">
                <a:solidFill>
                  <a:srgbClr val="F2F5F9"/>
                </a:solidFill>
                <a:latin typeface="Calibri" pitchFamily="34" charset="0"/>
                <a:ea typeface="Calibri" pitchFamily="34" charset="-122"/>
                <a:cs typeface="Calibri" pitchFamily="34" charset="-120"/>
              </a:rPr>
              <a:t>Eigenmittel, Crowdfunding, Gründungsstipendium, falls es fortgeführt wird. Monat 28 ist im Modell der erste Monat mit Überschuss.</a:t>
            </a:r>
            <a:endParaRPr lang="en-US" sz="1250" dirty="0"/>
          </a:p>
        </p:txBody>
      </p:sp>
      <p:sp>
        <p:nvSpPr>
          <p:cNvPr id="23" name="Text 20"/>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Businessplan-Rohfassung (A-20), Abschnitt 1 · Finanzmodell, Blatt „Kennzahlen“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INNOVATION</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Was daran neu ist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3</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4023360"/>
                <a:gridCol w="6885432"/>
              </a:tblGrid>
              <a:tr h="0">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Stand der Technik</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Was wir anders machen</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r>
              <a:tr h="0">
                <a:tc>
                  <a:txBody>
                    <a:bodyPr/>
                    <a:lstStyle/>
                    <a:p>
                      <a:pPr indent="0" marL="0">
                        <a:buNone/>
                      </a:pPr>
                      <a:r>
                        <a:rPr lang="en-US" sz="1200" dirty="0">
                          <a:solidFill>
                            <a:srgbClr val="98A3B3"/>
                          </a:solidFill>
                          <a:latin typeface="Calibri" pitchFamily="34" charset="0"/>
                          <a:ea typeface="Calibri" pitchFamily="34" charset="-122"/>
                          <a:cs typeface="Calibri" pitchFamily="34" charset="-120"/>
                        </a:rPr>
                        <a:t>Standort wird gespeichert und serverseitig maskiert</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Der Server rundet jede Position sofort auf eine Rasterzelle — der genaue Wert wird nie gespeichert. Trilateration ist konstruktiv ausgeschlossen.</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200" dirty="0">
                          <a:solidFill>
                            <a:srgbClr val="98A3B3"/>
                          </a:solidFill>
                          <a:latin typeface="Calibri" pitchFamily="34" charset="0"/>
                          <a:ea typeface="Calibri" pitchFamily="34" charset="-122"/>
                          <a:cs typeface="Calibri" pitchFamily="34" charset="-120"/>
                        </a:rPr>
                        <a:t>Ein Moderationssystem für alle Inhalte</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Drei getrennte Zonen mit eigenen Ablagen. In der privaten Zone läuft bewusst kein Klassifikator; geprüft wird dort nur gegen bekannte Missbrauchsdarstellungen.</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200" dirty="0">
                          <a:solidFill>
                            <a:srgbClr val="98A3B3"/>
                          </a:solidFill>
                          <a:latin typeface="Calibri" pitchFamily="34" charset="0"/>
                          <a:ea typeface="Calibri" pitchFamily="34" charset="-122"/>
                          <a:cs typeface="Calibri" pitchFamily="34" charset="-120"/>
                        </a:rPr>
                        <a:t>Altersprüfung für alle oder für niemanden</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Zwei Stufen: eine günstige Schätzung für alle, die volle Identifizierung nur dort, wo der Jugendschutz sie verlangt.</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200" dirty="0">
                          <a:solidFill>
                            <a:srgbClr val="98A3B3"/>
                          </a:solidFill>
                          <a:latin typeface="Calibri" pitchFamily="34" charset="0"/>
                          <a:ea typeface="Calibri" pitchFamily="34" charset="-122"/>
                          <a:cs typeface="Calibri" pitchFamily="34" charset="-120"/>
                        </a:rPr>
                        <a:t>Werbeflächen und Empfehlungen aus Nutzerdaten</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Ein redaktionell gepflegtes Ortsverzeichnis: rund 40 reale Orte je Stadt, ohne bezahlte Platzierung.</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bl>
          </a:graphicData>
        </a:graphic>
      </p:graphicFrame>
      <p:sp>
        <p:nvSpPr>
          <p:cNvPr id="9" name="Text 5"/>
          <p:cNvSpPr txBox="1"/>
          <p:nvPr/>
        </p:nvSpPr>
        <p:spPr>
          <a:xfrm>
            <a:off x="640080" y="5349240"/>
            <a:ext cx="10908792" cy="365760"/>
          </a:xfrm>
          <a:prstGeom prst="rect">
            <a:avLst/>
          </a:prstGeom>
          <a:noFill/>
          <a:ln/>
        </p:spPr>
        <p:txBody>
          <a:bodyPr wrap="square" lIns="0" tIns="0" rIns="0" bIns="0" rtlCol="0" anchor="ctr"/>
          <a:lstStyle/>
          <a:p>
            <a:pPr indent="0" marL="0">
              <a:buNone/>
            </a:pPr>
            <a:r>
              <a:rPr lang="en-US" sz="1500" b="1" dirty="0">
                <a:solidFill>
                  <a:srgbClr val="9DBAFF"/>
                </a:solidFill>
                <a:latin typeface="Cambria" pitchFamily="34" charset="0"/>
                <a:ea typeface="Cambria" pitchFamily="34" charset="-122"/>
                <a:cs typeface="Cambria" pitchFamily="34" charset="-120"/>
              </a:rPr>
              <a:t>Neu ist nicht jede Einzelheit, sondern die Verbindung: Datensparsamkeit als Architektur, nicht als Versprechen.</a:t>
            </a:r>
            <a:endParaRPr lang="en-US" sz="1500" dirty="0"/>
          </a:p>
        </p:txBody>
      </p:sp>
      <p:sp>
        <p:nvSpPr>
          <p:cNvPr id="10" name="Text 6"/>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Produktspezifikation A-29 (F70, Z-03, Abschnitt 11) · Moderationsarchitektur A-37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NUTZEN</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Wem das nützt — nachprüfbar</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4</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sp>
        <p:nvSpPr>
          <p:cNvPr id="8" name="Shape 5"/>
          <p:cNvSpPr/>
          <p:nvPr/>
        </p:nvSpPr>
        <p:spPr>
          <a:xfrm>
            <a:off x="640080" y="1645920"/>
            <a:ext cx="5271516" cy="1691640"/>
          </a:xfrm>
          <a:prstGeom prst="roundRect">
            <a:avLst>
              <a:gd name="adj" fmla="val 3243"/>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847088"/>
            <a:ext cx="4759452"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Schutz vor unfreiwilligem Outing</a:t>
            </a:r>
            <a:endParaRPr lang="en-US" sz="1400" dirty="0"/>
          </a:p>
        </p:txBody>
      </p:sp>
      <p:sp>
        <p:nvSpPr>
          <p:cNvPr id="10" name="Text 7"/>
          <p:cNvSpPr txBox="1"/>
          <p:nvPr/>
        </p:nvSpPr>
        <p:spPr>
          <a:xfrm>
            <a:off x="896112" y="2194560"/>
            <a:ext cx="4759452"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Weniger gespeicherte Daten bedeuten weniger Schaden im Ernstfall: kein genauer Standort, keine Werbe-Kennungen, Löschung und Export mit je einem Tipp.</a:t>
            </a:r>
            <a:endParaRPr lang="en-US" sz="1200" dirty="0"/>
          </a:p>
        </p:txBody>
      </p:sp>
      <p:sp>
        <p:nvSpPr>
          <p:cNvPr id="11" name="Shape 8"/>
          <p:cNvSpPr/>
          <p:nvPr/>
        </p:nvSpPr>
        <p:spPr>
          <a:xfrm>
            <a:off x="6277356" y="1645920"/>
            <a:ext cx="5271516" cy="1691640"/>
          </a:xfrm>
          <a:prstGeom prst="roundRect">
            <a:avLst>
              <a:gd name="adj" fmla="val 3243"/>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33388" y="1847088"/>
            <a:ext cx="4759452"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Sicherheit bei Treffen — kostenlos</a:t>
            </a:r>
            <a:endParaRPr lang="en-US" sz="1400" dirty="0"/>
          </a:p>
        </p:txBody>
      </p:sp>
      <p:sp>
        <p:nvSpPr>
          <p:cNvPr id="13" name="Text 10"/>
          <p:cNvSpPr txBox="1"/>
          <p:nvPr/>
        </p:nvSpPr>
        <p:spPr>
          <a:xfrm>
            <a:off x="6533388" y="2194560"/>
            <a:ext cx="4759452"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Check-in vor dem Treffen, schnelles Verstecken, Blockieren und Melden mit Fallnummer. Nichts davon liegt hinter einer Bezahlschranke.</a:t>
            </a:r>
            <a:endParaRPr lang="en-US" sz="1200" dirty="0"/>
          </a:p>
        </p:txBody>
      </p:sp>
      <p:sp>
        <p:nvSpPr>
          <p:cNvPr id="14" name="Shape 11"/>
          <p:cNvSpPr/>
          <p:nvPr/>
        </p:nvSpPr>
        <p:spPr>
          <a:xfrm>
            <a:off x="640080" y="3520440"/>
            <a:ext cx="5271516" cy="1691640"/>
          </a:xfrm>
          <a:prstGeom prst="roundRect">
            <a:avLst>
              <a:gd name="adj" fmla="val 3243"/>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896112" y="3721608"/>
            <a:ext cx="4759452"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Sichtbarkeit für Orte der Szene</a:t>
            </a:r>
            <a:endParaRPr lang="en-US" sz="1400" dirty="0"/>
          </a:p>
        </p:txBody>
      </p:sp>
      <p:sp>
        <p:nvSpPr>
          <p:cNvPr id="16" name="Text 13"/>
          <p:cNvSpPr txBox="1"/>
          <p:nvPr/>
        </p:nvSpPr>
        <p:spPr>
          <a:xfrm>
            <a:off x="896112" y="4069080"/>
            <a:ext cx="4759452"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Bars, Vereine und Beratungsstellen erscheinen im Verzeichnis, ohne Werbebudget und ohne bezahlte Platzierung.</a:t>
            </a:r>
            <a:endParaRPr lang="en-US" sz="1200" dirty="0"/>
          </a:p>
        </p:txBody>
      </p:sp>
      <p:sp>
        <p:nvSpPr>
          <p:cNvPr id="17" name="Shape 14"/>
          <p:cNvSpPr/>
          <p:nvPr/>
        </p:nvSpPr>
        <p:spPr>
          <a:xfrm>
            <a:off x="6277356" y="3520440"/>
            <a:ext cx="5271516" cy="1691640"/>
          </a:xfrm>
          <a:prstGeom prst="roundRect">
            <a:avLst>
              <a:gd name="adj" fmla="val 3243"/>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8" name="Text 15"/>
          <p:cNvSpPr txBox="1"/>
          <p:nvPr/>
        </p:nvSpPr>
        <p:spPr>
          <a:xfrm>
            <a:off x="6533388" y="3721608"/>
            <a:ext cx="4759452"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Jugendschutz ab der ersten Zeile</a:t>
            </a:r>
            <a:endParaRPr lang="en-US" sz="1400" dirty="0"/>
          </a:p>
        </p:txBody>
      </p:sp>
      <p:sp>
        <p:nvSpPr>
          <p:cNvPr id="19" name="Text 16"/>
          <p:cNvSpPr txBox="1"/>
          <p:nvPr/>
        </p:nvSpPr>
        <p:spPr>
          <a:xfrm>
            <a:off x="6533388" y="4069080"/>
            <a:ext cx="4759452" cy="100584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Gestufte Altersprüfung, getrennte Zonen und Abgleich jedes Bildes vor der Veröffentlichung — geplant, bevor der erste Nutzer da ist.</a:t>
            </a:r>
            <a:endParaRPr lang="en-US" sz="1200" dirty="0"/>
          </a:p>
        </p:txBody>
      </p:sp>
      <p:sp>
        <p:nvSpPr>
          <p:cNvPr id="20" name="Text 17"/>
          <p:cNvSpPr txBox="1"/>
          <p:nvPr/>
        </p:nvSpPr>
        <p:spPr>
          <a:xfrm>
            <a:off x="640080" y="5440680"/>
            <a:ext cx="10908792" cy="320040"/>
          </a:xfrm>
          <a:prstGeom prst="rect">
            <a:avLst/>
          </a:prstGeom>
          <a:noFill/>
          <a:ln/>
        </p:spPr>
        <p:txBody>
          <a:bodyPr wrap="square" lIns="0" tIns="0" rIns="0" bIns="0" rtlCol="0" anchor="ctr"/>
          <a:lstStyle/>
          <a:p>
            <a:pPr indent="0" marL="0">
              <a:buNone/>
            </a:pPr>
            <a:r>
              <a:rPr lang="en-US" sz="1200" i="1" dirty="0">
                <a:solidFill>
                  <a:srgbClr val="98A3B3"/>
                </a:solidFill>
                <a:latin typeface="Calibri" pitchFamily="34" charset="0"/>
                <a:ea typeface="Calibri" pitchFamily="34" charset="-122"/>
                <a:cs typeface="Calibri" pitchFamily="34" charset="-120"/>
              </a:rPr>
              <a:t>Kein Pathos: Jeder Punkt hat eine Funktion im Produkt und eine Stelle im Plan.</a:t>
            </a:r>
            <a:endParaRPr lang="en-US" sz="1200" dirty="0"/>
          </a:p>
        </p:txBody>
      </p:sp>
      <p:sp>
        <p:nvSpPr>
          <p:cNvPr id="21" name="Text 18"/>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Produktspezifikation A-29 · Handbuch A, Prinzipien 2 und 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RECHT</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Rechtsrahmen: vorher durchdacht, nicht nachgereicht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5</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2926080"/>
                <a:gridCol w="5760720"/>
                <a:gridCol w="2221992"/>
              </a:tblGrid>
              <a:tr h="0">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Pflicht</a:t>
                      </a:r>
                      <a:endParaRPr lang="en-US" sz="110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Wie sie umgesetzt wird</a:t>
                      </a:r>
                      <a:endParaRPr lang="en-US" sz="110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Beleg</a:t>
                      </a:r>
                      <a:endParaRPr lang="en-US" sz="110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Art. 9 DSGVO — besondere Daten</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Ausdrückliche Einwilligung, versioniert gespeichert; Folgenabschätzung vor der Verarbeitung; Löschbarkeit ab der ersten Migration</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DSFA (4.500 € eingeplant)</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JMStV — Jugendschutz</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Öffentlicher Bereich ohne explizite Inhalte; gestufte Altersprüfung; Jugendschutzbeauftragter ab Start</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Gutachten (2.500 €)</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DSA — Plattformpflichten</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Melden mit Fallnummer, begründete Entscheidung an beide Seiten, Widerspruch mit Frist, Kontaktstellen</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Spezifikation A-29, Abschnitt 11</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 184b StGB — Missbrauchsdarstellungen</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Abgleich jedes Bildes vor der Veröffentlichung; kein Bild geht ohne Prüfung live</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Zugangswege recherchiert (A‑08), Anfrage vorbereitet</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Verbraucherrecht</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Kündigungsschaltfläche nach § 312k BGB, Preisangaben vollständig, keine irreführende Sicherheitsaussage</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Systemtexte A-14</a:t>
                      </a:r>
                      <a:endParaRPr lang="en-US" sz="1150" dirty="0">
                        <a:latin typeface="Calibri" charset="0"/>
                        <a:ea typeface="Calibri" charset="0"/>
                        <a:cs typeface="Calibri" charset="0"/>
                      </a:endParaRPr>
                    </a:p>
                  </a:txBody>
                  <a:tcPr marL="114300" marR="114300" marT="63500" marB="635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bl>
          </a:graphicData>
        </a:graphic>
      </p:graphicFrame>
      <p:sp>
        <p:nvSpPr>
          <p:cNvPr id="9" name="Text 5"/>
          <p:cNvSpPr txBox="1"/>
          <p:nvPr/>
        </p:nvSpPr>
        <p:spPr>
          <a:xfrm>
            <a:off x="640080" y="5394960"/>
            <a:ext cx="10908792" cy="365760"/>
          </a:xfrm>
          <a:prstGeom prst="rect">
            <a:avLst/>
          </a:prstGeom>
          <a:noFill/>
          <a:ln/>
        </p:spPr>
        <p:txBody>
          <a:bodyPr wrap="square" lIns="0" tIns="0" rIns="0" bIns="0" rtlCol="0" anchor="ctr"/>
          <a:lstStyle/>
          <a:p>
            <a:pPr indent="0" marL="0">
              <a:buNone/>
            </a:pPr>
            <a:r>
              <a:rPr lang="en-US" sz="1200" dirty="0">
                <a:solidFill>
                  <a:srgbClr val="98A3B3"/>
                </a:solidFill>
                <a:latin typeface="Calibri" pitchFamily="34" charset="0"/>
                <a:ea typeface="Calibri" pitchFamily="34" charset="-122"/>
                <a:cs typeface="Calibri" pitchFamily="34" charset="-120"/>
              </a:rPr>
              <a:t>Die Fragen dazu sind für den Fachanwalt gebündelt — Mandantenakte über 15 Rechtsgebiete mit vier Nachträgen, priorisiert, die Jugendschutzfrage an erster Stelle.</a:t>
            </a:r>
            <a:endParaRPr lang="en-US" sz="1200" dirty="0"/>
          </a:p>
        </p:txBody>
      </p:sp>
      <p:sp>
        <p:nvSpPr>
          <p:cNvPr id="10" name="Text 6"/>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Businessplan, Abschnitt 8 · Mandantenakte A-24 mit Nachträgen 01 bis 04 · Produktspezifikation A-29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MACHBARKEIT</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Was vor dem ersten Euro schon steht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6</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sp>
        <p:nvSpPr>
          <p:cNvPr id="8" name="Shape 5"/>
          <p:cNvSpPr/>
          <p:nvPr/>
        </p:nvSpPr>
        <p:spPr>
          <a:xfrm>
            <a:off x="640080" y="1600200"/>
            <a:ext cx="10908792" cy="731520"/>
          </a:xfrm>
          <a:prstGeom prst="roundRect">
            <a:avLst>
              <a:gd name="adj" fmla="val 75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783080"/>
            <a:ext cx="2286000" cy="36576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bis zum Kanalstart</a:t>
            </a:r>
            <a:endParaRPr lang="en-US" sz="1200" dirty="0"/>
          </a:p>
        </p:txBody>
      </p:sp>
      <p:sp>
        <p:nvSpPr>
          <p:cNvPr id="10" name="Text 7"/>
          <p:cNvSpPr txBox="1"/>
          <p:nvPr/>
        </p:nvSpPr>
        <p:spPr>
          <a:xfrm>
            <a:off x="3291840" y="1783080"/>
            <a:ext cx="2743200" cy="365760"/>
          </a:xfrm>
          <a:prstGeom prst="rect">
            <a:avLst/>
          </a:prstGeom>
          <a:noFill/>
          <a:ln/>
        </p:spPr>
        <p:txBody>
          <a:bodyPr wrap="square" lIns="0" tIns="0" rIns="0" bIns="0" rtlCol="0" anchor="ctr"/>
          <a:lstStyle/>
          <a:p>
            <a:pPr indent="0" marL="0">
              <a:buNone/>
            </a:pPr>
            <a:r>
              <a:rPr lang="en-US" sz="1200" b="1" dirty="0">
                <a:solidFill>
                  <a:srgbClr val="F2F5F9"/>
                </a:solidFill>
                <a:latin typeface="Calibri" pitchFamily="34" charset="0"/>
                <a:ea typeface="Calibri" pitchFamily="34" charset="-122"/>
                <a:cs typeface="Calibri" pitchFamily="34" charset="-120"/>
              </a:rPr>
              <a:t>Vorarbeit ohne Gesellschaft</a:t>
            </a:r>
            <a:endParaRPr lang="en-US" sz="1200" dirty="0"/>
          </a:p>
        </p:txBody>
      </p:sp>
      <p:sp>
        <p:nvSpPr>
          <p:cNvPr id="11" name="Text 8"/>
          <p:cNvSpPr txBox="1"/>
          <p:nvPr/>
        </p:nvSpPr>
        <p:spPr>
          <a:xfrm>
            <a:off x="6126480" y="1719072"/>
            <a:ext cx="5148072" cy="502920"/>
          </a:xfrm>
          <a:prstGeom prst="rect">
            <a:avLst/>
          </a:prstGeom>
          <a:noFill/>
          <a:ln/>
        </p:spPr>
        <p:txBody>
          <a:bodyPr wrap="square" lIns="0" tIns="0" rIns="0" bIns="0" rtlCol="0" anchor="ctr"/>
          <a:lstStyle/>
          <a:p>
            <a:pPr indent="0" marL="0">
              <a:buNone/>
            </a:pPr>
            <a:r>
              <a:rPr lang="en-US" sz="1150" dirty="0">
                <a:solidFill>
                  <a:srgbClr val="98A3B3"/>
                </a:solidFill>
                <a:latin typeface="Calibri" pitchFamily="34" charset="0"/>
                <a:ea typeface="Calibri" pitchFamily="34" charset="-122"/>
                <a:cs typeface="Calibri" pitchFamily="34" charset="-120"/>
              </a:rPr>
              <a:t>Rechtsfragen gebündelt, Anbieter verglichen, Ortsliste Köln, Produkt vollständig auf Papier, Finanzmodell</a:t>
            </a:r>
            <a:endParaRPr lang="en-US" sz="1150" dirty="0"/>
          </a:p>
        </p:txBody>
      </p:sp>
      <p:sp>
        <p:nvSpPr>
          <p:cNvPr id="12" name="Shape 9"/>
          <p:cNvSpPr/>
          <p:nvPr/>
        </p:nvSpPr>
        <p:spPr>
          <a:xfrm>
            <a:off x="640080" y="2404872"/>
            <a:ext cx="10908792" cy="731520"/>
          </a:xfrm>
          <a:prstGeom prst="roundRect">
            <a:avLst>
              <a:gd name="adj" fmla="val 75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3" name="Text 10"/>
          <p:cNvSpPr txBox="1"/>
          <p:nvPr/>
        </p:nvSpPr>
        <p:spPr>
          <a:xfrm>
            <a:off x="896112" y="2587752"/>
            <a:ext cx="2286000" cy="36576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9 Monate vor dem Start</a:t>
            </a:r>
            <a:endParaRPr lang="en-US" sz="1200" dirty="0"/>
          </a:p>
        </p:txBody>
      </p:sp>
      <p:sp>
        <p:nvSpPr>
          <p:cNvPr id="14" name="Text 11"/>
          <p:cNvSpPr txBox="1"/>
          <p:nvPr/>
        </p:nvSpPr>
        <p:spPr>
          <a:xfrm>
            <a:off x="3291840" y="2587752"/>
            <a:ext cx="2743200" cy="365760"/>
          </a:xfrm>
          <a:prstGeom prst="rect">
            <a:avLst/>
          </a:prstGeom>
          <a:noFill/>
          <a:ln/>
        </p:spPr>
        <p:txBody>
          <a:bodyPr wrap="square" lIns="0" tIns="0" rIns="0" bIns="0" rtlCol="0" anchor="ctr"/>
          <a:lstStyle/>
          <a:p>
            <a:pPr indent="0" marL="0">
              <a:buNone/>
            </a:pPr>
            <a:r>
              <a:rPr lang="en-US" sz="1200" b="1" dirty="0">
                <a:solidFill>
                  <a:srgbClr val="F2F5F9"/>
                </a:solidFill>
                <a:latin typeface="Calibri" pitchFamily="34" charset="0"/>
                <a:ea typeface="Calibri" pitchFamily="34" charset="-122"/>
                <a:cs typeface="Calibri" pitchFamily="34" charset="-120"/>
              </a:rPr>
              <a:t>Kanäle live, dann Warteliste</a:t>
            </a:r>
            <a:endParaRPr lang="en-US" sz="1200" dirty="0"/>
          </a:p>
        </p:txBody>
      </p:sp>
      <p:sp>
        <p:nvSpPr>
          <p:cNvPr id="15" name="Text 12"/>
          <p:cNvSpPr txBox="1"/>
          <p:nvPr/>
        </p:nvSpPr>
        <p:spPr>
          <a:xfrm>
            <a:off x="6126480" y="2523744"/>
            <a:ext cx="5148072" cy="502920"/>
          </a:xfrm>
          <a:prstGeom prst="rect">
            <a:avLst/>
          </a:prstGeom>
          <a:noFill/>
          <a:ln/>
        </p:spPr>
        <p:txBody>
          <a:bodyPr wrap="square" lIns="0" tIns="0" rIns="0" bIns="0" rtlCol="0" anchor="ctr"/>
          <a:lstStyle/>
          <a:p>
            <a:pPr indent="0" marL="0">
              <a:buNone/>
            </a:pPr>
            <a:r>
              <a:rPr lang="en-US" sz="1150" dirty="0">
                <a:solidFill>
                  <a:srgbClr val="98A3B3"/>
                </a:solidFill>
                <a:latin typeface="Calibri" pitchFamily="34" charset="0"/>
                <a:ea typeface="Calibri" pitchFamily="34" charset="-122"/>
                <a:cs typeface="Calibri" pitchFamily="34" charset="-120"/>
              </a:rPr>
              <a:t>Start der eigenen Kanäle; die Warteliste öffnet zwei Monate vor dem Start</a:t>
            </a:r>
            <a:endParaRPr lang="en-US" sz="1150" dirty="0"/>
          </a:p>
        </p:txBody>
      </p:sp>
      <p:sp>
        <p:nvSpPr>
          <p:cNvPr id="16" name="Shape 13"/>
          <p:cNvSpPr/>
          <p:nvPr/>
        </p:nvSpPr>
        <p:spPr>
          <a:xfrm>
            <a:off x="640080" y="3209544"/>
            <a:ext cx="10908792" cy="731520"/>
          </a:xfrm>
          <a:prstGeom prst="roundRect">
            <a:avLst>
              <a:gd name="adj" fmla="val 75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7" name="Text 14"/>
          <p:cNvSpPr txBox="1"/>
          <p:nvPr/>
        </p:nvSpPr>
        <p:spPr>
          <a:xfrm>
            <a:off x="896112" y="3392424"/>
            <a:ext cx="2286000" cy="36576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Monat 1–3</a:t>
            </a:r>
            <a:endParaRPr lang="en-US" sz="1200" dirty="0"/>
          </a:p>
        </p:txBody>
      </p:sp>
      <p:sp>
        <p:nvSpPr>
          <p:cNvPr id="18" name="Text 15"/>
          <p:cNvSpPr txBox="1"/>
          <p:nvPr/>
        </p:nvSpPr>
        <p:spPr>
          <a:xfrm>
            <a:off x="3291840" y="3392424"/>
            <a:ext cx="2743200" cy="365760"/>
          </a:xfrm>
          <a:prstGeom prst="rect">
            <a:avLst/>
          </a:prstGeom>
          <a:noFill/>
          <a:ln/>
        </p:spPr>
        <p:txBody>
          <a:bodyPr wrap="square" lIns="0" tIns="0" rIns="0" bIns="0" rtlCol="0" anchor="ctr"/>
          <a:lstStyle/>
          <a:p>
            <a:pPr indent="0" marL="0">
              <a:buNone/>
            </a:pPr>
            <a:r>
              <a:rPr lang="en-US" sz="1200" b="1" dirty="0">
                <a:solidFill>
                  <a:srgbClr val="F2F5F9"/>
                </a:solidFill>
                <a:latin typeface="Calibri" pitchFamily="34" charset="0"/>
                <a:ea typeface="Calibri" pitchFamily="34" charset="-122"/>
                <a:cs typeface="Calibri" pitchFamily="34" charset="-120"/>
              </a:rPr>
              <a:t>Gründung und Vorbereitung</a:t>
            </a:r>
            <a:endParaRPr lang="en-US" sz="1200" dirty="0"/>
          </a:p>
        </p:txBody>
      </p:sp>
      <p:sp>
        <p:nvSpPr>
          <p:cNvPr id="19" name="Text 16"/>
          <p:cNvSpPr txBox="1"/>
          <p:nvPr/>
        </p:nvSpPr>
        <p:spPr>
          <a:xfrm>
            <a:off x="6126480" y="3328416"/>
            <a:ext cx="5148072" cy="502920"/>
          </a:xfrm>
          <a:prstGeom prst="rect">
            <a:avLst/>
          </a:prstGeom>
          <a:noFill/>
          <a:ln/>
        </p:spPr>
        <p:txBody>
          <a:bodyPr wrap="square" lIns="0" tIns="0" rIns="0" bIns="0" rtlCol="0" anchor="ctr"/>
          <a:lstStyle/>
          <a:p>
            <a:pPr indent="0" marL="0">
              <a:buNone/>
            </a:pPr>
            <a:r>
              <a:rPr lang="en-US" sz="1150" dirty="0">
                <a:solidFill>
                  <a:srgbClr val="98A3B3"/>
                </a:solidFill>
                <a:latin typeface="Calibri" pitchFamily="34" charset="0"/>
                <a:ea typeface="Calibri" pitchFamily="34" charset="-122"/>
                <a:cs typeface="Calibri" pitchFamily="34" charset="-120"/>
              </a:rPr>
              <a:t>Gesellschaft, Marke, Anwalt, Ortsakquise; Tag 90 erstes Prüftor</a:t>
            </a:r>
            <a:endParaRPr lang="en-US" sz="1150" dirty="0"/>
          </a:p>
        </p:txBody>
      </p:sp>
      <p:sp>
        <p:nvSpPr>
          <p:cNvPr id="20" name="Shape 17"/>
          <p:cNvSpPr/>
          <p:nvPr/>
        </p:nvSpPr>
        <p:spPr>
          <a:xfrm>
            <a:off x="640080" y="4014216"/>
            <a:ext cx="10908792" cy="731520"/>
          </a:xfrm>
          <a:prstGeom prst="roundRect">
            <a:avLst>
              <a:gd name="adj" fmla="val 75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1" name="Text 18"/>
          <p:cNvSpPr txBox="1"/>
          <p:nvPr/>
        </p:nvSpPr>
        <p:spPr>
          <a:xfrm>
            <a:off x="896112" y="4197096"/>
            <a:ext cx="2286000" cy="36576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Monat 4–9</a:t>
            </a:r>
            <a:endParaRPr lang="en-US" sz="1200" dirty="0"/>
          </a:p>
        </p:txBody>
      </p:sp>
      <p:sp>
        <p:nvSpPr>
          <p:cNvPr id="22" name="Text 19"/>
          <p:cNvSpPr txBox="1"/>
          <p:nvPr/>
        </p:nvSpPr>
        <p:spPr>
          <a:xfrm>
            <a:off x="3291840" y="4197096"/>
            <a:ext cx="2743200" cy="365760"/>
          </a:xfrm>
          <a:prstGeom prst="rect">
            <a:avLst/>
          </a:prstGeom>
          <a:noFill/>
          <a:ln/>
        </p:spPr>
        <p:txBody>
          <a:bodyPr wrap="square" lIns="0" tIns="0" rIns="0" bIns="0" rtlCol="0" anchor="ctr"/>
          <a:lstStyle/>
          <a:p>
            <a:pPr indent="0" marL="0">
              <a:buNone/>
            </a:pPr>
            <a:r>
              <a:rPr lang="en-US" sz="1200" b="1" dirty="0">
                <a:solidFill>
                  <a:srgbClr val="F2F5F9"/>
                </a:solidFill>
                <a:latin typeface="Calibri" pitchFamily="34" charset="0"/>
                <a:ea typeface="Calibri" pitchFamily="34" charset="-122"/>
                <a:cs typeface="Calibri" pitchFamily="34" charset="-120"/>
              </a:rPr>
              <a:t>Erstes Produkt als Web-App</a:t>
            </a:r>
            <a:endParaRPr lang="en-US" sz="1200" dirty="0"/>
          </a:p>
        </p:txBody>
      </p:sp>
      <p:sp>
        <p:nvSpPr>
          <p:cNvPr id="23" name="Text 20"/>
          <p:cNvSpPr txBox="1"/>
          <p:nvPr/>
        </p:nvSpPr>
        <p:spPr>
          <a:xfrm>
            <a:off x="6126480" y="4133088"/>
            <a:ext cx="5148072" cy="502920"/>
          </a:xfrm>
          <a:prstGeom prst="rect">
            <a:avLst/>
          </a:prstGeom>
          <a:noFill/>
          <a:ln/>
        </p:spPr>
        <p:txBody>
          <a:bodyPr wrap="square" lIns="0" tIns="0" rIns="0" bIns="0" rtlCol="0" anchor="ctr"/>
          <a:lstStyle/>
          <a:p>
            <a:pPr indent="0" marL="0">
              <a:buNone/>
            </a:pPr>
            <a:r>
              <a:rPr lang="en-US" sz="1150" dirty="0">
                <a:solidFill>
                  <a:srgbClr val="98A3B3"/>
                </a:solidFill>
                <a:latin typeface="Calibri" pitchFamily="34" charset="0"/>
                <a:ea typeface="Calibri" pitchFamily="34" charset="-122"/>
                <a:cs typeface="Calibri" pitchFamily="34" charset="-120"/>
              </a:rPr>
              <a:t>Fundament, Kernprodukt, Sicherheit und „Heute“, Härtung, Prüfung des Codes, geschlossene Testphase</a:t>
            </a:r>
            <a:endParaRPr lang="en-US" sz="1150" dirty="0"/>
          </a:p>
        </p:txBody>
      </p:sp>
      <p:sp>
        <p:nvSpPr>
          <p:cNvPr id="24" name="Shape 21"/>
          <p:cNvSpPr/>
          <p:nvPr/>
        </p:nvSpPr>
        <p:spPr>
          <a:xfrm>
            <a:off x="640080" y="4818888"/>
            <a:ext cx="10908792" cy="731520"/>
          </a:xfrm>
          <a:prstGeom prst="roundRect">
            <a:avLst>
              <a:gd name="adj" fmla="val 75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5" name="Text 22"/>
          <p:cNvSpPr txBox="1"/>
          <p:nvPr/>
        </p:nvSpPr>
        <p:spPr>
          <a:xfrm>
            <a:off x="896112" y="5001768"/>
            <a:ext cx="2286000" cy="36576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Monat 10–21</a:t>
            </a:r>
            <a:endParaRPr lang="en-US" sz="1200" dirty="0"/>
          </a:p>
        </p:txBody>
      </p:sp>
      <p:sp>
        <p:nvSpPr>
          <p:cNvPr id="26" name="Text 23"/>
          <p:cNvSpPr txBox="1"/>
          <p:nvPr/>
        </p:nvSpPr>
        <p:spPr>
          <a:xfrm>
            <a:off x="3291840" y="5001768"/>
            <a:ext cx="2743200" cy="365760"/>
          </a:xfrm>
          <a:prstGeom prst="rect">
            <a:avLst/>
          </a:prstGeom>
          <a:noFill/>
          <a:ln/>
        </p:spPr>
        <p:txBody>
          <a:bodyPr wrap="square" lIns="0" tIns="0" rIns="0" bIns="0" rtlCol="0" anchor="ctr"/>
          <a:lstStyle/>
          <a:p>
            <a:pPr indent="0" marL="0">
              <a:buNone/>
            </a:pPr>
            <a:r>
              <a:rPr lang="en-US" sz="1200" b="1" dirty="0">
                <a:solidFill>
                  <a:srgbClr val="F2F5F9"/>
                </a:solidFill>
                <a:latin typeface="Calibri" pitchFamily="34" charset="0"/>
                <a:ea typeface="Calibri" pitchFamily="34" charset="-122"/>
                <a:cs typeface="Calibri" pitchFamily="34" charset="-120"/>
              </a:rPr>
              <a:t>Öffentlich, Erlöse</a:t>
            </a:r>
            <a:endParaRPr lang="en-US" sz="1200" dirty="0"/>
          </a:p>
        </p:txBody>
      </p:sp>
      <p:sp>
        <p:nvSpPr>
          <p:cNvPr id="27" name="Text 24"/>
          <p:cNvSpPr txBox="1"/>
          <p:nvPr/>
        </p:nvSpPr>
        <p:spPr>
          <a:xfrm>
            <a:off x="6126480" y="4937760"/>
            <a:ext cx="5148072" cy="502920"/>
          </a:xfrm>
          <a:prstGeom prst="rect">
            <a:avLst/>
          </a:prstGeom>
          <a:noFill/>
          <a:ln/>
        </p:spPr>
        <p:txBody>
          <a:bodyPr wrap="square" lIns="0" tIns="0" rIns="0" bIns="0" rtlCol="0" anchor="ctr"/>
          <a:lstStyle/>
          <a:p>
            <a:pPr indent="0" marL="0">
              <a:buNone/>
            </a:pPr>
            <a:r>
              <a:rPr lang="en-US" sz="1150" dirty="0">
                <a:solidFill>
                  <a:srgbClr val="98A3B3"/>
                </a:solidFill>
                <a:latin typeface="Calibri" pitchFamily="34" charset="0"/>
                <a:ea typeface="Calibri" pitchFamily="34" charset="-122"/>
                <a:cs typeface="Calibri" pitchFamily="34" charset="-120"/>
              </a:rPr>
              <a:t>Bezahlstufen ab 5.000 Nutzern in der Stadt, zweite Stadt, erste Moderationskraft; native Apps nach der Store-Prüfung</a:t>
            </a:r>
            <a:endParaRPr lang="en-US" sz="1150" dirty="0"/>
          </a:p>
        </p:txBody>
      </p:sp>
      <p:sp>
        <p:nvSpPr>
          <p:cNvPr id="28" name="Text 25"/>
          <p:cNvSpPr txBox="1"/>
          <p:nvPr/>
        </p:nvSpPr>
        <p:spPr>
          <a:xfrm>
            <a:off x="640080" y="5669280"/>
            <a:ext cx="10908792" cy="411480"/>
          </a:xfrm>
          <a:prstGeom prst="rect">
            <a:avLst/>
          </a:prstGeom>
          <a:noFill/>
          <a:ln/>
        </p:spPr>
        <p:txBody>
          <a:bodyPr wrap="square" lIns="0" tIns="0" rIns="0" bIns="0" rtlCol="0" anchor="ctr"/>
          <a:lstStyle/>
          <a:p>
            <a:pPr indent="0" marL="0">
              <a:buNone/>
            </a:pPr>
            <a:r>
              <a:rPr lang="en-US" sz="1100" i="1" dirty="0">
                <a:solidFill>
                  <a:srgbClr val="98A3B3"/>
                </a:solidFill>
                <a:latin typeface="Calibri" pitchFamily="34" charset="0"/>
                <a:ea typeface="Calibri" pitchFamily="34" charset="-122"/>
                <a:cs typeface="Calibri" pitchFamily="34" charset="-120"/>
              </a:rPr>
              <a:t>Bestfall: Start in der CSD-Saison 2028, geplant wird ein Jahr später (Nr. 45). Am 26.09.2026 entschieden: Die Jugendschutzfrage wird vorab einzeln geklärt, die übrigen Prüfungen vor der Gründung privat vorfinanziert (Nr. 88); die Testphase beginnt mit 200 Plätzen (Nr. 89).</a:t>
            </a:r>
            <a:endParaRPr lang="en-US" sz="1100" dirty="0"/>
          </a:p>
        </p:txBody>
      </p:sp>
      <p:sp>
        <p:nvSpPr>
          <p:cNvPr id="29" name="Text 26"/>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Businessplan, Abschnitt 12 · Code-Planer (Arbeitspakete AP-0 bis AP-15) · Aufgabensystem, Stand 26.09.2026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MEILENSTEINE</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Meilensteine mit Nachweis</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7</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7863840" cy="914400"/>
        </p:xfrm>
        <a:graphic>
          <a:graphicData uri="http://schemas.openxmlformats.org/drawingml/2006/table">
            <a:tbl>
              <a:tblPr/>
              <a:tblGrid>
                <a:gridCol w="1463040"/>
                <a:gridCol w="2377440"/>
                <a:gridCol w="4023360"/>
              </a:tblGrid>
              <a:tr h="0">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Zeitpunkt</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Meilenstein</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Nachweis, den wir vorlegen können</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r>
              <a:tr h="0">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Tag 90</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Nachfrage belegt</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Zahl der Wartelisten-Anmeldungen, Verteilung nach Postleitzahl</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Monat 9</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Produkt geprüft</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Prüfbericht zum gesamten Code, Bericht des Penetrationstests, Protokoll der Barrierefreiheitsprüfung</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Monat 12</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Kanal trägt</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Reichweite und Installationen über die eigenen Kanäle</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Monat 15</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Dichte erreicht</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Aktive Nutzer in Köln, gemessen im Monatsmittel</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Monat 28</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Betrieb trägt sich</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200" dirty="0">
                          <a:solidFill>
                            <a:srgbClr val="F2F5F9"/>
                          </a:solidFill>
                          <a:latin typeface="Calibri" pitchFamily="34" charset="0"/>
                          <a:ea typeface="Calibri" pitchFamily="34" charset="-122"/>
                          <a:cs typeface="Calibri" pitchFamily="34" charset="-120"/>
                        </a:rPr>
                        <a:t>Erstes positives Monatsergebnis nach dem Finanzmodell</a:t>
                      </a:r>
                      <a:endParaRPr lang="en-US" sz="12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bl>
          </a:graphicData>
        </a:graphic>
      </p:graphicFrame>
      <p:sp>
        <p:nvSpPr>
          <p:cNvPr id="9" name="Shape 5"/>
          <p:cNvSpPr/>
          <p:nvPr/>
        </p:nvSpPr>
        <p:spPr>
          <a:xfrm>
            <a:off x="8778240" y="1645920"/>
            <a:ext cx="2770632" cy="3108960"/>
          </a:xfrm>
          <a:prstGeom prst="roundRect">
            <a:avLst>
              <a:gd name="adj" fmla="val 1980"/>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9006840" y="1828800"/>
            <a:ext cx="2743200" cy="320040"/>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Wenn ein Tor verfehlt wird</a:t>
            </a:r>
            <a:endParaRPr lang="en-US" sz="1400" dirty="0"/>
          </a:p>
        </p:txBody>
      </p:sp>
      <p:sp>
        <p:nvSpPr>
          <p:cNvPr id="11" name="Text 7"/>
          <p:cNvSpPr txBox="1"/>
          <p:nvPr/>
        </p:nvSpPr>
        <p:spPr>
          <a:xfrm>
            <a:off x="9006840" y="2240280"/>
            <a:ext cx="2651760" cy="1828800"/>
          </a:xfrm>
          <a:prstGeom prst="rect">
            <a:avLst/>
          </a:prstGeom>
          <a:noFill/>
          <a:ln/>
        </p:spPr>
        <p:txBody>
          <a:bodyPr wrap="square" lIns="0" tIns="0" rIns="0" bIns="0" rtlCol="0" anchor="ctr"/>
          <a:lstStyle/>
          <a:p>
            <a:pPr marL="342900" indent="-342900">
              <a:lnSpc>
                <a:spcPct val="110000"/>
              </a:lnSpc>
              <a:spcAft>
                <a:spcPts val="800"/>
              </a:spcAft>
              <a:buSzPct val="100000"/>
              <a:buChar char="•"/>
            </a:pPr>
            <a:r>
              <a:rPr lang="en-US" sz="1150" dirty="0">
                <a:solidFill>
                  <a:srgbClr val="98A3B3"/>
                </a:solidFill>
                <a:latin typeface="Calibri" pitchFamily="34" charset="0"/>
                <a:ea typeface="Calibri" pitchFamily="34" charset="-122"/>
                <a:cs typeface="Calibri" pitchFamily="34" charset="-120"/>
              </a:rPr>
              <a:t>Tag 90 verfehlt: nicht weiterbauen</a:t>
            </a:r>
            <a:endParaRPr lang="en-US" sz="1150" dirty="0"/>
          </a:p>
          <a:p>
            <a:pPr marL="342900" indent="-342900">
              <a:lnSpc>
                <a:spcPct val="110000"/>
              </a:lnSpc>
              <a:spcAft>
                <a:spcPts val="800"/>
              </a:spcAft>
              <a:buSzPct val="100000"/>
              <a:buChar char="•"/>
            </a:pPr>
            <a:r>
              <a:rPr lang="en-US" sz="1150" dirty="0">
                <a:solidFill>
                  <a:srgbClr val="98A3B3"/>
                </a:solidFill>
                <a:latin typeface="Calibri" pitchFamily="34" charset="0"/>
                <a:ea typeface="Calibri" pitchFamily="34" charset="-122"/>
                <a:cs typeface="Calibri" pitchFamily="34" charset="-120"/>
              </a:rPr>
              <a:t>Monat 12 verfehlt: 90 Tage Verlängerung nur bei steigendem Frühindikator, sonst Format ändern; nach sechs Monaten ohne Erfolg geordnet beenden</a:t>
            </a:r>
            <a:endParaRPr lang="en-US" sz="1150" dirty="0"/>
          </a:p>
          <a:p>
            <a:pPr marL="342900" indent="-342900">
              <a:lnSpc>
                <a:spcPct val="110000"/>
              </a:lnSpc>
              <a:spcAft>
                <a:spcPts val="800"/>
              </a:spcAft>
              <a:buSzPct val="100000"/>
              <a:buChar char="•"/>
            </a:pPr>
            <a:r>
              <a:rPr lang="en-US" sz="1150" dirty="0">
                <a:solidFill>
                  <a:srgbClr val="98A3B3"/>
                </a:solidFill>
                <a:latin typeface="Calibri" pitchFamily="34" charset="0"/>
                <a:ea typeface="Calibri" pitchFamily="34" charset="-122"/>
                <a:cs typeface="Calibri" pitchFamily="34" charset="-120"/>
              </a:rPr>
              <a:t>Monat 15 verfehlt: die These ist widerlegt</a:t>
            </a:r>
            <a:endParaRPr lang="en-US" sz="1150" dirty="0"/>
          </a:p>
        </p:txBody>
      </p:sp>
      <p:sp>
        <p:nvSpPr>
          <p:cNvPr id="12" name="Text 8"/>
          <p:cNvSpPr txBox="1"/>
          <p:nvPr/>
        </p:nvSpPr>
        <p:spPr>
          <a:xfrm>
            <a:off x="640080" y="5029200"/>
            <a:ext cx="10908792" cy="320040"/>
          </a:xfrm>
          <a:prstGeom prst="rect">
            <a:avLst/>
          </a:prstGeom>
          <a:noFill/>
          <a:ln/>
        </p:spPr>
        <p:txBody>
          <a:bodyPr wrap="square" lIns="0" tIns="0" rIns="0" bIns="0" rtlCol="0" anchor="ctr"/>
          <a:lstStyle/>
          <a:p>
            <a:pPr indent="0" marL="0">
              <a:buNone/>
            </a:pPr>
            <a:r>
              <a:rPr lang="en-US" sz="1200" i="1" dirty="0">
                <a:solidFill>
                  <a:srgbClr val="98A3B3"/>
                </a:solidFill>
                <a:latin typeface="Calibri" pitchFamily="34" charset="0"/>
                <a:ea typeface="Calibri" pitchFamily="34" charset="-122"/>
                <a:cs typeface="Calibri" pitchFamily="34" charset="-120"/>
              </a:rPr>
              <a:t>Diese Sätze stehen schriftlich fest, bevor Geld ausgegeben wird.</a:t>
            </a:r>
            <a:endParaRPr lang="en-US" sz="1200" dirty="0"/>
          </a:p>
        </p:txBody>
      </p:sp>
      <p:sp>
        <p:nvSpPr>
          <p:cNvPr id="13" name="Text 9"/>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Handbuch B, Prüftore · Beschluss Nr. 15 · Finanzmodell, Blatt „Kennzahlen“ · Zeitrechnung für Tor 2 offen (Nr. 57)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MITTEL</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Wofür jeder Euro gedacht ist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8</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6766560" cy="914400"/>
        </p:xfrm>
        <a:graphic>
          <a:graphicData uri="http://schemas.openxmlformats.org/drawingml/2006/table">
            <a:tbl>
              <a:tblPr/>
              <a:tblGrid>
                <a:gridCol w="4572000"/>
                <a:gridCol w="1280160"/>
                <a:gridCol w="914400"/>
              </a:tblGrid>
              <a:tr h="0">
                <a:tc>
                  <a:txBody>
                    <a:bodyPr/>
                    <a:lstStyle/>
                    <a:p>
                      <a:pPr algn="l" indent="0" marL="0">
                        <a:buNone/>
                      </a:pPr>
                      <a:r>
                        <a:rPr lang="en-US" sz="1050" b="1" dirty="0">
                          <a:solidFill>
                            <a:srgbClr val="98A3B3"/>
                          </a:solidFill>
                          <a:latin typeface="Calibri" pitchFamily="34" charset="0"/>
                          <a:ea typeface="Calibri" pitchFamily="34" charset="-122"/>
                          <a:cs typeface="Calibri" pitchFamily="34" charset="-120"/>
                        </a:rPr>
                        <a:t>Position</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algn="r" indent="0" marL="0">
                        <a:buNone/>
                      </a:pPr>
                      <a:r>
                        <a:rPr lang="en-US" sz="1050" b="1" dirty="0">
                          <a:solidFill>
                            <a:srgbClr val="98A3B3"/>
                          </a:solidFill>
                          <a:latin typeface="Calibri" pitchFamily="34" charset="0"/>
                          <a:ea typeface="Calibri" pitchFamily="34" charset="-122"/>
                          <a:cs typeface="Calibri" pitchFamily="34" charset="-120"/>
                        </a:rPr>
                        <a:t>Betrag</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algn="r" indent="0" marL="0">
                        <a:buNone/>
                      </a:pPr>
                      <a:r>
                        <a:rPr lang="en-US" sz="1050" b="1" dirty="0">
                          <a:solidFill>
                            <a:srgbClr val="98A3B3"/>
                          </a:solidFill>
                          <a:latin typeface="Calibri" pitchFamily="34" charset="0"/>
                          <a:ea typeface="Calibri" pitchFamily="34" charset="-122"/>
                          <a:cs typeface="Calibri" pitchFamily="34" charset="-120"/>
                        </a:rPr>
                        <a:t>Monat</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Prüfung des gesamten Codes, beide Plattformen</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18.900 €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JMStV-Gutachten und Jugendschutzkonzept</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2.500 €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Notar, Handelsregister, Gesellschaftsvertrag</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2.600 €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Gerätepool für Tests</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1.500 €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Testgeräte für die zweite Plattform</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1.200 €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Marke DPMA und EUIPO, mit Recherche</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1.800 €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Taxonomie-Beratung durch Betroffene</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900 €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AGB, Datenschutzerklärung, Einwilligungen</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5.500 €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UI-Gestaltung extern, 10 Tage</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6.000 €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Datenschutz-Folgenabschätzung</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4.500 €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DSA- und DDG-Prüfung</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3.000 €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Systemtexte durch eine Texterin</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2.000 €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Penetrationstest</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4.000 €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algn="l" indent="0" marL="0">
                        <a:buNone/>
                      </a:pPr>
                      <a:r>
                        <a:rPr lang="en-US" sz="1050" dirty="0">
                          <a:solidFill>
                            <a:srgbClr val="F2F5F9"/>
                          </a:solidFill>
                          <a:latin typeface="Calibri" pitchFamily="34" charset="0"/>
                          <a:ea typeface="Calibri" pitchFamily="34" charset="-122"/>
                          <a:cs typeface="Calibri" pitchFamily="34" charset="-120"/>
                        </a:rPr>
                        <a:t>Barrierefreiheitsprüfung durch Betroffene</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1.500 €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dirty="0">
                          <a:solidFill>
                            <a:srgbClr val="F2F5F9"/>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algn="l" indent="0" marL="0">
                        <a:buNone/>
                      </a:pPr>
                      <a:r>
                        <a:rPr lang="en-US" sz="1050" b="1" dirty="0">
                          <a:solidFill>
                            <a:srgbClr val="9DBAFF"/>
                          </a:solidFill>
                          <a:latin typeface="Calibri" pitchFamily="34" charset="0"/>
                          <a:ea typeface="Calibri" pitchFamily="34" charset="-122"/>
                          <a:cs typeface="Calibri" pitchFamily="34" charset="-120"/>
                        </a:rPr>
                        <a:t>Summe einmalig</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r>
                        <a:rPr lang="en-US" sz="1050" b="1" dirty="0">
                          <a:solidFill>
                            <a:srgbClr val="9DBAFF"/>
                          </a:solidFill>
                          <a:latin typeface="Calibri" pitchFamily="34" charset="0"/>
                          <a:ea typeface="Calibri" pitchFamily="34" charset="-122"/>
                          <a:cs typeface="Calibri" pitchFamily="34" charset="-120"/>
                        </a:rPr>
                        <a:t>55.900 €</a:t>
                      </a: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algn="r" indent="0" marL="0">
                        <a:buNone/>
                      </a:pPr>
                      <a:endParaRPr lang="en-US" sz="1050" dirty="0">
                        <a:latin typeface="Calibri" charset="0"/>
                        <a:ea typeface="Calibri" charset="0"/>
                        <a:cs typeface="Calibri" charset="0"/>
                      </a:endParaRPr>
                    </a:p>
                  </a:txBody>
                  <a:tcPr marL="101600" marR="101600" marT="38100" marB="381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bl>
          </a:graphicData>
        </a:graphic>
      </p:graphicFrame>
      <p:sp>
        <p:nvSpPr>
          <p:cNvPr id="9" name="Shape 5"/>
          <p:cNvSpPr/>
          <p:nvPr/>
        </p:nvSpPr>
        <p:spPr>
          <a:xfrm>
            <a:off x="7680960" y="1645920"/>
            <a:ext cx="3867912" cy="2011680"/>
          </a:xfrm>
          <a:prstGeom prst="roundRect">
            <a:avLst>
              <a:gd name="adj" fmla="val 2727"/>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7909560" y="1810512"/>
            <a:ext cx="3657600" cy="274320"/>
          </a:xfrm>
          <a:prstGeom prst="rect">
            <a:avLst/>
          </a:prstGeom>
          <a:noFill/>
          <a:ln/>
        </p:spPr>
        <p:txBody>
          <a:bodyPr wrap="square" lIns="0" tIns="0" rIns="0" bIns="0" rtlCol="0" anchor="ctr"/>
          <a:lstStyle/>
          <a:p>
            <a:pPr indent="0" marL="0">
              <a:buNone/>
            </a:pPr>
            <a:r>
              <a:rPr lang="en-US" sz="1300" b="1" dirty="0">
                <a:solidFill>
                  <a:srgbClr val="F2F5F9"/>
                </a:solidFill>
                <a:latin typeface="Calibri" pitchFamily="34" charset="0"/>
                <a:ea typeface="Calibri" pitchFamily="34" charset="-122"/>
                <a:cs typeface="Calibri" pitchFamily="34" charset="-120"/>
              </a:rPr>
              <a:t>Laufende Kosten je Monat</a:t>
            </a:r>
            <a:endParaRPr lang="en-US" sz="1300" dirty="0"/>
          </a:p>
        </p:txBody>
      </p:sp>
      <p:sp>
        <p:nvSpPr>
          <p:cNvPr id="11" name="Text 7"/>
          <p:cNvSpPr txBox="1"/>
          <p:nvPr/>
        </p:nvSpPr>
        <p:spPr>
          <a:xfrm>
            <a:off x="7909560" y="2176272"/>
            <a:ext cx="1188720" cy="27432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1.420 €</a:t>
            </a:r>
            <a:endParaRPr lang="en-US" sz="1200" dirty="0"/>
          </a:p>
        </p:txBody>
      </p:sp>
      <p:sp>
        <p:nvSpPr>
          <p:cNvPr id="12" name="Text 8"/>
          <p:cNvSpPr txBox="1"/>
          <p:nvPr/>
        </p:nvSpPr>
        <p:spPr>
          <a:xfrm>
            <a:off x="9144000" y="2176272"/>
            <a:ext cx="2377440" cy="274320"/>
          </a:xfrm>
          <a:prstGeom prst="rect">
            <a:avLst/>
          </a:prstGeom>
          <a:noFill/>
          <a:ln/>
        </p:spPr>
        <p:txBody>
          <a:bodyPr wrap="square" lIns="0" tIns="0" rIns="0" bIns="0" rtlCol="0" anchor="ctr"/>
          <a:lstStyle/>
          <a:p>
            <a:pPr indent="0" marL="0">
              <a:buNone/>
            </a:pPr>
            <a:r>
              <a:rPr lang="en-US" sz="1100" dirty="0">
                <a:solidFill>
                  <a:srgbClr val="98A3B3"/>
                </a:solidFill>
                <a:latin typeface="Calibri" pitchFamily="34" charset="0"/>
                <a:ea typeface="Calibri" pitchFamily="34" charset="-122"/>
                <a:cs typeface="Calibri" pitchFamily="34" charset="-120"/>
              </a:rPr>
              <a:t>vor dem Start</a:t>
            </a:r>
            <a:endParaRPr lang="en-US" sz="1100" dirty="0"/>
          </a:p>
        </p:txBody>
      </p:sp>
      <p:sp>
        <p:nvSpPr>
          <p:cNvPr id="13" name="Text 9"/>
          <p:cNvSpPr txBox="1"/>
          <p:nvPr/>
        </p:nvSpPr>
        <p:spPr>
          <a:xfrm>
            <a:off x="7909560" y="2542032"/>
            <a:ext cx="1188720" cy="27432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2.260 €</a:t>
            </a:r>
            <a:endParaRPr lang="en-US" sz="1200" dirty="0"/>
          </a:p>
        </p:txBody>
      </p:sp>
      <p:sp>
        <p:nvSpPr>
          <p:cNvPr id="14" name="Text 10"/>
          <p:cNvSpPr txBox="1"/>
          <p:nvPr/>
        </p:nvSpPr>
        <p:spPr>
          <a:xfrm>
            <a:off x="9144000" y="2542032"/>
            <a:ext cx="2377440" cy="274320"/>
          </a:xfrm>
          <a:prstGeom prst="rect">
            <a:avLst/>
          </a:prstGeom>
          <a:noFill/>
          <a:ln/>
        </p:spPr>
        <p:txBody>
          <a:bodyPr wrap="square" lIns="0" tIns="0" rIns="0" bIns="0" rtlCol="0" anchor="ctr"/>
          <a:lstStyle/>
          <a:p>
            <a:pPr indent="0" marL="0">
              <a:buNone/>
            </a:pPr>
            <a:r>
              <a:rPr lang="en-US" sz="1100" dirty="0">
                <a:solidFill>
                  <a:srgbClr val="98A3B3"/>
                </a:solidFill>
                <a:latin typeface="Calibri" pitchFamily="34" charset="0"/>
                <a:ea typeface="Calibri" pitchFamily="34" charset="-122"/>
                <a:cs typeface="Calibri" pitchFamily="34" charset="-120"/>
              </a:rPr>
              <a:t>bei 5.000 Nutzern</a:t>
            </a:r>
            <a:endParaRPr lang="en-US" sz="1100" dirty="0"/>
          </a:p>
        </p:txBody>
      </p:sp>
      <p:sp>
        <p:nvSpPr>
          <p:cNvPr id="15" name="Text 11"/>
          <p:cNvSpPr txBox="1"/>
          <p:nvPr/>
        </p:nvSpPr>
        <p:spPr>
          <a:xfrm>
            <a:off x="7909560" y="2907792"/>
            <a:ext cx="1188720" cy="27432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3.100 €</a:t>
            </a:r>
            <a:endParaRPr lang="en-US" sz="1200" dirty="0"/>
          </a:p>
        </p:txBody>
      </p:sp>
      <p:sp>
        <p:nvSpPr>
          <p:cNvPr id="16" name="Text 12"/>
          <p:cNvSpPr txBox="1"/>
          <p:nvPr/>
        </p:nvSpPr>
        <p:spPr>
          <a:xfrm>
            <a:off x="9144000" y="2907792"/>
            <a:ext cx="2377440" cy="274320"/>
          </a:xfrm>
          <a:prstGeom prst="rect">
            <a:avLst/>
          </a:prstGeom>
          <a:noFill/>
          <a:ln/>
        </p:spPr>
        <p:txBody>
          <a:bodyPr wrap="square" lIns="0" tIns="0" rIns="0" bIns="0" rtlCol="0" anchor="ctr"/>
          <a:lstStyle/>
          <a:p>
            <a:pPr indent="0" marL="0">
              <a:buNone/>
            </a:pPr>
            <a:r>
              <a:rPr lang="en-US" sz="1100" dirty="0">
                <a:solidFill>
                  <a:srgbClr val="98A3B3"/>
                </a:solidFill>
                <a:latin typeface="Calibri" pitchFamily="34" charset="0"/>
                <a:ea typeface="Calibri" pitchFamily="34" charset="-122"/>
                <a:cs typeface="Calibri" pitchFamily="34" charset="-120"/>
              </a:rPr>
              <a:t>bei 12.000 Nutzern</a:t>
            </a:r>
            <a:endParaRPr lang="en-US" sz="1100" dirty="0"/>
          </a:p>
        </p:txBody>
      </p:sp>
      <p:sp>
        <p:nvSpPr>
          <p:cNvPr id="17" name="Text 13"/>
          <p:cNvSpPr txBox="1"/>
          <p:nvPr/>
        </p:nvSpPr>
        <p:spPr>
          <a:xfrm>
            <a:off x="7909560" y="3273552"/>
            <a:ext cx="1188720" cy="274320"/>
          </a:xfrm>
          <a:prstGeom prst="rect">
            <a:avLst/>
          </a:prstGeom>
          <a:noFill/>
          <a:ln/>
        </p:spPr>
        <p:txBody>
          <a:bodyPr wrap="square" lIns="0" tIns="0" rIns="0" bIns="0" rtlCol="0" anchor="ctr"/>
          <a:lstStyle/>
          <a:p>
            <a:pPr indent="0" marL="0">
              <a:buNone/>
            </a:pPr>
            <a:r>
              <a:rPr lang="en-US" sz="1200" b="1" dirty="0">
                <a:solidFill>
                  <a:srgbClr val="9DBAFF"/>
                </a:solidFill>
                <a:latin typeface="Calibri" pitchFamily="34" charset="0"/>
                <a:ea typeface="Calibri" pitchFamily="34" charset="-122"/>
                <a:cs typeface="Calibri" pitchFamily="34" charset="-120"/>
              </a:rPr>
              <a:t>5.800 €</a:t>
            </a:r>
            <a:endParaRPr lang="en-US" sz="1200" dirty="0"/>
          </a:p>
        </p:txBody>
      </p:sp>
      <p:sp>
        <p:nvSpPr>
          <p:cNvPr id="18" name="Text 14"/>
          <p:cNvSpPr txBox="1"/>
          <p:nvPr/>
        </p:nvSpPr>
        <p:spPr>
          <a:xfrm>
            <a:off x="9144000" y="3273552"/>
            <a:ext cx="2377440" cy="274320"/>
          </a:xfrm>
          <a:prstGeom prst="rect">
            <a:avLst/>
          </a:prstGeom>
          <a:noFill/>
          <a:ln/>
        </p:spPr>
        <p:txBody>
          <a:bodyPr wrap="square" lIns="0" tIns="0" rIns="0" bIns="0" rtlCol="0" anchor="ctr"/>
          <a:lstStyle/>
          <a:p>
            <a:pPr indent="0" marL="0">
              <a:buNone/>
            </a:pPr>
            <a:r>
              <a:rPr lang="en-US" sz="1100" dirty="0">
                <a:solidFill>
                  <a:srgbClr val="98A3B3"/>
                </a:solidFill>
                <a:latin typeface="Calibri" pitchFamily="34" charset="0"/>
                <a:ea typeface="Calibri" pitchFamily="34" charset="-122"/>
                <a:cs typeface="Calibri" pitchFamily="34" charset="-120"/>
              </a:rPr>
              <a:t>bei 20.000 Nutzern</a:t>
            </a:r>
            <a:endParaRPr lang="en-US" sz="1100" dirty="0"/>
          </a:p>
        </p:txBody>
      </p:sp>
      <p:sp>
        <p:nvSpPr>
          <p:cNvPr id="19" name="Shape 15"/>
          <p:cNvSpPr/>
          <p:nvPr/>
        </p:nvSpPr>
        <p:spPr>
          <a:xfrm>
            <a:off x="7680960" y="3840480"/>
            <a:ext cx="3867912" cy="1737360"/>
          </a:xfrm>
          <a:prstGeom prst="roundRect">
            <a:avLst>
              <a:gd name="adj" fmla="val 3158"/>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20" name="Text 16"/>
          <p:cNvSpPr txBox="1"/>
          <p:nvPr/>
        </p:nvSpPr>
        <p:spPr>
          <a:xfrm>
            <a:off x="7909560" y="4005072"/>
            <a:ext cx="3657600" cy="274320"/>
          </a:xfrm>
          <a:prstGeom prst="rect">
            <a:avLst/>
          </a:prstGeom>
          <a:noFill/>
          <a:ln/>
        </p:spPr>
        <p:txBody>
          <a:bodyPr wrap="square" lIns="0" tIns="0" rIns="0" bIns="0" rtlCol="0" anchor="ctr"/>
          <a:lstStyle/>
          <a:p>
            <a:pPr indent="0" marL="0">
              <a:buNone/>
            </a:pPr>
            <a:r>
              <a:rPr lang="en-US" sz="1300" b="1" dirty="0">
                <a:solidFill>
                  <a:srgbClr val="F2F5F9"/>
                </a:solidFill>
                <a:latin typeface="Calibri" pitchFamily="34" charset="0"/>
                <a:ea typeface="Calibri" pitchFamily="34" charset="-122"/>
                <a:cs typeface="Calibri" pitchFamily="34" charset="-120"/>
              </a:rPr>
              <a:t>Was nicht enthalten ist</a:t>
            </a:r>
            <a:endParaRPr lang="en-US" sz="1300" dirty="0"/>
          </a:p>
        </p:txBody>
      </p:sp>
      <p:sp>
        <p:nvSpPr>
          <p:cNvPr id="21" name="Text 17"/>
          <p:cNvSpPr txBox="1"/>
          <p:nvPr/>
        </p:nvSpPr>
        <p:spPr>
          <a:xfrm>
            <a:off x="7909560" y="4315968"/>
            <a:ext cx="3429000" cy="1143000"/>
          </a:xfrm>
          <a:prstGeom prst="rect">
            <a:avLst/>
          </a:prstGeom>
          <a:noFill/>
          <a:ln/>
        </p:spPr>
        <p:txBody>
          <a:bodyPr wrap="square" lIns="0" tIns="0" rIns="0" bIns="0" rtlCol="0" anchor="ctr"/>
          <a:lstStyle/>
          <a:p>
            <a:pPr indent="0" marL="0">
              <a:lnSpc>
                <a:spcPct val="115000"/>
              </a:lnSpc>
              <a:buNone/>
            </a:pPr>
            <a:r>
              <a:rPr lang="en-US" sz="1100" dirty="0">
                <a:solidFill>
                  <a:srgbClr val="98A3B3"/>
                </a:solidFill>
                <a:latin typeface="Calibri" pitchFamily="34" charset="0"/>
                <a:ea typeface="Calibri" pitchFamily="34" charset="-122"/>
                <a:cs typeface="Calibri" pitchFamily="34" charset="-120"/>
              </a:rPr>
              <a:t>Gehälter der Gründer — bis zum Break-even zahlt sich niemand etwas aus. Die Lebenshaltung steht getrennt (1.100 € je Person und Monat). Eigene Zeilen: CSD zum Start 6.000 €, eigene Veranstaltungen 2.000 € je Stadt und Jahr.</a:t>
            </a:r>
            <a:endParaRPr lang="en-US" sz="1100" dirty="0"/>
          </a:p>
        </p:txBody>
      </p:sp>
      <p:sp>
        <p:nvSpPr>
          <p:cNvPr id="22" name="Text 18"/>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Finanzmodell, Blatt „Annahmen“, Abschnitte 4, 6, 7 und 7a — jede Position einzeln hinterlegt · Code-Prüfung nach Beschluss Nr. 73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TEAM</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Wer es macht — und was zugekauft wird</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9</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sp>
        <p:nvSpPr>
          <p:cNvPr id="8" name="Shape 5"/>
          <p:cNvSpPr/>
          <p:nvPr/>
        </p:nvSpPr>
        <p:spPr>
          <a:xfrm>
            <a:off x="640080" y="1645920"/>
            <a:ext cx="5225796" cy="1828800"/>
          </a:xfrm>
          <a:prstGeom prst="roundRect">
            <a:avLst>
              <a:gd name="adj" fmla="val 30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896112" y="1847088"/>
            <a:ext cx="4713732" cy="292608"/>
          </a:xfrm>
          <a:prstGeom prst="rect">
            <a:avLst/>
          </a:prstGeom>
          <a:noFill/>
          <a:ln/>
        </p:spPr>
        <p:txBody>
          <a:bodyPr wrap="square" lIns="0" tIns="0" rIns="0" bIns="0" rtlCol="0" anchor="ctr"/>
          <a:lstStyle/>
          <a:p>
            <a:pPr indent="0" marL="0">
              <a:buNone/>
            </a:pPr>
            <a:r>
              <a:rPr lang="en-US" sz="1300" b="1" dirty="0">
                <a:solidFill>
                  <a:srgbClr val="F2F5F9"/>
                </a:solidFill>
                <a:latin typeface="Calibri" pitchFamily="34" charset="0"/>
                <a:ea typeface="Calibri" pitchFamily="34" charset="-122"/>
                <a:cs typeface="Calibri" pitchFamily="34" charset="-120"/>
              </a:rPr>
              <a:t>Henry Luca Kurz — Marketing, Veranstaltungen, Partnerschaften</a:t>
            </a:r>
            <a:endParaRPr lang="en-US" sz="1300" dirty="0"/>
          </a:p>
        </p:txBody>
      </p:sp>
      <p:sp>
        <p:nvSpPr>
          <p:cNvPr id="10" name="Text 7"/>
          <p:cNvSpPr txBox="1"/>
          <p:nvPr/>
        </p:nvSpPr>
        <p:spPr>
          <a:xfrm>
            <a:off x="896112" y="2194560"/>
            <a:ext cx="4713732" cy="109728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Verantwortet die eigenen Kanäle, Veranstaltungen und den CSD-Auftritt sowie die Partnerschaften mit Clubs und Orten: 1 bis 2 Tage je Woche vor Ort.</a:t>
            </a:r>
            <a:endParaRPr lang="en-US" sz="1200" dirty="0"/>
          </a:p>
        </p:txBody>
      </p:sp>
      <p:sp>
        <p:nvSpPr>
          <p:cNvPr id="11" name="Shape 8"/>
          <p:cNvSpPr/>
          <p:nvPr/>
        </p:nvSpPr>
        <p:spPr>
          <a:xfrm>
            <a:off x="6323076" y="1645920"/>
            <a:ext cx="5225796" cy="1828800"/>
          </a:xfrm>
          <a:prstGeom prst="roundRect">
            <a:avLst>
              <a:gd name="adj" fmla="val 3000"/>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6579108" y="1847088"/>
            <a:ext cx="4713732" cy="292608"/>
          </a:xfrm>
          <a:prstGeom prst="rect">
            <a:avLst/>
          </a:prstGeom>
          <a:noFill/>
          <a:ln/>
        </p:spPr>
        <p:txBody>
          <a:bodyPr wrap="square" lIns="0" tIns="0" rIns="0" bIns="0" rtlCol="0" anchor="ctr"/>
          <a:lstStyle/>
          <a:p>
            <a:pPr indent="0" marL="0">
              <a:buNone/>
            </a:pPr>
            <a:r>
              <a:rPr lang="en-US" sz="1300" b="1" dirty="0">
                <a:solidFill>
                  <a:srgbClr val="F2F5F9"/>
                </a:solidFill>
                <a:latin typeface="Calibri" pitchFamily="34" charset="0"/>
                <a:ea typeface="Calibri" pitchFamily="34" charset="-122"/>
                <a:cs typeface="Calibri" pitchFamily="34" charset="-120"/>
              </a:rPr>
              <a:t>Nicolas Greulich — Technik und Produktentwicklung</a:t>
            </a:r>
            <a:endParaRPr lang="en-US" sz="1300" dirty="0"/>
          </a:p>
        </p:txBody>
      </p:sp>
      <p:sp>
        <p:nvSpPr>
          <p:cNvPr id="13" name="Text 10"/>
          <p:cNvSpPr txBox="1"/>
          <p:nvPr/>
        </p:nvSpPr>
        <p:spPr>
          <a:xfrm>
            <a:off x="6579108" y="2194560"/>
            <a:ext cx="4713732" cy="1097280"/>
          </a:xfrm>
          <a:prstGeom prst="rect">
            <a:avLst/>
          </a:prstGeom>
          <a:noFill/>
          <a:ln/>
        </p:spPr>
        <p:txBody>
          <a:bodyPr wrap="square" lIns="0" tIns="0" rIns="0" bIns="0" rtlCol="0" anchor="ctr"/>
          <a:lstStyle/>
          <a:p>
            <a:pPr indent="0" marL="0">
              <a:lnSpc>
                <a:spcPct val="115000"/>
              </a:lnSpc>
              <a:buNone/>
            </a:pPr>
            <a:r>
              <a:rPr lang="en-US" sz="1200" dirty="0">
                <a:solidFill>
                  <a:srgbClr val="98A3B3"/>
                </a:solidFill>
                <a:latin typeface="Calibri" pitchFamily="34" charset="0"/>
                <a:ea typeface="Calibri" pitchFamily="34" charset="-122"/>
                <a:cs typeface="Calibri" pitchFamily="34" charset="-120"/>
              </a:rPr>
              <a:t>Verantwortet Architektur und Produkt: Standortunschärfe, Bildverarbeitung, Löschbarkeit — alles, was sich nachträglich nicht einbauen lässt.</a:t>
            </a:r>
            <a:endParaRPr lang="en-US" sz="1200" dirty="0"/>
          </a:p>
        </p:txBody>
      </p:sp>
      <p:sp>
        <p:nvSpPr>
          <p:cNvPr id="14" name="Shape 11"/>
          <p:cNvSpPr/>
          <p:nvPr/>
        </p:nvSpPr>
        <p:spPr>
          <a:xfrm>
            <a:off x="640080" y="3657600"/>
            <a:ext cx="10908792" cy="1874520"/>
          </a:xfrm>
          <a:prstGeom prst="roundRect">
            <a:avLst>
              <a:gd name="adj" fmla="val 2927"/>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914400" y="3822192"/>
            <a:ext cx="7315200" cy="274320"/>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Was zugekauft wird — geplant, nicht improvisiert</a:t>
            </a:r>
            <a:endParaRPr lang="en-US" sz="1400" dirty="0"/>
          </a:p>
        </p:txBody>
      </p:sp>
      <p:sp>
        <p:nvSpPr>
          <p:cNvPr id="16" name="Text 13"/>
          <p:cNvSpPr txBox="1"/>
          <p:nvPr/>
        </p:nvSpPr>
        <p:spPr>
          <a:xfrm>
            <a:off x="914400" y="4187952"/>
            <a:ext cx="3270504" cy="256032"/>
          </a:xfrm>
          <a:prstGeom prst="rect">
            <a:avLst/>
          </a:prstGeom>
          <a:noFill/>
          <a:ln/>
        </p:spPr>
        <p:txBody>
          <a:bodyPr wrap="square" lIns="0" tIns="0" rIns="0" bIns="0" rtlCol="0" anchor="ctr"/>
          <a:lstStyle/>
          <a:p>
            <a:pPr indent="0" marL="0">
              <a:buNone/>
            </a:pPr>
            <a:r>
              <a:rPr lang="en-US" sz="1150" b="1" dirty="0">
                <a:solidFill>
                  <a:srgbClr val="9DBAFF"/>
                </a:solidFill>
                <a:latin typeface="Calibri" pitchFamily="34" charset="0"/>
                <a:ea typeface="Calibri" pitchFamily="34" charset="-122"/>
                <a:cs typeface="Calibri" pitchFamily="34" charset="-120"/>
              </a:rPr>
              <a:t>Fachanwalt IT-Recht</a:t>
            </a:r>
            <a:endParaRPr lang="en-US" sz="1150" dirty="0"/>
          </a:p>
        </p:txBody>
      </p:sp>
      <p:sp>
        <p:nvSpPr>
          <p:cNvPr id="17" name="Text 14"/>
          <p:cNvSpPr txBox="1"/>
          <p:nvPr/>
        </p:nvSpPr>
        <p:spPr>
          <a:xfrm>
            <a:off x="914400" y="4425696"/>
            <a:ext cx="3270504" cy="274320"/>
          </a:xfrm>
          <a:prstGeom prst="rect">
            <a:avLst/>
          </a:prstGeom>
          <a:noFill/>
          <a:ln/>
        </p:spPr>
        <p:txBody>
          <a:bodyPr wrap="square" lIns="0" tIns="0" rIns="0" bIns="0" rtlCol="0" anchor="ctr"/>
          <a:lstStyle/>
          <a:p>
            <a:pPr indent="0" marL="0">
              <a:buNone/>
            </a:pPr>
            <a:r>
              <a:rPr lang="en-US" sz="1050" dirty="0">
                <a:solidFill>
                  <a:srgbClr val="98A3B3"/>
                </a:solidFill>
                <a:latin typeface="Calibri" pitchFamily="34" charset="0"/>
                <a:ea typeface="Calibri" pitchFamily="34" charset="-122"/>
                <a:cs typeface="Calibri" pitchFamily="34" charset="-120"/>
              </a:rPr>
              <a:t>ab Monat 1 · AGB, Datenschutz, DSA-Einordnung</a:t>
            </a:r>
            <a:endParaRPr lang="en-US" sz="1050" dirty="0"/>
          </a:p>
        </p:txBody>
      </p:sp>
      <p:sp>
        <p:nvSpPr>
          <p:cNvPr id="18" name="Text 15"/>
          <p:cNvSpPr txBox="1"/>
          <p:nvPr/>
        </p:nvSpPr>
        <p:spPr>
          <a:xfrm>
            <a:off x="4367784" y="4187952"/>
            <a:ext cx="3270504" cy="256032"/>
          </a:xfrm>
          <a:prstGeom prst="rect">
            <a:avLst/>
          </a:prstGeom>
          <a:noFill/>
          <a:ln/>
        </p:spPr>
        <p:txBody>
          <a:bodyPr wrap="square" lIns="0" tIns="0" rIns="0" bIns="0" rtlCol="0" anchor="ctr"/>
          <a:lstStyle/>
          <a:p>
            <a:pPr indent="0" marL="0">
              <a:buNone/>
            </a:pPr>
            <a:r>
              <a:rPr lang="en-US" sz="1150" b="1" dirty="0">
                <a:solidFill>
                  <a:srgbClr val="9DBAFF"/>
                </a:solidFill>
                <a:latin typeface="Calibri" pitchFamily="34" charset="0"/>
                <a:ea typeface="Calibri" pitchFamily="34" charset="-122"/>
                <a:cs typeface="Calibri" pitchFamily="34" charset="-120"/>
              </a:rPr>
              <a:t>Datenschutzbeauftragter</a:t>
            </a:r>
            <a:endParaRPr lang="en-US" sz="1150" dirty="0"/>
          </a:p>
        </p:txBody>
      </p:sp>
      <p:sp>
        <p:nvSpPr>
          <p:cNvPr id="19" name="Text 16"/>
          <p:cNvSpPr txBox="1"/>
          <p:nvPr/>
        </p:nvSpPr>
        <p:spPr>
          <a:xfrm>
            <a:off x="4367784" y="4425696"/>
            <a:ext cx="3270504" cy="274320"/>
          </a:xfrm>
          <a:prstGeom prst="rect">
            <a:avLst/>
          </a:prstGeom>
          <a:noFill/>
          <a:ln/>
        </p:spPr>
        <p:txBody>
          <a:bodyPr wrap="square" lIns="0" tIns="0" rIns="0" bIns="0" rtlCol="0" anchor="ctr"/>
          <a:lstStyle/>
          <a:p>
            <a:pPr indent="0" marL="0">
              <a:buNone/>
            </a:pPr>
            <a:r>
              <a:rPr lang="en-US" sz="1050" dirty="0">
                <a:solidFill>
                  <a:srgbClr val="98A3B3"/>
                </a:solidFill>
                <a:latin typeface="Calibri" pitchFamily="34" charset="0"/>
                <a:ea typeface="Calibri" pitchFamily="34" charset="-122"/>
                <a:cs typeface="Calibri" pitchFamily="34" charset="-120"/>
              </a:rPr>
              <a:t>ab Monat 1 · gesetzlich verpflichtend</a:t>
            </a:r>
            <a:endParaRPr lang="en-US" sz="1050" dirty="0"/>
          </a:p>
        </p:txBody>
      </p:sp>
      <p:sp>
        <p:nvSpPr>
          <p:cNvPr id="20" name="Text 17"/>
          <p:cNvSpPr txBox="1"/>
          <p:nvPr/>
        </p:nvSpPr>
        <p:spPr>
          <a:xfrm>
            <a:off x="7821168" y="4187952"/>
            <a:ext cx="3270504" cy="256032"/>
          </a:xfrm>
          <a:prstGeom prst="rect">
            <a:avLst/>
          </a:prstGeom>
          <a:noFill/>
          <a:ln/>
        </p:spPr>
        <p:txBody>
          <a:bodyPr wrap="square" lIns="0" tIns="0" rIns="0" bIns="0" rtlCol="0" anchor="ctr"/>
          <a:lstStyle/>
          <a:p>
            <a:pPr indent="0" marL="0">
              <a:buNone/>
            </a:pPr>
            <a:r>
              <a:rPr lang="en-US" sz="1150" b="1" dirty="0">
                <a:solidFill>
                  <a:srgbClr val="9DBAFF"/>
                </a:solidFill>
                <a:latin typeface="Calibri" pitchFamily="34" charset="0"/>
                <a:ea typeface="Calibri" pitchFamily="34" charset="-122"/>
                <a:cs typeface="Calibri" pitchFamily="34" charset="-120"/>
              </a:rPr>
              <a:t>Jugendschutzbeauftragter</a:t>
            </a:r>
            <a:endParaRPr lang="en-US" sz="1150" dirty="0"/>
          </a:p>
        </p:txBody>
      </p:sp>
      <p:sp>
        <p:nvSpPr>
          <p:cNvPr id="21" name="Text 18"/>
          <p:cNvSpPr txBox="1"/>
          <p:nvPr/>
        </p:nvSpPr>
        <p:spPr>
          <a:xfrm>
            <a:off x="7821168" y="4425696"/>
            <a:ext cx="3270504" cy="274320"/>
          </a:xfrm>
          <a:prstGeom prst="rect">
            <a:avLst/>
          </a:prstGeom>
          <a:noFill/>
          <a:ln/>
        </p:spPr>
        <p:txBody>
          <a:bodyPr wrap="square" lIns="0" tIns="0" rIns="0" bIns="0" rtlCol="0" anchor="ctr"/>
          <a:lstStyle/>
          <a:p>
            <a:pPr indent="0" marL="0">
              <a:buNone/>
            </a:pPr>
            <a:r>
              <a:rPr lang="en-US" sz="1050" dirty="0">
                <a:solidFill>
                  <a:srgbClr val="98A3B3"/>
                </a:solidFill>
                <a:latin typeface="Calibri" pitchFamily="34" charset="0"/>
                <a:ea typeface="Calibri" pitchFamily="34" charset="-122"/>
                <a:cs typeface="Calibri" pitchFamily="34" charset="-120"/>
              </a:rPr>
              <a:t>vor dem Start · nach § 7 JMStV</a:t>
            </a:r>
            <a:endParaRPr lang="en-US" sz="1050" dirty="0"/>
          </a:p>
        </p:txBody>
      </p:sp>
      <p:sp>
        <p:nvSpPr>
          <p:cNvPr id="22" name="Text 19"/>
          <p:cNvSpPr txBox="1"/>
          <p:nvPr/>
        </p:nvSpPr>
        <p:spPr>
          <a:xfrm>
            <a:off x="914400" y="4809744"/>
            <a:ext cx="3270504" cy="256032"/>
          </a:xfrm>
          <a:prstGeom prst="rect">
            <a:avLst/>
          </a:prstGeom>
          <a:noFill/>
          <a:ln/>
        </p:spPr>
        <p:txBody>
          <a:bodyPr wrap="square" lIns="0" tIns="0" rIns="0" bIns="0" rtlCol="0" anchor="ctr"/>
          <a:lstStyle/>
          <a:p>
            <a:pPr indent="0" marL="0">
              <a:buNone/>
            </a:pPr>
            <a:r>
              <a:rPr lang="en-US" sz="1150" b="1" dirty="0">
                <a:solidFill>
                  <a:srgbClr val="9DBAFF"/>
                </a:solidFill>
                <a:latin typeface="Calibri" pitchFamily="34" charset="0"/>
                <a:ea typeface="Calibri" pitchFamily="34" charset="-122"/>
                <a:cs typeface="Calibri" pitchFamily="34" charset="-120"/>
              </a:rPr>
              <a:t>UI-Gestaltung extern</a:t>
            </a:r>
            <a:endParaRPr lang="en-US" sz="1150" dirty="0"/>
          </a:p>
        </p:txBody>
      </p:sp>
      <p:sp>
        <p:nvSpPr>
          <p:cNvPr id="23" name="Text 20"/>
          <p:cNvSpPr txBox="1"/>
          <p:nvPr/>
        </p:nvSpPr>
        <p:spPr>
          <a:xfrm>
            <a:off x="914400" y="5047488"/>
            <a:ext cx="3270504" cy="274320"/>
          </a:xfrm>
          <a:prstGeom prst="rect">
            <a:avLst/>
          </a:prstGeom>
          <a:noFill/>
          <a:ln/>
        </p:spPr>
        <p:txBody>
          <a:bodyPr wrap="square" lIns="0" tIns="0" rIns="0" bIns="0" rtlCol="0" anchor="ctr"/>
          <a:lstStyle/>
          <a:p>
            <a:pPr indent="0" marL="0">
              <a:buNone/>
            </a:pPr>
            <a:r>
              <a:rPr lang="en-US" sz="1050" dirty="0">
                <a:solidFill>
                  <a:srgbClr val="98A3B3"/>
                </a:solidFill>
                <a:latin typeface="Calibri" pitchFamily="34" charset="0"/>
                <a:ea typeface="Calibri" pitchFamily="34" charset="-122"/>
                <a:cs typeface="Calibri" pitchFamily="34" charset="-120"/>
              </a:rPr>
              <a:t>Monat 3–4 · 8 bis 12 Tage</a:t>
            </a:r>
            <a:endParaRPr lang="en-US" sz="1050" dirty="0"/>
          </a:p>
        </p:txBody>
      </p:sp>
      <p:sp>
        <p:nvSpPr>
          <p:cNvPr id="24" name="Text 21"/>
          <p:cNvSpPr txBox="1"/>
          <p:nvPr/>
        </p:nvSpPr>
        <p:spPr>
          <a:xfrm>
            <a:off x="4367784" y="4809744"/>
            <a:ext cx="3270504" cy="256032"/>
          </a:xfrm>
          <a:prstGeom prst="rect">
            <a:avLst/>
          </a:prstGeom>
          <a:noFill/>
          <a:ln/>
        </p:spPr>
        <p:txBody>
          <a:bodyPr wrap="square" lIns="0" tIns="0" rIns="0" bIns="0" rtlCol="0" anchor="ctr"/>
          <a:lstStyle/>
          <a:p>
            <a:pPr indent="0" marL="0">
              <a:buNone/>
            </a:pPr>
            <a:r>
              <a:rPr lang="en-US" sz="1150" b="1" dirty="0">
                <a:solidFill>
                  <a:srgbClr val="9DBAFF"/>
                </a:solidFill>
                <a:latin typeface="Calibri" pitchFamily="34" charset="0"/>
                <a:ea typeface="Calibri" pitchFamily="34" charset="-122"/>
                <a:cs typeface="Calibri" pitchFamily="34" charset="-120"/>
              </a:rPr>
              <a:t>Code-Prüfung und Penetrationstest</a:t>
            </a:r>
            <a:endParaRPr lang="en-US" sz="1150" dirty="0"/>
          </a:p>
        </p:txBody>
      </p:sp>
      <p:sp>
        <p:nvSpPr>
          <p:cNvPr id="25" name="Text 22"/>
          <p:cNvSpPr txBox="1"/>
          <p:nvPr/>
        </p:nvSpPr>
        <p:spPr>
          <a:xfrm>
            <a:off x="4367784" y="5047488"/>
            <a:ext cx="3270504" cy="274320"/>
          </a:xfrm>
          <a:prstGeom prst="rect">
            <a:avLst/>
          </a:prstGeom>
          <a:noFill/>
          <a:ln/>
        </p:spPr>
        <p:txBody>
          <a:bodyPr wrap="square" lIns="0" tIns="0" rIns="0" bIns="0" rtlCol="0" anchor="ctr"/>
          <a:lstStyle/>
          <a:p>
            <a:pPr indent="0" marL="0">
              <a:buNone/>
            </a:pPr>
            <a:r>
              <a:rPr lang="en-US" sz="1050" dirty="0">
                <a:solidFill>
                  <a:srgbClr val="98A3B3"/>
                </a:solidFill>
                <a:latin typeface="Calibri" pitchFamily="34" charset="0"/>
                <a:ea typeface="Calibri" pitchFamily="34" charset="-122"/>
                <a:cs typeface="Calibri" pitchFamily="34" charset="-120"/>
              </a:rPr>
              <a:t>vor dem Start · gesamter Code, beide Plattformen</a:t>
            </a:r>
            <a:endParaRPr lang="en-US" sz="1050" dirty="0"/>
          </a:p>
        </p:txBody>
      </p:sp>
      <p:sp>
        <p:nvSpPr>
          <p:cNvPr id="26" name="Text 23"/>
          <p:cNvSpPr txBox="1"/>
          <p:nvPr/>
        </p:nvSpPr>
        <p:spPr>
          <a:xfrm>
            <a:off x="7821168" y="4809744"/>
            <a:ext cx="3270504" cy="256032"/>
          </a:xfrm>
          <a:prstGeom prst="rect">
            <a:avLst/>
          </a:prstGeom>
          <a:noFill/>
          <a:ln/>
        </p:spPr>
        <p:txBody>
          <a:bodyPr wrap="square" lIns="0" tIns="0" rIns="0" bIns="0" rtlCol="0" anchor="ctr"/>
          <a:lstStyle/>
          <a:p>
            <a:pPr indent="0" marL="0">
              <a:buNone/>
            </a:pPr>
            <a:r>
              <a:rPr lang="en-US" sz="1150" b="1" dirty="0">
                <a:solidFill>
                  <a:srgbClr val="9DBAFF"/>
                </a:solidFill>
                <a:latin typeface="Calibri" pitchFamily="34" charset="0"/>
                <a:ea typeface="Calibri" pitchFamily="34" charset="-122"/>
                <a:cs typeface="Calibri" pitchFamily="34" charset="-120"/>
              </a:rPr>
              <a:t>Barrierefreiheit und Taxonomie</a:t>
            </a:r>
            <a:endParaRPr lang="en-US" sz="1150" dirty="0"/>
          </a:p>
        </p:txBody>
      </p:sp>
      <p:sp>
        <p:nvSpPr>
          <p:cNvPr id="27" name="Text 24"/>
          <p:cNvSpPr txBox="1"/>
          <p:nvPr/>
        </p:nvSpPr>
        <p:spPr>
          <a:xfrm>
            <a:off x="7821168" y="5047488"/>
            <a:ext cx="3270504" cy="274320"/>
          </a:xfrm>
          <a:prstGeom prst="rect">
            <a:avLst/>
          </a:prstGeom>
          <a:noFill/>
          <a:ln/>
        </p:spPr>
        <p:txBody>
          <a:bodyPr wrap="square" lIns="0" tIns="0" rIns="0" bIns="0" rtlCol="0" anchor="ctr"/>
          <a:lstStyle/>
          <a:p>
            <a:pPr indent="0" marL="0">
              <a:buNone/>
            </a:pPr>
            <a:r>
              <a:rPr lang="en-US" sz="1050" dirty="0">
                <a:solidFill>
                  <a:srgbClr val="98A3B3"/>
                </a:solidFill>
                <a:latin typeface="Calibri" pitchFamily="34" charset="0"/>
                <a:ea typeface="Calibri" pitchFamily="34" charset="-122"/>
                <a:cs typeface="Calibri" pitchFamily="34" charset="-120"/>
              </a:rPr>
              <a:t>Monat 2 und 8 · Prüfung durch Betroffene, bezahlt</a:t>
            </a:r>
            <a:endParaRPr lang="en-US" sz="1050" dirty="0"/>
          </a:p>
        </p:txBody>
      </p:sp>
      <p:sp>
        <p:nvSpPr>
          <p:cNvPr id="28" name="Text 25"/>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Businessplan, Abschnitt 7 · Gesellschaftsvertrag, Eckpunkte: Ressortprinzip (21.09.2026) · Kostenstaffel und Einmalkosten im Finanzmodell</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RISIKEN</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Risiken, die wir selbst benennen</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10</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3840480"/>
                <a:gridCol w="1371600"/>
                <a:gridCol w="5696712"/>
              </a:tblGrid>
              <a:tr h="0">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Risiko</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Schaden</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Gegenmaßnahme</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Die Dichte in der ersten Stadt bleibt aus</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9DBAFF"/>
                          </a:solidFill>
                          <a:latin typeface="Calibri" pitchFamily="34" charset="0"/>
                          <a:ea typeface="Calibri" pitchFamily="34" charset="-122"/>
                          <a:cs typeface="Calibri" pitchFamily="34" charset="-120"/>
                        </a:rPr>
                        <a:t>kritisch</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Nur eine Stadt gleichzeitig, Radius technisch begrenzt, Abbruchtor an Tag 90</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Der organische Kanal trägt nicht</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9DBAFF"/>
                          </a:solidFill>
                          <a:latin typeface="Calibri" pitchFamily="34" charset="0"/>
                          <a:ea typeface="Calibri" pitchFamily="34" charset="-122"/>
                          <a:cs typeface="Calibri" pitchFamily="34" charset="-120"/>
                        </a:rPr>
                        <a:t>kritisch</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Zweites Prüftor in Monat 12; bezahlte Kanäle sind rechnerisch ausgeschlossen</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Datenleck mit Outing-Folge</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9DBAFF"/>
                          </a:solidFill>
                          <a:latin typeface="Calibri" pitchFamily="34" charset="0"/>
                          <a:ea typeface="Calibri" pitchFamily="34" charset="-122"/>
                          <a:cs typeface="Calibri" pitchFamily="34" charset="-120"/>
                        </a:rPr>
                        <a:t>existenziell</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Standortrundung, getrennte Ablagen, Verschlüsselung, Penetrationstest vor dem Start</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Jugendschutz verlangt volle Identifizierung</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9DBAFF"/>
                          </a:solidFill>
                          <a:latin typeface="Calibri" pitchFamily="34" charset="0"/>
                          <a:ea typeface="Calibri" pitchFamily="34" charset="-122"/>
                          <a:cs typeface="Calibri" pitchFamily="34" charset="-120"/>
                        </a:rPr>
                        <a:t>hoch</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Prüfstufe als Konfiguration gebaut; alle vier Prüfwege im Modell gerechnet</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Ablehnung durch die App-Stores</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9DBAFF"/>
                          </a:solidFill>
                          <a:latin typeface="Calibri" pitchFamily="34" charset="0"/>
                          <a:ea typeface="Calibri" pitchFamily="34" charset="-122"/>
                          <a:cs typeface="Calibri" pitchFamily="34" charset="-120"/>
                        </a:rPr>
                        <a:t>kritisch</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Web-App zuerst und vollständig; native Apps erst nach der Prüfung der Store-Richtlinien</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Erschöpfung der Gründer</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9DBAFF"/>
                          </a:solidFill>
                          <a:latin typeface="Calibri" pitchFamily="34" charset="0"/>
                          <a:ea typeface="Calibri" pitchFamily="34" charset="-122"/>
                          <a:cs typeface="Calibri" pitchFamily="34" charset="-120"/>
                        </a:rPr>
                        <a:t>kritisch</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Vesting mit Ausscheidensregeln, feste Ruhezeiten, alles dokumentiert</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bl>
          </a:graphicData>
        </a:graphic>
      </p:graphicFrame>
      <p:sp>
        <p:nvSpPr>
          <p:cNvPr id="9" name="Text 5"/>
          <p:cNvSpPr txBox="1"/>
          <p:nvPr/>
        </p:nvSpPr>
        <p:spPr>
          <a:xfrm>
            <a:off x="640080" y="5394960"/>
            <a:ext cx="10908792" cy="365760"/>
          </a:xfrm>
          <a:prstGeom prst="rect">
            <a:avLst/>
          </a:prstGeom>
          <a:noFill/>
          <a:ln/>
        </p:spPr>
        <p:txBody>
          <a:bodyPr wrap="square" lIns="0" tIns="0" rIns="0" bIns="0" rtlCol="0" anchor="ctr"/>
          <a:lstStyle/>
          <a:p>
            <a:pPr indent="0" marL="0">
              <a:buNone/>
            </a:pPr>
            <a:r>
              <a:rPr lang="en-US" sz="1200" dirty="0">
                <a:solidFill>
                  <a:srgbClr val="98A3B3"/>
                </a:solidFill>
                <a:latin typeface="Calibri" pitchFamily="34" charset="0"/>
                <a:ea typeface="Calibri" pitchFamily="34" charset="-122"/>
                <a:cs typeface="Calibri" pitchFamily="34" charset="-120"/>
              </a:rPr>
              <a:t>Diese Liste steht auch im Businessplan — mit Eintrittswahrscheinlichkeit je Risiko und ohne Beschönigung.</a:t>
            </a:r>
            <a:endParaRPr lang="en-US" sz="1200" dirty="0"/>
          </a:p>
        </p:txBody>
      </p:sp>
      <p:sp>
        <p:nvSpPr>
          <p:cNvPr id="10" name="Text 6"/>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Businessplan, Abschnitt 11 · Finanzmodell, Blatt „Kennzahlen“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DANACH</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Was nach der Förderung trägt</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11</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sp>
        <p:nvSpPr>
          <p:cNvPr id="8" name="Shape 5"/>
          <p:cNvSpPr/>
          <p:nvPr/>
        </p:nvSpPr>
        <p:spPr>
          <a:xfrm>
            <a:off x="640080" y="1645920"/>
            <a:ext cx="3392424" cy="1554480"/>
          </a:xfrm>
          <a:prstGeom prst="roundRect">
            <a:avLst>
              <a:gd name="adj" fmla="val 3529"/>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9" name="Text 6"/>
          <p:cNvSpPr txBox="1"/>
          <p:nvPr/>
        </p:nvSpPr>
        <p:spPr>
          <a:xfrm>
            <a:off x="914400" y="1828800"/>
            <a:ext cx="2843784" cy="685800"/>
          </a:xfrm>
          <a:prstGeom prst="rect">
            <a:avLst/>
          </a:prstGeom>
          <a:noFill/>
          <a:ln/>
        </p:spPr>
        <p:txBody>
          <a:bodyPr wrap="square" lIns="0" tIns="0" rIns="0" bIns="0" rtlCol="0" anchor="ctr"/>
          <a:lstStyle/>
          <a:p>
            <a:pPr indent="0" marL="0">
              <a:buNone/>
            </a:pPr>
            <a:r>
              <a:rPr lang="en-US" sz="3200" b="1" dirty="0">
                <a:solidFill>
                  <a:srgbClr val="9DBAFF"/>
                </a:solidFill>
                <a:latin typeface="Cambria" pitchFamily="34" charset="0"/>
                <a:ea typeface="Cambria" pitchFamily="34" charset="-122"/>
                <a:cs typeface="Cambria" pitchFamily="34" charset="-120"/>
              </a:rPr>
              <a:t>299 / 411</a:t>
            </a:r>
            <a:endParaRPr lang="en-US" sz="3200" dirty="0"/>
          </a:p>
        </p:txBody>
      </p:sp>
      <p:sp>
        <p:nvSpPr>
          <p:cNvPr id="10" name="Text 7"/>
          <p:cNvSpPr txBox="1"/>
          <p:nvPr/>
        </p:nvSpPr>
        <p:spPr>
          <a:xfrm>
            <a:off x="914400" y="2487168"/>
            <a:ext cx="2843784"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Zahler decken die laufenden Kosten bei 5.000 und bei 12.000 aktiven Nutzern</a:t>
            </a:r>
            <a:endParaRPr lang="en-US" sz="1100" dirty="0"/>
          </a:p>
        </p:txBody>
      </p:sp>
      <p:sp>
        <p:nvSpPr>
          <p:cNvPr id="11" name="Shape 8"/>
          <p:cNvSpPr/>
          <p:nvPr/>
        </p:nvSpPr>
        <p:spPr>
          <a:xfrm>
            <a:off x="4398264" y="1645920"/>
            <a:ext cx="3392424" cy="1554480"/>
          </a:xfrm>
          <a:prstGeom prst="roundRect">
            <a:avLst>
              <a:gd name="adj" fmla="val 3529"/>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2" name="Text 9"/>
          <p:cNvSpPr txBox="1"/>
          <p:nvPr/>
        </p:nvSpPr>
        <p:spPr>
          <a:xfrm>
            <a:off x="4672584" y="1828800"/>
            <a:ext cx="2843784" cy="685800"/>
          </a:xfrm>
          <a:prstGeom prst="rect">
            <a:avLst/>
          </a:prstGeom>
          <a:noFill/>
          <a:ln/>
        </p:spPr>
        <p:txBody>
          <a:bodyPr wrap="square" lIns="0" tIns="0" rIns="0" bIns="0" rtlCol="0" anchor="ctr"/>
          <a:lstStyle/>
          <a:p>
            <a:pPr indent="0" marL="0">
              <a:buNone/>
            </a:pPr>
            <a:r>
              <a:rPr lang="en-US" sz="3200" b="1" dirty="0">
                <a:solidFill>
                  <a:srgbClr val="9DBAFF"/>
                </a:solidFill>
                <a:latin typeface="Cambria" pitchFamily="34" charset="0"/>
                <a:ea typeface="Cambria" pitchFamily="34" charset="-122"/>
                <a:cs typeface="Cambria" pitchFamily="34" charset="-120"/>
              </a:rPr>
              <a:t>Monat 28</a:t>
            </a:r>
            <a:endParaRPr lang="en-US" sz="3200" dirty="0"/>
          </a:p>
        </p:txBody>
      </p:sp>
      <p:sp>
        <p:nvSpPr>
          <p:cNvPr id="13" name="Text 10"/>
          <p:cNvSpPr txBox="1"/>
          <p:nvPr/>
        </p:nvSpPr>
        <p:spPr>
          <a:xfrm>
            <a:off x="4672584" y="2487168"/>
            <a:ext cx="2843784"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erstes positives Monatsergebnis im Modell</a:t>
            </a:r>
            <a:endParaRPr lang="en-US" sz="1100" dirty="0"/>
          </a:p>
        </p:txBody>
      </p:sp>
      <p:sp>
        <p:nvSpPr>
          <p:cNvPr id="14" name="Shape 11"/>
          <p:cNvSpPr/>
          <p:nvPr/>
        </p:nvSpPr>
        <p:spPr>
          <a:xfrm>
            <a:off x="8156448" y="1645920"/>
            <a:ext cx="3392424" cy="1554480"/>
          </a:xfrm>
          <a:prstGeom prst="roundRect">
            <a:avLst>
              <a:gd name="adj" fmla="val 3529"/>
            </a:avLst>
          </a:prstGeom>
          <a:solidFill>
            <a:srgbClr val="1B212B"/>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5" name="Text 12"/>
          <p:cNvSpPr txBox="1"/>
          <p:nvPr/>
        </p:nvSpPr>
        <p:spPr>
          <a:xfrm>
            <a:off x="8430768" y="1828800"/>
            <a:ext cx="2843784" cy="685800"/>
          </a:xfrm>
          <a:prstGeom prst="rect">
            <a:avLst/>
          </a:prstGeom>
          <a:noFill/>
          <a:ln/>
        </p:spPr>
        <p:txBody>
          <a:bodyPr wrap="square" lIns="0" tIns="0" rIns="0" bIns="0" rtlCol="0" anchor="ctr"/>
          <a:lstStyle/>
          <a:p>
            <a:pPr indent="0" marL="0">
              <a:buNone/>
            </a:pPr>
            <a:r>
              <a:rPr lang="en-US" sz="3200" b="1" dirty="0">
                <a:solidFill>
                  <a:srgbClr val="9DBAFF"/>
                </a:solidFill>
                <a:latin typeface="Cambria" pitchFamily="34" charset="0"/>
                <a:ea typeface="Cambria" pitchFamily="34" charset="-122"/>
                <a:cs typeface="Cambria" pitchFamily="34" charset="-120"/>
              </a:rPr>
              <a:t>17 %</a:t>
            </a:r>
            <a:endParaRPr lang="en-US" sz="3200" dirty="0"/>
          </a:p>
        </p:txBody>
      </p:sp>
      <p:sp>
        <p:nvSpPr>
          <p:cNvPr id="16" name="Text 13"/>
          <p:cNvSpPr txBox="1"/>
          <p:nvPr/>
        </p:nvSpPr>
        <p:spPr>
          <a:xfrm>
            <a:off x="8430768" y="2487168"/>
            <a:ext cx="2843784" cy="548640"/>
          </a:xfrm>
          <a:prstGeom prst="rect">
            <a:avLst/>
          </a:prstGeom>
          <a:noFill/>
          <a:ln/>
        </p:spPr>
        <p:txBody>
          <a:bodyPr wrap="square" lIns="0" tIns="0" rIns="0" bIns="0" rtlCol="0" anchor="ctr"/>
          <a:lstStyle/>
          <a:p>
            <a:pPr indent="0" marL="0">
              <a:lnSpc>
                <a:spcPct val="110000"/>
              </a:lnSpc>
              <a:buNone/>
            </a:pPr>
            <a:r>
              <a:rPr lang="en-US" sz="1100" dirty="0">
                <a:solidFill>
                  <a:srgbClr val="98A3B3"/>
                </a:solidFill>
                <a:latin typeface="Calibri" pitchFamily="34" charset="0"/>
                <a:ea typeface="Calibri" pitchFamily="34" charset="-122"/>
                <a:cs typeface="Calibri" pitchFamily="34" charset="-120"/>
              </a:rPr>
              <a:t>der Erlöse im Monat 36 aus Quellen neben dem Abo</a:t>
            </a:r>
            <a:endParaRPr lang="en-US" sz="1100" dirty="0"/>
          </a:p>
        </p:txBody>
      </p:sp>
      <p:sp>
        <p:nvSpPr>
          <p:cNvPr id="17" name="Shape 14"/>
          <p:cNvSpPr/>
          <p:nvPr/>
        </p:nvSpPr>
        <p:spPr>
          <a:xfrm>
            <a:off x="640080" y="3429000"/>
            <a:ext cx="10908792" cy="2011680"/>
          </a:xfrm>
          <a:prstGeom prst="roundRect">
            <a:avLst>
              <a:gd name="adj" fmla="val 2727"/>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8" name="Text 15"/>
          <p:cNvSpPr txBox="1"/>
          <p:nvPr/>
        </p:nvSpPr>
        <p:spPr>
          <a:xfrm>
            <a:off x="914400" y="3611880"/>
            <a:ext cx="7315200" cy="292608"/>
          </a:xfrm>
          <a:prstGeom prst="rect">
            <a:avLst/>
          </a:prstGeom>
          <a:noFill/>
          <a:ln/>
        </p:spPr>
        <p:txBody>
          <a:bodyPr wrap="square" lIns="0" tIns="0" rIns="0" bIns="0" rtlCol="0" anchor="ctr"/>
          <a:lstStyle/>
          <a:p>
            <a:pPr indent="0" marL="0">
              <a:buNone/>
            </a:pPr>
            <a:r>
              <a:rPr lang="en-US" sz="1400" b="1" dirty="0">
                <a:solidFill>
                  <a:srgbClr val="F2F5F9"/>
                </a:solidFill>
                <a:latin typeface="Calibri" pitchFamily="34" charset="0"/>
                <a:ea typeface="Calibri" pitchFamily="34" charset="-122"/>
                <a:cs typeface="Calibri" pitchFamily="34" charset="-120"/>
              </a:rPr>
              <a:t>Warum das auch ohne Förderung trägt</a:t>
            </a:r>
            <a:endParaRPr lang="en-US" sz="1400" dirty="0"/>
          </a:p>
        </p:txBody>
      </p:sp>
      <p:sp>
        <p:nvSpPr>
          <p:cNvPr id="19" name="Text 16"/>
          <p:cNvSpPr txBox="1"/>
          <p:nvPr/>
        </p:nvSpPr>
        <p:spPr>
          <a:xfrm>
            <a:off x="914400" y="3977640"/>
            <a:ext cx="10360152" cy="137160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1200" dirty="0">
                <a:solidFill>
                  <a:srgbClr val="98A3B3"/>
                </a:solidFill>
                <a:latin typeface="Calibri" pitchFamily="34" charset="0"/>
                <a:ea typeface="Calibri" pitchFamily="34" charset="-122"/>
                <a:cs typeface="Calibri" pitchFamily="34" charset="-120"/>
              </a:rPr>
              <a:t>Fünf Erlösquellen, nicht eine: Abonnements, Werkzeugabo für Orte und Veranstalter, Anteil an Tickets, Unterstützerbeiträge, Gesundheitspartnerschaft.</a:t>
            </a:r>
            <a:endParaRPr lang="en-US" sz="1200" dirty="0"/>
          </a:p>
          <a:p>
            <a:pPr marL="342900" indent="-342900">
              <a:lnSpc>
                <a:spcPct val="110000"/>
              </a:lnSpc>
              <a:spcAft>
                <a:spcPts val="600"/>
              </a:spcAft>
              <a:buSzPct val="100000"/>
              <a:buChar char="•"/>
            </a:pPr>
            <a:r>
              <a:rPr lang="en-US" sz="1200" dirty="0">
                <a:solidFill>
                  <a:srgbClr val="98A3B3"/>
                </a:solidFill>
                <a:latin typeface="Calibri" pitchFamily="34" charset="0"/>
                <a:ea typeface="Calibri" pitchFamily="34" charset="-122"/>
                <a:cs typeface="Calibri" pitchFamily="34" charset="-120"/>
              </a:rPr>
              <a:t>Keine Abhängigkeit von Werbung, Datenverkauf oder bezahlter Sichtbarkeit — alles ausgeschlossen, nicht bloß nicht vorgesehen.</a:t>
            </a:r>
            <a:endParaRPr lang="en-US" sz="1200" dirty="0"/>
          </a:p>
          <a:p>
            <a:pPr marL="342900" indent="-342900">
              <a:lnSpc>
                <a:spcPct val="110000"/>
              </a:lnSpc>
              <a:spcAft>
                <a:spcPts val="600"/>
              </a:spcAft>
              <a:buSzPct val="100000"/>
              <a:buChar char="•"/>
            </a:pPr>
            <a:r>
              <a:rPr lang="en-US" sz="1200" dirty="0">
                <a:solidFill>
                  <a:srgbClr val="98A3B3"/>
                </a:solidFill>
                <a:latin typeface="Calibri" pitchFamily="34" charset="0"/>
                <a:ea typeface="Calibri" pitchFamily="34" charset="-122"/>
                <a:cs typeface="Calibri" pitchFamily="34" charset="-120"/>
              </a:rPr>
              <a:t>Die Kostenstaffel wächst mit den Nutzern; die Pflichtpositionen sind bekannt und im Modell hinterlegt.</a:t>
            </a:r>
            <a:endParaRPr lang="en-US" sz="1200" dirty="0"/>
          </a:p>
          <a:p>
            <a:pPr marL="342900" indent="-342900">
              <a:lnSpc>
                <a:spcPct val="110000"/>
              </a:lnSpc>
              <a:spcAft>
                <a:spcPts val="600"/>
              </a:spcAft>
              <a:buSzPct val="100000"/>
              <a:buChar char="•"/>
            </a:pPr>
            <a:r>
              <a:rPr lang="en-US" sz="1200" dirty="0">
                <a:solidFill>
                  <a:srgbClr val="98A3B3"/>
                </a:solidFill>
                <a:latin typeface="Calibri" pitchFamily="34" charset="0"/>
                <a:ea typeface="Calibri" pitchFamily="34" charset="-122"/>
                <a:cs typeface="Calibri" pitchFamily="34" charset="-120"/>
              </a:rPr>
              <a:t>Die Förderung überbrückt den Anlauf bis Monat 28 — sie ersetzt kein Geschäftsmodell.</a:t>
            </a:r>
            <a:endParaRPr lang="en-US" sz="1200" dirty="0"/>
          </a:p>
        </p:txBody>
      </p:sp>
      <p:sp>
        <p:nvSpPr>
          <p:cNvPr id="20" name="Text 17"/>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Finanzmodell, Blätter „Realistisch“ (Monat 36) und „Kennzahlen“ (Abschnitt 6) · Beschlüsse Nr. 65 und 78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51B"/>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274320"/>
          </a:xfrm>
          <a:prstGeom prst="rect">
            <a:avLst/>
          </a:prstGeom>
          <a:noFill/>
          <a:ln/>
        </p:spPr>
        <p:txBody>
          <a:bodyPr wrap="square" lIns="0" tIns="0" rIns="0" bIns="0" rtlCol="0" anchor="ctr"/>
          <a:lstStyle/>
          <a:p>
            <a:pPr indent="0" marL="0">
              <a:buNone/>
            </a:pPr>
            <a:r>
              <a:rPr lang="en-US" sz="1100" b="1" spc="200" kern="0" dirty="0">
                <a:solidFill>
                  <a:srgbClr val="4D7CFE"/>
                </a:solidFill>
                <a:latin typeface="Calibri" pitchFamily="34" charset="0"/>
                <a:ea typeface="Calibri" pitchFamily="34" charset="-122"/>
                <a:cs typeface="Calibri" pitchFamily="34" charset="-120"/>
              </a:rPr>
              <a:t>ANPASSUNG</a:t>
            </a:r>
            <a:endParaRPr lang="en-US" sz="1100" dirty="0"/>
          </a:p>
        </p:txBody>
      </p:sp>
      <p:sp>
        <p:nvSpPr>
          <p:cNvPr id="3" name="Text 1"/>
          <p:cNvSpPr txBox="1"/>
          <p:nvPr/>
        </p:nvSpPr>
        <p:spPr>
          <a:xfrm>
            <a:off x="640080" y="658368"/>
            <a:ext cx="10908792" cy="685800"/>
          </a:xfrm>
          <a:prstGeom prst="rect">
            <a:avLst/>
          </a:prstGeom>
          <a:noFill/>
          <a:ln/>
        </p:spPr>
        <p:txBody>
          <a:bodyPr wrap="square" lIns="0" tIns="0" rIns="0" bIns="0" rtlCol="0" anchor="ctr"/>
          <a:lstStyle/>
          <a:p>
            <a:pPr indent="0" marL="0">
              <a:buNone/>
            </a:pPr>
            <a:r>
              <a:rPr lang="en-US" sz="3200" b="1" dirty="0">
                <a:solidFill>
                  <a:srgbClr val="F2F5F9"/>
                </a:solidFill>
                <a:latin typeface="Cambria" pitchFamily="34" charset="0"/>
                <a:ea typeface="Cambria" pitchFamily="34" charset="-122"/>
                <a:cs typeface="Cambria" pitchFamily="34" charset="-120"/>
              </a:rPr>
              <a:t>Welche Folie für welches Programm angepasst wird</a:t>
            </a:r>
            <a:endParaRPr lang="en-US" sz="3200" dirty="0"/>
          </a:p>
        </p:txBody>
      </p:sp>
      <p:sp>
        <p:nvSpPr>
          <p:cNvPr id="4" name="Shape 2"/>
          <p:cNvSpPr/>
          <p:nvPr/>
        </p:nvSpPr>
        <p:spPr>
          <a:xfrm>
            <a:off x="11164824" y="6199632"/>
            <a:ext cx="384048" cy="310896"/>
          </a:xfrm>
          <a:prstGeom prst="roundRect">
            <a:avLst>
              <a:gd name="adj" fmla="val 23529"/>
            </a:avLst>
          </a:prstGeom>
          <a:solidFill>
            <a:srgbClr val="232B37"/>
          </a:solidFill>
          <a:ln w="9525">
            <a:solidFill>
              <a:srgbClr val="2E3849"/>
            </a:solidFill>
            <a:prstDash val="solid"/>
          </a:ln>
        </p:spPr>
      </p:sp>
      <p:sp>
        <p:nvSpPr>
          <p:cNvPr id="5" name="Text 3"/>
          <p:cNvSpPr txBox="1"/>
          <p:nvPr/>
        </p:nvSpPr>
        <p:spPr>
          <a:xfrm>
            <a:off x="11164824" y="6199632"/>
            <a:ext cx="384048" cy="310896"/>
          </a:xfrm>
          <a:prstGeom prst="rect">
            <a:avLst/>
          </a:prstGeom>
          <a:noFill/>
          <a:ln/>
        </p:spPr>
        <p:txBody>
          <a:bodyPr wrap="square" lIns="0" tIns="0" rIns="0" bIns="0" rtlCol="0" anchor="ctr"/>
          <a:lstStyle/>
          <a:p>
            <a:pPr algn="ctr" indent="0" marL="0">
              <a:buNone/>
            </a:pPr>
            <a:r>
              <a:rPr lang="en-US" sz="1100" b="1" dirty="0">
                <a:solidFill>
                  <a:srgbClr val="9DBAFF"/>
                </a:solidFill>
                <a:latin typeface="Calibri" pitchFamily="34" charset="0"/>
                <a:ea typeface="Calibri" pitchFamily="34" charset="-122"/>
                <a:cs typeface="Calibri" pitchFamily="34" charset="-120"/>
              </a:rPr>
              <a:t>12</a:t>
            </a:r>
            <a:endParaRPr lang="en-US" sz="1100" dirty="0"/>
          </a:p>
        </p:txBody>
      </p:sp>
      <p:sp>
        <p:nvSpPr>
          <p:cNvPr id="6" name="Text 4"/>
          <p:cNvSpPr txBox="1"/>
          <p:nvPr/>
        </p:nvSpPr>
        <p:spPr>
          <a:xfrm>
            <a:off x="640080" y="6236208"/>
            <a:ext cx="7772400" cy="237744"/>
          </a:xfrm>
          <a:prstGeom prst="rect">
            <a:avLst/>
          </a:prstGeom>
          <a:noFill/>
          <a:ln/>
        </p:spPr>
        <p:txBody>
          <a:bodyPr wrap="square" lIns="0" tIns="0" rIns="0" bIns="0" rtlCol="0" anchor="ctr"/>
          <a:lstStyle/>
          <a:p>
            <a:pPr indent="0" marL="0">
              <a:buNone/>
            </a:pPr>
            <a:r>
              <a:rPr lang="en-US" sz="900" dirty="0">
                <a:solidFill>
                  <a:srgbClr val="6A7686"/>
                </a:solidFill>
                <a:latin typeface="Calibri" pitchFamily="34" charset="0"/>
                <a:ea typeface="Calibri" pitchFamily="34" charset="-122"/>
                <a:cs typeface="Calibri" pitchFamily="34" charset="-120"/>
              </a:rPr>
              <a:t>Cruizy · Präsentation für Förderstellen · ENTWURF · Stand 26.09.2026</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645920"/>
          <a:ext cx="10908792" cy="914400"/>
        </p:xfrm>
        <a:graphic>
          <a:graphicData uri="http://schemas.openxmlformats.org/drawingml/2006/table">
            <a:tbl>
              <a:tblPr/>
              <a:tblGrid>
                <a:gridCol w="3108960"/>
                <a:gridCol w="3657600"/>
                <a:gridCol w="4142232"/>
              </a:tblGrid>
              <a:tr h="0">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Programm</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Was dort zählt</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c>
                  <a:txBody>
                    <a:bodyPr/>
                    <a:lstStyle/>
                    <a:p>
                      <a:pPr indent="0" marL="0">
                        <a:buNone/>
                      </a:pPr>
                      <a:r>
                        <a:rPr lang="en-US" sz="1100" b="1" dirty="0">
                          <a:solidFill>
                            <a:srgbClr val="98A3B3"/>
                          </a:solidFill>
                          <a:latin typeface="Calibri" pitchFamily="34" charset="0"/>
                          <a:ea typeface="Calibri" pitchFamily="34" charset="-122"/>
                          <a:cs typeface="Calibri" pitchFamily="34" charset="-120"/>
                        </a:rPr>
                        <a:t>Anzupassende Folien</a:t>
                      </a:r>
                      <a:endParaRPr lang="en-US" sz="110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2151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Gründungsstipendium Niedersachsen</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Personenförderung: Lebensunterhalt, Wohnsitz und Sitz in Niedersachsen; Anträge derzeit bis 31.03.2027, Nachfolge offen</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Folie 8 auf Lebensunterhalt umstellen · Folie 9 um den Wohnsitz ergänzen · Folie 11 kürzen</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EXIST-Gründungsstipendium</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Hochschulanbindung, noch keine Gesellschaft zum Förderbeginn, Sachmittel und Coaching</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Folie 6 um die Hochschulanbindung · Folie 8 um Sachmittel · Folie 1 um den Hinweis, dass die Gesellschaft noch nicht besteht</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Gründungswettbewerbe — in der Vorbereitungsphase keine Teilnahme (Nr. 62)</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Innovationsgehalt, Nutzen, Vortrag in wenigen Minuten</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Folien 3, 4 und 7 ausführlich · Folien 5, 8 und 12 streichen oder in den Anhang</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1B212B"/>
                    </a:solidFill>
                  </a:tcPr>
                </a:tc>
              </a:tr>
              <a:tr h="0">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Programme mit Sitzbindung</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Sitz in Niedersachsen oder Nordrhein-Westfalen, je nach Förderlage; beide Gründer ziehen an den Sitz</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c>
                  <a:txBody>
                    <a:bodyPr/>
                    <a:lstStyle/>
                    <a:p>
                      <a:pPr indent="0" marL="0">
                        <a:buNone/>
                      </a:pPr>
                      <a:r>
                        <a:rPr lang="en-US" sz="1150" dirty="0">
                          <a:solidFill>
                            <a:srgbClr val="F2F5F9"/>
                          </a:solidFill>
                          <a:latin typeface="Calibri" pitchFamily="34" charset="0"/>
                          <a:ea typeface="Calibri" pitchFamily="34" charset="-122"/>
                          <a:cs typeface="Calibri" pitchFamily="34" charset="-120"/>
                        </a:rPr>
                        <a:t>Folie 9 um Sitz und Wohnsitz · Folie 6 um den Zeitpunkt der Gründung</a:t>
                      </a:r>
                      <a:endParaRPr lang="en-US" sz="1150" dirty="0">
                        <a:latin typeface="Calibri" charset="0"/>
                        <a:ea typeface="Calibri" charset="0"/>
                        <a:cs typeface="Calibri" charset="0"/>
                      </a:endParaRPr>
                    </a:p>
                  </a:txBody>
                  <a:tcPr marL="127000" marR="127000" marT="76200" marB="76200" anchor="ctr">
                    <a:lnL w="9525" cap="flat" cmpd="sng" algn="ctr">
                      <a:solidFill>
                        <a:srgbClr val="2E3849"/>
                      </a:solidFill>
                      <a:prstDash val="solid"/>
                      <a:round/>
                      <a:headEnd type="none" w="med" len="med"/>
                      <a:tailEnd type="none" w="med" len="med"/>
                    </a:lnL>
                    <a:lnR w="9525" cap="flat" cmpd="sng" algn="ctr">
                      <a:solidFill>
                        <a:srgbClr val="2E3849"/>
                      </a:solidFill>
                      <a:prstDash val="solid"/>
                      <a:round/>
                      <a:headEnd type="none" w="med" len="med"/>
                      <a:tailEnd type="none" w="med" len="med"/>
                    </a:lnR>
                    <a:lnT w="9525" cap="flat" cmpd="sng" algn="ctr">
                      <a:solidFill>
                        <a:srgbClr val="2E3849"/>
                      </a:solidFill>
                      <a:prstDash val="solid"/>
                      <a:round/>
                      <a:headEnd type="none" w="med" len="med"/>
                      <a:tailEnd type="none" w="med" len="med"/>
                    </a:lnT>
                    <a:lnB w="9525" cap="flat" cmpd="sng" algn="ctr">
                      <a:solidFill>
                        <a:srgbClr val="2E3849"/>
                      </a:solidFill>
                      <a:prstDash val="solid"/>
                      <a:round/>
                      <a:headEnd type="none" w="med" len="med"/>
                      <a:tailEnd type="none" w="med" len="med"/>
                    </a:lnB>
                    <a:solidFill>
                      <a:srgbClr val="232B37"/>
                    </a:solidFill>
                  </a:tcPr>
                </a:tc>
              </a:tr>
            </a:tbl>
          </a:graphicData>
        </a:graphic>
      </p:graphicFrame>
      <p:sp>
        <p:nvSpPr>
          <p:cNvPr id="9" name="Shape 5"/>
          <p:cNvSpPr/>
          <p:nvPr/>
        </p:nvSpPr>
        <p:spPr>
          <a:xfrm>
            <a:off x="640080" y="4480560"/>
            <a:ext cx="10908792" cy="1188720"/>
          </a:xfrm>
          <a:prstGeom prst="roundRect">
            <a:avLst>
              <a:gd name="adj" fmla="val 4615"/>
            </a:avLst>
          </a:prstGeom>
          <a:solidFill>
            <a:srgbClr val="232B37"/>
          </a:solidFill>
          <a:ln w="9525">
            <a:solidFill>
              <a:srgbClr val="2E3849"/>
            </a:solidFill>
            <a:prstDash val="solid"/>
          </a:ln>
          <a:effectLst>
            <a:outerShdw sx="100000" sy="100000" kx="0" ky="0" algn="bl" rotWithShape="0" blurRad="127000" dist="25400" dir="5400000">
              <a:srgbClr val="000000">
                <a:alpha val="35000"/>
              </a:srgbClr>
            </a:outerShdw>
          </a:effectLst>
        </p:spPr>
      </p:sp>
      <p:sp>
        <p:nvSpPr>
          <p:cNvPr id="10" name="Text 6"/>
          <p:cNvSpPr txBox="1"/>
          <p:nvPr/>
        </p:nvSpPr>
        <p:spPr>
          <a:xfrm>
            <a:off x="914400" y="4617720"/>
            <a:ext cx="7315200" cy="274320"/>
          </a:xfrm>
          <a:prstGeom prst="rect">
            <a:avLst/>
          </a:prstGeom>
          <a:noFill/>
          <a:ln/>
        </p:spPr>
        <p:txBody>
          <a:bodyPr wrap="square" lIns="0" tIns="0" rIns="0" bIns="0" rtlCol="0" anchor="ctr"/>
          <a:lstStyle/>
          <a:p>
            <a:pPr indent="0" marL="0">
              <a:buNone/>
            </a:pPr>
            <a:r>
              <a:rPr lang="en-US" sz="1300" b="1" dirty="0">
                <a:solidFill>
                  <a:srgbClr val="F2F5F9"/>
                </a:solidFill>
                <a:latin typeface="Calibri" pitchFamily="34" charset="0"/>
                <a:ea typeface="Calibri" pitchFamily="34" charset="-122"/>
                <a:cs typeface="Calibri" pitchFamily="34" charset="-120"/>
              </a:rPr>
              <a:t>Anlagen, in allen Fällen dieselben</a:t>
            </a:r>
            <a:endParaRPr lang="en-US" sz="1300" dirty="0"/>
          </a:p>
        </p:txBody>
      </p:sp>
      <p:sp>
        <p:nvSpPr>
          <p:cNvPr id="11" name="Text 7"/>
          <p:cNvSpPr txBox="1"/>
          <p:nvPr/>
        </p:nvSpPr>
        <p:spPr>
          <a:xfrm>
            <a:off x="914400" y="4937760"/>
            <a:ext cx="10360152" cy="685800"/>
          </a:xfrm>
          <a:prstGeom prst="rect">
            <a:avLst/>
          </a:prstGeom>
          <a:noFill/>
          <a:ln/>
        </p:spPr>
        <p:txBody>
          <a:bodyPr wrap="square" lIns="0" tIns="0" rIns="0" bIns="0" rtlCol="0" anchor="ctr"/>
          <a:lstStyle/>
          <a:p>
            <a:pPr indent="0" marL="0">
              <a:lnSpc>
                <a:spcPct val="115000"/>
              </a:lnSpc>
              <a:buNone/>
            </a:pPr>
            <a:r>
              <a:rPr lang="en-US" sz="1150" dirty="0">
                <a:solidFill>
                  <a:srgbClr val="98A3B3"/>
                </a:solidFill>
                <a:latin typeface="Calibri" pitchFamily="34" charset="0"/>
                <a:ea typeface="Calibri" pitchFamily="34" charset="-122"/>
                <a:cs typeface="Calibri" pitchFamily="34" charset="-120"/>
              </a:rPr>
              <a:t>Businessplan-Rohfassung · Finanzmodell mit drei Szenarien · Produktspezifikation mit 674 prüfbaren Kriterien · Moderationsarchitektur · Fördermittel-Übersicht mit Quellenstand. Jede Förderangabe ist vor Antragstellung beim Träger zu bestätigen — die Übersicht nennt den Erhebungsstand.</a:t>
            </a:r>
            <a:endParaRPr lang="en-US" sz="1150" dirty="0"/>
          </a:p>
        </p:txBody>
      </p:sp>
      <p:sp>
        <p:nvSpPr>
          <p:cNvPr id="12" name="Text 8"/>
          <p:cNvSpPr txBox="1"/>
          <p:nvPr/>
        </p:nvSpPr>
        <p:spPr>
          <a:xfrm>
            <a:off x="640080" y="6473952"/>
            <a:ext cx="10360152" cy="237744"/>
          </a:xfrm>
          <a:prstGeom prst="rect">
            <a:avLst/>
          </a:prstGeom>
          <a:noFill/>
          <a:ln/>
        </p:spPr>
        <p:txBody>
          <a:bodyPr wrap="square" lIns="0" tIns="0" rIns="0" bIns="0" rtlCol="0" anchor="ctr"/>
          <a:lstStyle/>
          <a:p>
            <a:pPr indent="0" marL="0">
              <a:buNone/>
            </a:pPr>
            <a:r>
              <a:rPr lang="en-US" sz="850" i="1" dirty="0">
                <a:solidFill>
                  <a:srgbClr val="5E6A7A"/>
                </a:solidFill>
                <a:latin typeface="Calibri" pitchFamily="34" charset="0"/>
                <a:ea typeface="Calibri" pitchFamily="34" charset="-122"/>
                <a:cs typeface="Calibri" pitchFamily="34" charset="-120"/>
              </a:rPr>
              <a:t>Quelle: Fördermittel-Übersicht A-09 · EXIST-Voraussetzungen A-10 · Wettbewerbsliste A-12 · Beschlüsse Nr. 21, 33, 37 und 62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Cruizy — Präsentation für Förderstellen (ENTWURF)</dc:title>
  <dc:subject>PptxGenJS Presentation</dc:subject>
  <dc:creator>Henry Luca Kurz, Nicolas Greulich</dc:creator>
  <cp:lastModifiedBy>Henry Luca Kurz, Nicolas Greulich</cp:lastModifiedBy>
  <cp:revision>1</cp:revision>
  <dcterms:created xsi:type="dcterms:W3CDTF">2026-09-27T16:00:40Z</dcterms:created>
  <dcterms:modified xsi:type="dcterms:W3CDTF">2026-09-27T16:00:40Z</dcterms:modified>
</cp:coreProperties>
</file>