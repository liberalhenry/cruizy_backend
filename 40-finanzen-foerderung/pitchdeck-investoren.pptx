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Erlös im Monat 36, realistisches Szenario</c:v>
                </c:pt>
              </c:strCache>
            </c:strRef>
          </c:tx>
          <c:spPr>
            <a:solidFill>
              <a:srgbClr val="4D7CFE"/>
            </a:solidFill>
            <a:effectLst/>
          </c:spPr>
          <c:invertIfNegative val="0"/>
          <c:dLbls>
            <c:numFmt formatCode="#,##0&quot; €&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cat>
            <c:multiLvlStrRef>
              <c:f>Sheet1!$A$2:$A$6</c:f>
              <c:multiLvlStrCache>
                <c:ptCount val="5"/>
                <c:lvl>
                  <c:pt idx="0">
                    <c:v>Abonnements</c:v>
                  </c:pt>
                  <c:pt idx="1">
                    <c:v>Gesundheitspartnerschaft</c:v>
                  </c:pt>
                  <c:pt idx="2">
                    <c:v>Unterstützerbeiträge</c:v>
                  </c:pt>
                  <c:pt idx="3">
                    <c:v>Anteil an Tickets</c:v>
                  </c:pt>
                  <c:pt idx="4">
                    <c:v>Werkzeugabo für Orte</c:v>
                  </c:pt>
                </c:lvl>
              </c:multiLvlStrCache>
            </c:multiLvlStrRef>
          </c:cat>
          <c:val>
            <c:numRef>
              <c:f>Sheet1!$B$2:$B$6</c:f>
              <c:numCache>
                <c:formatCode>General</c:formatCode>
                <c:ptCount val="5"/>
                <c:pt idx="0">
                  <c:v>16873</c:v>
                </c:pt>
                <c:pt idx="1">
                  <c:v>1068</c:v>
                </c:pt>
                <c:pt idx="2">
                  <c:v>930</c:v>
                </c:pt>
                <c:pt idx="3">
                  <c:v>922</c:v>
                </c:pt>
                <c:pt idx="4">
                  <c:v>580</c:v>
                </c:pt>
              </c:numCache>
            </c:numRef>
          </c:val>
        </c:ser>
        <c:dLbls>
          <c:numFmt formatCode="#,##0&quot; €&quot;" sourceLinked="0"/>
          <c:txPr>
            <a:bodyPr/>
            <a:lstStyle/>
            <a:p>
              <a:pPr>
                <a:defRPr b="0" i="0" strike="noStrike" sz="1100" u="none">
                  <a:solidFill>
                    <a:srgbClr val="F2F5F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F2F5F9"/>
                </a:solidFill>
                <a:latin typeface="Arial"/>
              </a:defRPr>
            </a:pPr>
            <a:endParaRPr lang="en-US"/>
          </a:p>
        </c:txPr>
        <c:crossAx val="2094734552"/>
        <c:crosses val="autoZero"/>
        <c:auto val="1"/>
        <c:lblAlgn val="ctr"/>
        <c:noMultiLvlLbl val="1"/>
      </c:catAx>
      <c:valAx>
        <c:axId val="2094734552"/>
        <c:scaling>
          <c:orientation val="minMax"/>
          <c:max val="20000"/>
        </c:scaling>
        <c:delete val="1"/>
        <c:axPos val="b"/>
        <c:majorGridlines>
          <c:spPr>
            <a:ln w="6350" cap="flat">
              <a:solidFill>
                <a:srgbClr val="2E384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8A3B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Kumulierte Kasse, realistisches Szenario</c:v>
                </c:pt>
              </c:strCache>
            </c:strRef>
          </c:tx>
          <c:spPr>
            <a:solidFill>
              <a:srgbClr val="4D7CFE"/>
            </a:solidFill>
            <a:ln w="38100" cap="flat">
              <a:solidFill>
                <a:srgbClr val="4D7CF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D7CFE"/>
              </a:solidFill>
              <a:ln w="9525" cap="flat">
                <a:solidFill>
                  <a:srgbClr val="4D7CFE"/>
                </a:solidFill>
                <a:prstDash val="solid"/>
                <a:round/>
              </a:ln>
              <a:effectLst/>
            </c:spPr>
          </c:marker>
          <c:cat>
            <c:multiLvlStrRef>
              <c:f>Sheet1!$A$2:$A$37</c:f>
              <c:multiLvlStrCache>
                <c:ptCount val="36"/>
                <c:lvl>
                  <c:pt idx="0">
                    <c:v>M1</c:v>
                  </c:pt>
                  <c:pt idx="1">
                    <c:v> </c:v>
                  </c:pt>
                  <c:pt idx="2">
                    <c:v> </c:v>
                  </c:pt>
                  <c:pt idx="3">
                    <c:v>M4</c:v>
                  </c:pt>
                  <c:pt idx="4">
                    <c:v> </c:v>
                  </c:pt>
                  <c:pt idx="5">
                    <c:v> </c:v>
                  </c:pt>
                  <c:pt idx="6">
                    <c:v>M7</c:v>
                  </c:pt>
                  <c:pt idx="7">
                    <c:v> </c:v>
                  </c:pt>
                  <c:pt idx="8">
                    <c:v> </c:v>
                  </c:pt>
                  <c:pt idx="9">
                    <c:v>M10</c:v>
                  </c:pt>
                  <c:pt idx="10">
                    <c:v> </c:v>
                  </c:pt>
                  <c:pt idx="11">
                    <c:v> </c:v>
                  </c:pt>
                  <c:pt idx="12">
                    <c:v>M13</c:v>
                  </c:pt>
                  <c:pt idx="13">
                    <c:v> </c:v>
                  </c:pt>
                  <c:pt idx="14">
                    <c:v> </c:v>
                  </c:pt>
                  <c:pt idx="15">
                    <c:v>M16</c:v>
                  </c:pt>
                  <c:pt idx="16">
                    <c:v> </c:v>
                  </c:pt>
                  <c:pt idx="17">
                    <c:v> </c:v>
                  </c:pt>
                  <c:pt idx="18">
                    <c:v>M19</c:v>
                  </c:pt>
                  <c:pt idx="19">
                    <c:v> </c:v>
                  </c:pt>
                  <c:pt idx="20">
                    <c:v> </c:v>
                  </c:pt>
                  <c:pt idx="21">
                    <c:v>M22</c:v>
                  </c:pt>
                  <c:pt idx="22">
                    <c:v> </c:v>
                  </c:pt>
                  <c:pt idx="23">
                    <c:v> </c:v>
                  </c:pt>
                  <c:pt idx="24">
                    <c:v>M25</c:v>
                  </c:pt>
                  <c:pt idx="25">
                    <c:v> </c:v>
                  </c:pt>
                  <c:pt idx="26">
                    <c:v> </c:v>
                  </c:pt>
                  <c:pt idx="27">
                    <c:v>M28</c:v>
                  </c:pt>
                  <c:pt idx="28">
                    <c:v> </c:v>
                  </c:pt>
                  <c:pt idx="29">
                    <c:v> </c:v>
                  </c:pt>
                  <c:pt idx="30">
                    <c:v>M31</c:v>
                  </c:pt>
                  <c:pt idx="31">
                    <c:v> </c:v>
                  </c:pt>
                  <c:pt idx="32">
                    <c:v> </c:v>
                  </c:pt>
                  <c:pt idx="33">
                    <c:v>M34</c:v>
                  </c:pt>
                  <c:pt idx="34">
                    <c:v> </c:v>
                  </c:pt>
                  <c:pt idx="35">
                    <c:v>M36</c:v>
                  </c:pt>
                </c:lvl>
              </c:multiLvlStrCache>
            </c:multiLvlStrRef>
          </c:cat>
          <c:val>
            <c:numRef>
              <c:f>Sheet1!$B$2:$B$37</c:f>
              <c:numCache>
                <c:formatCode>General</c:formatCode>
                <c:ptCount val="36"/>
                <c:pt idx="0">
                  <c:v>-34287</c:v>
                </c:pt>
                <c:pt idx="1">
                  <c:v>-38781</c:v>
                </c:pt>
                <c:pt idx="2">
                  <c:v>-52241</c:v>
                </c:pt>
                <c:pt idx="3">
                  <c:v>-58835</c:v>
                </c:pt>
                <c:pt idx="4">
                  <c:v>-64062</c:v>
                </c:pt>
                <c:pt idx="5">
                  <c:v>-68422</c:v>
                </c:pt>
                <c:pt idx="6">
                  <c:v>-70918</c:v>
                </c:pt>
                <c:pt idx="7">
                  <c:v>-79052</c:v>
                </c:pt>
                <c:pt idx="8">
                  <c:v>-81829</c:v>
                </c:pt>
                <c:pt idx="9">
                  <c:v>-84739</c:v>
                </c:pt>
                <c:pt idx="10">
                  <c:v>-87782</c:v>
                </c:pt>
                <c:pt idx="11">
                  <c:v>-90959</c:v>
                </c:pt>
                <c:pt idx="12">
                  <c:v>-97950</c:v>
                </c:pt>
                <c:pt idx="13">
                  <c:v>-99849</c:v>
                </c:pt>
                <c:pt idx="14">
                  <c:v>-101744</c:v>
                </c:pt>
                <c:pt idx="15">
                  <c:v>-103590</c:v>
                </c:pt>
                <c:pt idx="16">
                  <c:v>-105544</c:v>
                </c:pt>
                <c:pt idx="17">
                  <c:v>-107692</c:v>
                </c:pt>
                <c:pt idx="18">
                  <c:v>-110020</c:v>
                </c:pt>
                <c:pt idx="19">
                  <c:v>-111980</c:v>
                </c:pt>
                <c:pt idx="20">
                  <c:v>-114090</c:v>
                </c:pt>
                <c:pt idx="21">
                  <c:v>-115778</c:v>
                </c:pt>
                <c:pt idx="22">
                  <c:v>-117298</c:v>
                </c:pt>
                <c:pt idx="23">
                  <c:v>-118626</c:v>
                </c:pt>
                <c:pt idx="24">
                  <c:v>-126669</c:v>
                </c:pt>
                <c:pt idx="25">
                  <c:v>-126837</c:v>
                </c:pt>
                <c:pt idx="26">
                  <c:v>-126877</c:v>
                </c:pt>
                <c:pt idx="27">
                  <c:v>-126682</c:v>
                </c:pt>
                <c:pt idx="28">
                  <c:v>-126166</c:v>
                </c:pt>
                <c:pt idx="29">
                  <c:v>-125257</c:v>
                </c:pt>
                <c:pt idx="30">
                  <c:v>-123885</c:v>
                </c:pt>
                <c:pt idx="31">
                  <c:v>-121983</c:v>
                </c:pt>
                <c:pt idx="32">
                  <c:v>-119483</c:v>
                </c:pt>
                <c:pt idx="33">
                  <c:v>-116319</c:v>
                </c:pt>
                <c:pt idx="34">
                  <c:v>-112426</c:v>
                </c:pt>
                <c:pt idx="35">
                  <c:v>-108134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8A3B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E3849"/>
              </a:solidFill>
              <a:prstDash val="solid"/>
              <a:round/>
            </a:ln>
          </c:spPr>
        </c:majorGridlines>
        <c:numFmt formatCode="#,##0&quot; €&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8A3B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 · Wer ist da — und wo bin ich willkommen? · Ziel 15 s
Cruizy ist eine Dating- und Verbindungs-App für schwule, bisexuelle und queere Männer im deutschsprachigen Raum. Start in Köln zur CSD-Saison — frühestens 2028, geplant wird mit einem Jahr später. Acht Minuten, vierzehn Folien.
Übergang: Ich fange mit dem Problem an.
Quelle: Handbuch A, Positionierung · Beschluss Nr.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 · Vier Probleme, die der Marktführer nicht lösen will · Ziel 45 s
Erstens: Wer eine solche App nutzt, offenbart seine Orientierung. Ein Datenleck ist hier kein Rufschaden, sondern ein Zwangsouting. Zweitens: Die Anreize stehen gegen die Nutzer — Werbung im Raster ist die meistgenannte Beschwerde, und Zähler verkaufen das Auflösen einer Zahl. Drittens: Außerhalb der Großstädte ist das Raster leer, weil Echtzeit Gleichzeitigkeit braucht. Viertens: Für eine Absage fehlt die Formulierung, nicht der Anstand — deshalb verschwinden Menschen.
Übergang: Vier Probleme, die zusammenhängen — also braucht es eine Antwort, die zusammenhängt.
Erwartete Fragen: Woher wissen Sie das, wenn die Interviews noch laufen? | Warum baut Grindr das nicht einfach nach?
Quelle: Handbuch B, Auswertung · Handbuch A, Prinzipien · Interviews (A-19) laufen ab Oktober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 · Menschen und Orte statt nur Entfernung · Ziel 40 s
Cruizy verbindet Menschen mit Orten. „Nähe“ zeigt, wer da ist — in Entfernungsbändern, nie auf Metern. „Heute“ zeigt, was läuft: rund vierzig Orte je Stadt, Termine, Gruppen, die sich zwei Stunden vorher öffnen. „Chats“ beginnt immer nur mit Text. „Ich“ enthält alles zur Sicherheit — kostenlos, auch den Ersatzpunkt. Der Satz, an dem wir gemessen werden wollen: Was dich schützt, kostet nie etwas.
Übergang: Bleibt die Frage, warum ausgerechnet jetzt.
Erwartete Fragen: Ist das nicht einfach Grindr mit Karte? | Warum kostet Inkognito dann Geld?
Quelle: Handbuch A, Funktionskatalog · Produktspezifikation A-29 · Beschluss Nr.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4 · Drei Fenster, die zum Start offen stehen · Ziel 35 s
Erstens die Regulierung: DSA und Jugendmedienschutz verlangen Prüfprozesse. Nachrüsten kostet ein Vielfaches — wir bauen es von Anfang an ein. Zweitens der Altersnachweis: Ab Januar 2027 gibt es in Deutschland eine kostenlose staatliche Brieftasche mit Altersnachweis. Zum Start ist sie mindestens anderthalb Jahre im Feld. Drittens die Konsolidierung: Der Markt wird aufgekauft — und was aufgekauft wird, wird nicht datensparsamer.
Übergang: So weit die Lage — jetzt das Produkt.
Erwartete Fragen: Was, wenn die Wallet später kommt als geplant?
Quelle: Handbuch A, Rechtsauflagen · R-01, Wettbewerbsbeobachtung 15.09.2026 · Altersverifikation, Stand September 2026 (A-53) · eIDAS 2.0, Stichtag 02.01.2027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5 · Drei Bildschirme, drei Entscheidungen · Ziel 40 s
Links „Nähe“: ein Raster mit vier Entfernungsbändern, die Sortierung benannt und umschaltbar, keine bezahlte Sichtbarkeit. In der Mitte „Heute“: eine Karte, die nie einzelne Personen zeigt, dazu Orte und Termine. Rechts das Sicherheitszentrum: Check-in vor dem Treffen, verstecken, blockieren, melden, Daten löschen — aus jedem Gespräch mit einem Tipp. Zuerst kommt die Web-App; die nativen Apps folgen als Hülle um dieselbe App.
Übergang: Das kann man nachbauen. Die Frage ist, was wie lange dauert.
Erwartete Fragen: Warum zuerst eine Web-App?
Quelle: Produktspezifikation A-29 · Wireframes A-15 · Bauplan zwei Plattformen A-51 · Beschlüsse Nr. 47 und 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6 · Sortiert nach dem, was kopierbar ist · Ziel 30 s
Die ehrliche Reihenfolge ist die nach Kopierbarkeit. Unten, was ein Konzern in Wochen nachbaut: Antwortquote, höflicher Ausstieg, Absicht mit Ablauf. In der Mitte, was Monate kostet: Sicherheitszentrum, gestufte Prüfung, Datenkonto. Oben, was Jahre kostet: vierzig Ortsbeziehungen je Stadt, eine Architektur ohne genauen Standort, ein Schutzversprechen, das die Erlösmodelle der Großen ausschließt.
Übergang: Damit zum Markt, in dem das stattfindet.
Erwartete Fragen: Was hindert Grindr daran, in Köln dieselben vierzig Orte zu gewinnen?
Quelle: Handbuch A, dreizehn Alleinstellungsmerkmale · Produktspezifikation A-29, Abschnitt 19.3 · vor Verwendung klären: Zonen speichern laut Spezifikation noch einen genauen Mittelpunkt (W-27, Vorschlag: runden)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7 · Ein profitabler Marktführer — und eine unbesetzte Nische · Ziel 35 s
Im DACH-Raum sind geschätzt sechshundert- bis achthundertfünfzigtausend Männer aktiv, die meisten mit zwei bis vier Apps. Grindr meldete im ersten Quartal 2026 rund einhundertdreißig Millionen Dollar Umsatz bei fünfundvierzig Prozent Marge; Match Group steckte hundert Millionen in Sniffies. Die unangenehme Wahrheit: Ein hochprofitabler Marktführer baut an denselben Funktionen. Unsere Vorteile machen eine Stadt gewinnbar, nicht den Markt.
Übergang: Was davon verdient Geld?
Erwartete Fragen: Wie verteidigen Sie sich gegen einen Preiskampf? | Warum ist ROMEO nicht schon die Antwort?
Quelle: Handbuch B, Wettbewerbsmatrix DACH · R-01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8 · Fünf Quellen, eine Regel · Ziel 30 s
Fünf Erlösquellen: Abos zu neun und siebzehn Euro, ein Werkzeugabo für Orte und Veranstalter, ein Anteil an Tickets, Unterstützerbeiträge und eine Gesundheitspartnerschaft. Am Ende des dritten Jahres rund zwanzigtausend Euro im Monat, mehr als vier Fünftel davon aus Abos. Die Regel darüber: keine Werbung, kein Datenverkauf, keine bezahlte Sichtbarkeit — auch nicht für Orte.
Übergang: Wie wir an die Nutzer kommen, entscheidet eine einzige Rechnung.
Erwartete Fragen: Warum keine Werbung? Das ist doch der lukrativste Hebel. | Was, wenn weniger Menschen PRO wählen?
Quelle: finanzmodell.xlsx, Blatt „Realistisch“, Monat 36 · Preise und Bezahlstufen (A-52) · Beschlüsse Nr. 65, 67 und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9 · Die Rechnung, die den Kanal bestimmt · Ziel 35 s
Ein aktiver Nutzer bringt am Ende des dritten Jahres dreiunddreißig Cent im Monat. Tragbar sind damit knapp zwei Euro je gewonnenem Nutzer. Eine bezahlte Installation kostet sechzig bis hundertfünfzig Euro — mehr als das Dreißigfache. Daraus folgt die Strategie: eigene Kanäle mit Vorlauf, Orte als Multiplikatoren, der Start in der CSD-Saison für Bekanntheit statt Installationen.
Übergang: Bleibt die Frage: Wo stehen wir heute?
Erwartete Fragen: Wie wollen Sie ohne Werbebudget auf 5.000 Nutzer kommen?
Quelle: Handbuch B, Akquise-Ökonomie (Verweildauer 18 Monate, Relation 3 : 1, Kanalkosten) · finanzmodell.xlsx, Blatt „Realistisch“, Monat 36 · Beschluss Nr.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10 · Was heute steht — und was noch nicht · Ziel 25 s
Ehrlich: Heute gibt es keine Nutzer; gestartet wird in der CSD-Saison, frühestens 2028. Was es gibt, ist die Vorarbeit — Ortsliste, Produkt vollständig auf Papier, Rechtsrahmen, Finanzmodell, Kanalplan. Die Zahlen rechts tragen ein Datum. Wenn wir uns treffen, sind sie aktuell — oder wir zeigen sie nicht.
Übergang: Und wer baut das?
Erwartete Fragen: Warum sprechen Sie mit Investoren, bevor es Nutzer gibt?
Quelle: Aufgabensystem, Stand 22.09.2026 · Tor 1 nach Handbuch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11 · Zwei Gründer, zwei getrennte Bereiche · Ziel 30 s
Wir sind zwei, mit getrennten Bereichen: Nicolas verantwortet Technik und Produktentwicklung, Henry Marketing, Veranstaltungen und die Partnerschaften mit Orten und Clubs. In seinem Bereich hat jeder das letzte Wort. Wir gehören zur Zielgruppe und haben jede Entscheidung dokumentiert. Was uns fehlt, sagen wir vorher: Betrieb unter Last und Moderation im Team.
Übergang: Kommen wir zu den Zahlen.
Erwartete Fragen: Wer baut die Software — und wer prüft sie?
Quelle: Gesellschaftsvertrag, Eckpunkte (Ressortprinzip, 21.09.2026) · Handbuch B, Team und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12 · Tiefpunkt, Break-even, Kapitalbedarf · Ziel 35 s
Die Kurve zeigt die kumulierte Kasse über sechsunddreißig Monate. Tiefpunkt: minus rund einhundertsiebenundzwanzigtausend Euro in Monat siebenundzwanzig, im Folgemonat der erste Monat mit Überschuss. Mit Rücklage und Puffer braucht die Firma rund einhundertsechzigtausend Euro. Diese Zahl hängt an einer Rechtsfrage: Je nach Prüfweg beim Jugendschutz liegt sie zwischen einhundertdreiundvierzig- und zweihundertsechsundvierzigtausend.
Übergang: Woran wir uns messen lassen: drei Tore.
Erwartete Fragen: Was passiert, wenn die Rechtsfrage ungünstig ausgeht? | Warum kein Gehalt für die Gründer?
Quelle: finanzmodell.xlsx, Blätter „Realistisch“ und „Kennzahlen“ · Nachrechnung 21.09.2026 (A-52)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13 · Drei Tore, vorher schriftlich festgelegt · Ziel 35 s
Drei Abbruchpunkte, schriftlich, bevor Geld fließt. Tag neunzig: über fünfzehnhundert Wartelisten-Anmeldungen, neunhundert davon aus einer Stadt. Monat zwölf: fünftausend Follower und achthundert Installationen. Monat fünfzehn: dreitausendfünfhundert aktive Nutzer in Köln. Wird Tor zwei verfehlt, gibt es neunzig Tage mehr nur bei steigendem, vorher benanntem Frühindikator, sonst ein neues Format; trägt auch das sechs Monate nicht, beenden wir geordnet.
Übergang: Und damit zum Ask.
Erwartete Fragen: Was tun Sie konkret, wenn Tor 1 verfehlt wird?
Quelle: Handbuch B, Prüftore · Beschluss Nr. 15 · tor-1-zeitachse-analyse.md · Zeitrechnung für Tor 2 offen (Nr.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14 · Was wir suchen — und was wir dafür nicht anbieten · Ziel 30 s
Die ehrliche Lücke sind rund zweihundertdreiunddreißigtausend Euro: Firma, Lebenshaltung und Krankenversicherung bis zum Break-even. Crowdfunding, ein Vorverkauf an die Warteliste und, falls es fortgeführt wird, das Gründungsstipendium können einen Teil decken — zugesagt ist davon nichts. Über den Rest sprechen wir. Was wir nicht anbieten: Wachstum um jeden Preis — dieses Produkt begrenzt seine Erlöse bewusst.
Erwartete Fragen: Wie sieht Ihr Exit aus? | Welche Beteiligung bieten Sie an?
Quelle: finanzmodell.xlsx, Blätter „Kennzahlen“ und „Finanzierungswege“ · crowdfunding-konzept.md, Fassung 2 · Handbuch B, Kapitalfahrplan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B"/>
        </a:solidFill>
      </p:bgPr>
    </p:bg>
    <p:spTree>
      <p:nvGrpSpPr>
        <p:cNvPr id="1" name=""/>
        <p:cNvGrpSpPr/>
        <p:nvPr/>
      </p:nvGrpSpPr>
      <p:grpSpPr>
        <a:xfrm>
          <a:off x="0" y="0"/>
          <a:ext cx="0" cy="0"/>
          <a:chOff x="0" y="0"/>
          <a:chExt cx="0" cy="0"/>
        </a:xfrm>
      </p:grpSpPr>
      <p:sp>
        <p:nvSpPr>
          <p:cNvPr id="3" name="Shape 0"/>
          <p:cNvSpPr/>
          <p:nvPr/>
        </p:nvSpPr>
        <p:spPr>
          <a:xfrm>
            <a:off x="640080" y="1371600"/>
            <a:ext cx="822960" cy="822960"/>
          </a:xfrm>
          <a:prstGeom prst="roundRect">
            <a:avLst>
              <a:gd name="adj" fmla="val 17778"/>
            </a:avLst>
          </a:prstGeom>
          <a:solidFill>
            <a:srgbClr val="4D7CFE"/>
          </a:solidFill>
          <a:ln w="12700">
            <a:solidFill>
              <a:srgbClr val="4D7CFE"/>
            </a:solidFill>
            <a:prstDash val="solid"/>
          </a:ln>
        </p:spPr>
      </p:sp>
      <p:sp>
        <p:nvSpPr>
          <p:cNvPr id="4" name="Text 1"/>
          <p:cNvSpPr txBox="1"/>
          <p:nvPr/>
        </p:nvSpPr>
        <p:spPr>
          <a:xfrm>
            <a:off x="640080" y="1371600"/>
            <a:ext cx="822960" cy="822960"/>
          </a:xfrm>
          <a:prstGeom prst="rect">
            <a:avLst/>
          </a:prstGeom>
          <a:noFill/>
          <a:ln/>
        </p:spPr>
        <p:txBody>
          <a:bodyPr wrap="square" lIns="0" tIns="0" rIns="0" bIns="0" rtlCol="0" anchor="ctr"/>
          <a:lstStyle/>
          <a:p>
            <a:pPr algn="ctr" indent="0" marL="0">
              <a:buNone/>
            </a:pPr>
            <a:r>
              <a:rPr lang="en-US" sz="4000" b="1" dirty="0">
                <a:solidFill>
                  <a:srgbClr val="0B1220"/>
                </a:solidFill>
                <a:latin typeface="Cambria" pitchFamily="34" charset="0"/>
                <a:ea typeface="Cambria" pitchFamily="34" charset="-122"/>
                <a:cs typeface="Cambria" pitchFamily="34" charset="-120"/>
              </a:rPr>
              <a:t>C</a:t>
            </a:r>
            <a:endParaRPr lang="en-US" sz="4000" dirty="0"/>
          </a:p>
        </p:txBody>
      </p:sp>
      <p:sp>
        <p:nvSpPr>
          <p:cNvPr id="5" name="Text 2"/>
          <p:cNvSpPr txBox="1"/>
          <p:nvPr/>
        </p:nvSpPr>
        <p:spPr>
          <a:xfrm>
            <a:off x="640080" y="2377440"/>
            <a:ext cx="7772400" cy="914400"/>
          </a:xfrm>
          <a:prstGeom prst="rect">
            <a:avLst/>
          </a:prstGeom>
          <a:noFill/>
          <a:ln/>
        </p:spPr>
        <p:txBody>
          <a:bodyPr wrap="square" lIns="0" tIns="0" rIns="0" bIns="0" rtlCol="0" anchor="ctr"/>
          <a:lstStyle/>
          <a:p>
            <a:pPr indent="0" marL="0">
              <a:buNone/>
            </a:pPr>
            <a:r>
              <a:rPr lang="en-US" sz="6000" b="1" dirty="0">
                <a:solidFill>
                  <a:srgbClr val="F2F5F9"/>
                </a:solidFill>
                <a:latin typeface="Cambria" pitchFamily="34" charset="0"/>
                <a:ea typeface="Cambria" pitchFamily="34" charset="-122"/>
                <a:cs typeface="Cambria" pitchFamily="34" charset="-120"/>
              </a:rPr>
              <a:t>Cruizy</a:t>
            </a:r>
            <a:endParaRPr lang="en-US" sz="6000" dirty="0"/>
          </a:p>
        </p:txBody>
      </p:sp>
      <p:sp>
        <p:nvSpPr>
          <p:cNvPr id="6" name="Text 3"/>
          <p:cNvSpPr txBox="1"/>
          <p:nvPr/>
        </p:nvSpPr>
        <p:spPr>
          <a:xfrm>
            <a:off x="640080" y="3291840"/>
            <a:ext cx="6949440" cy="457200"/>
          </a:xfrm>
          <a:prstGeom prst="rect">
            <a:avLst/>
          </a:prstGeom>
          <a:noFill/>
          <a:ln/>
        </p:spPr>
        <p:txBody>
          <a:bodyPr wrap="square" lIns="0" tIns="0" rIns="0" bIns="0" rtlCol="0" anchor="ctr"/>
          <a:lstStyle/>
          <a:p>
            <a:pPr indent="0" marL="0">
              <a:buNone/>
            </a:pPr>
            <a:r>
              <a:rPr lang="en-US" sz="2000" dirty="0">
                <a:solidFill>
                  <a:srgbClr val="9DBAFF"/>
                </a:solidFill>
                <a:latin typeface="Calibri" pitchFamily="34" charset="0"/>
                <a:ea typeface="Calibri" pitchFamily="34" charset="-122"/>
                <a:cs typeface="Calibri" pitchFamily="34" charset="-120"/>
              </a:rPr>
              <a:t>Wer ist da — und wo bin ich willkommen?</a:t>
            </a:r>
            <a:endParaRPr lang="en-US" sz="2000" dirty="0"/>
          </a:p>
        </p:txBody>
      </p:sp>
      <p:sp>
        <p:nvSpPr>
          <p:cNvPr id="7" name="Text 4"/>
          <p:cNvSpPr txBox="1"/>
          <p:nvPr/>
        </p:nvSpPr>
        <p:spPr>
          <a:xfrm>
            <a:off x="640080" y="3840480"/>
            <a:ext cx="6949440" cy="1005840"/>
          </a:xfrm>
          <a:prstGeom prst="rect">
            <a:avLst/>
          </a:prstGeom>
          <a:noFill/>
          <a:ln/>
        </p:spPr>
        <p:txBody>
          <a:bodyPr wrap="square" lIns="0" tIns="0" rIns="0" bIns="0" rtlCol="0" anchor="ctr"/>
          <a:lstStyle/>
          <a:p>
            <a:pPr indent="0" marL="0">
              <a:lnSpc>
                <a:spcPct val="120000"/>
              </a:lnSpc>
              <a:buNone/>
            </a:pPr>
            <a:r>
              <a:rPr lang="en-US" sz="1300" dirty="0">
                <a:solidFill>
                  <a:srgbClr val="98A3B3"/>
                </a:solidFill>
                <a:latin typeface="Calibri" pitchFamily="34" charset="0"/>
                <a:ea typeface="Calibri" pitchFamily="34" charset="-122"/>
                <a:cs typeface="Calibri" pitchFamily="34" charset="-120"/>
              </a:rPr>
              <a:t>Dating- und Verbindungs-App für schwule, bisexuelle und queere Männer im deutschsprachigen Raum. Lokal verankert, datensparsam, ohne Werbung. Start in Köln zur CSD-Saison — frühestens 2028, geplant ein Jahr später.</a:t>
            </a:r>
            <a:endParaRPr lang="en-US" sz="1300" dirty="0"/>
          </a:p>
        </p:txBody>
      </p:sp>
      <p:sp>
        <p:nvSpPr>
          <p:cNvPr id="8" name="Text 5"/>
          <p:cNvSpPr txBox="1"/>
          <p:nvPr/>
        </p:nvSpPr>
        <p:spPr>
          <a:xfrm>
            <a:off x="640080" y="5806440"/>
            <a:ext cx="5486400" cy="274320"/>
          </a:xfrm>
          <a:prstGeom prst="rect">
            <a:avLst/>
          </a:prstGeom>
          <a:noFill/>
          <a:ln/>
        </p:spPr>
        <p:txBody>
          <a:bodyPr wrap="square" lIns="0" tIns="0" rIns="0" bIns="0" rtlCol="0" anchor="ctr"/>
          <a:lstStyle/>
          <a:p>
            <a:pPr indent="0" marL="0">
              <a:buNone/>
            </a:pPr>
            <a:r>
              <a:rPr lang="en-US" sz="1200" dirty="0">
                <a:solidFill>
                  <a:srgbClr val="F2F5F9"/>
                </a:solidFill>
                <a:latin typeface="Calibri" pitchFamily="34" charset="0"/>
                <a:ea typeface="Calibri" pitchFamily="34" charset="-122"/>
                <a:cs typeface="Calibri" pitchFamily="34" charset="-120"/>
              </a:rPr>
              <a:t>Henry Luca Kurz · Nicolas Greulich</a:t>
            </a:r>
            <a:endParaRPr lang="en-US" sz="1200" dirty="0"/>
          </a:p>
        </p:txBody>
      </p:sp>
      <p:sp>
        <p:nvSpPr>
          <p:cNvPr id="9" name="Text 6"/>
          <p:cNvSpPr txBox="1"/>
          <p:nvPr/>
        </p:nvSpPr>
        <p:spPr>
          <a:xfrm>
            <a:off x="640080" y="6108192"/>
            <a:ext cx="9144000" cy="274320"/>
          </a:xfrm>
          <a:prstGeom prst="rect">
            <a:avLst/>
          </a:prstGeom>
          <a:noFill/>
          <a:ln/>
        </p:spPr>
        <p:txBody>
          <a:bodyPr wrap="square" lIns="0" tIns="0" rIns="0" bIns="0" rtlCol="0" anchor="ctr"/>
          <a:lstStyle/>
          <a:p>
            <a:pPr indent="0" marL="0">
              <a:buNone/>
            </a:pPr>
            <a:r>
              <a:rPr lang="en-US" sz="950" dirty="0">
                <a:solidFill>
                  <a:srgbClr val="6A7686"/>
                </a:solidFill>
                <a:latin typeface="Calibri" pitchFamily="34" charset="0"/>
                <a:ea typeface="Calibri" pitchFamily="34" charset="-122"/>
                <a:cs typeface="Calibri" pitchFamily="34" charset="-120"/>
              </a:rPr>
              <a:t>ENTWURF · Stand 26.09.2026 · Zahlen aus dem eigenen Finanzmodell, Stand 21.09.2026 · „Cruizy“ ist ein Arbeitstitel</a:t>
            </a:r>
            <a:endParaRPr lang="en-US" sz="950" dirty="0"/>
          </a:p>
        </p:txBody>
      </p:sp>
      <p:sp>
        <p:nvSpPr>
          <p:cNvPr id="10" name="Shape 7"/>
          <p:cNvSpPr/>
          <p:nvPr/>
        </p:nvSpPr>
        <p:spPr>
          <a:xfrm>
            <a:off x="7863840" y="1371600"/>
            <a:ext cx="3685032" cy="1051560"/>
          </a:xfrm>
          <a:prstGeom prst="roundRect">
            <a:avLst>
              <a:gd name="adj" fmla="val 521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8138160" y="1508760"/>
            <a:ext cx="3108960" cy="41148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600–850 T</a:t>
            </a:r>
            <a:endParaRPr lang="en-US" sz="2400" dirty="0"/>
          </a:p>
        </p:txBody>
      </p:sp>
      <p:sp>
        <p:nvSpPr>
          <p:cNvPr id="12" name="Text 9"/>
          <p:cNvSpPr txBox="1"/>
          <p:nvPr/>
        </p:nvSpPr>
        <p:spPr>
          <a:xfrm>
            <a:off x="8138160" y="1938528"/>
            <a:ext cx="3108960" cy="36576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aktive Männer im DACH-Raum</a:t>
            </a:r>
            <a:endParaRPr lang="en-US" sz="1100" dirty="0"/>
          </a:p>
        </p:txBody>
      </p:sp>
      <p:sp>
        <p:nvSpPr>
          <p:cNvPr id="13" name="Shape 10"/>
          <p:cNvSpPr/>
          <p:nvPr/>
        </p:nvSpPr>
        <p:spPr>
          <a:xfrm>
            <a:off x="7863840" y="2606040"/>
            <a:ext cx="3685032" cy="1051560"/>
          </a:xfrm>
          <a:prstGeom prst="roundRect">
            <a:avLst>
              <a:gd name="adj" fmla="val 521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4" name="Text 11"/>
          <p:cNvSpPr txBox="1"/>
          <p:nvPr/>
        </p:nvSpPr>
        <p:spPr>
          <a:xfrm>
            <a:off x="8138160" y="2743200"/>
            <a:ext cx="3108960" cy="41148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5 Quellen</a:t>
            </a:r>
            <a:endParaRPr lang="en-US" sz="2400" dirty="0"/>
          </a:p>
        </p:txBody>
      </p:sp>
      <p:sp>
        <p:nvSpPr>
          <p:cNvPr id="15" name="Text 12"/>
          <p:cNvSpPr txBox="1"/>
          <p:nvPr/>
        </p:nvSpPr>
        <p:spPr>
          <a:xfrm>
            <a:off x="8138160" y="3172968"/>
            <a:ext cx="3108960" cy="36576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Erlöse ohne Werbung und ohne Datenverkauf</a:t>
            </a:r>
            <a:endParaRPr lang="en-US" sz="1100" dirty="0"/>
          </a:p>
        </p:txBody>
      </p:sp>
      <p:sp>
        <p:nvSpPr>
          <p:cNvPr id="16" name="Shape 13"/>
          <p:cNvSpPr/>
          <p:nvPr/>
        </p:nvSpPr>
        <p:spPr>
          <a:xfrm>
            <a:off x="7863840" y="3840480"/>
            <a:ext cx="3685032" cy="1051560"/>
          </a:xfrm>
          <a:prstGeom prst="roundRect">
            <a:avLst>
              <a:gd name="adj" fmla="val 521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7" name="Text 14"/>
          <p:cNvSpPr txBox="1"/>
          <p:nvPr/>
        </p:nvSpPr>
        <p:spPr>
          <a:xfrm>
            <a:off x="8138160" y="3977640"/>
            <a:ext cx="3108960" cy="41148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3 Tore</a:t>
            </a:r>
            <a:endParaRPr lang="en-US" sz="2400" dirty="0"/>
          </a:p>
        </p:txBody>
      </p:sp>
      <p:sp>
        <p:nvSpPr>
          <p:cNvPr id="18" name="Text 15"/>
          <p:cNvSpPr txBox="1"/>
          <p:nvPr/>
        </p:nvSpPr>
        <p:spPr>
          <a:xfrm>
            <a:off x="8138160" y="4407408"/>
            <a:ext cx="3108960" cy="36576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Abbruchpunkte, vorher schriftlich festgelegt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PROBLEM</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Vier Probleme, die der Marktführer nicht lösen will</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2</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45920"/>
            <a:ext cx="5271516"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847088"/>
            <a:ext cx="4759452"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1 · Nutzung ist Offenbarung</a:t>
            </a:r>
            <a:endParaRPr lang="en-US" sz="1500" dirty="0"/>
          </a:p>
        </p:txBody>
      </p:sp>
      <p:sp>
        <p:nvSpPr>
          <p:cNvPr id="10" name="Text 7"/>
          <p:cNvSpPr txBox="1"/>
          <p:nvPr/>
        </p:nvSpPr>
        <p:spPr>
          <a:xfrm>
            <a:off x="896112" y="2194560"/>
            <a:ext cx="4759452" cy="1051560"/>
          </a:xfrm>
          <a:prstGeom prst="rect">
            <a:avLst/>
          </a:prstGeom>
          <a:noFill/>
          <a:ln/>
        </p:spPr>
        <p:txBody>
          <a:bodyPr wrap="square" lIns="0" tIns="0" rIns="0" bIns="0" rtlCol="0" anchor="ctr"/>
          <a:lstStyle/>
          <a:p>
            <a:pPr indent="0" marL="0">
              <a:lnSpc>
                <a:spcPct val="115000"/>
              </a:lnSpc>
              <a:buNone/>
            </a:pPr>
            <a:r>
              <a:rPr lang="en-US" sz="1250" dirty="0">
                <a:solidFill>
                  <a:srgbClr val="98A3B3"/>
                </a:solidFill>
                <a:latin typeface="Calibri" pitchFamily="34" charset="0"/>
                <a:ea typeface="Calibri" pitchFamily="34" charset="-122"/>
                <a:cs typeface="Calibri" pitchFamily="34" charset="-120"/>
              </a:rPr>
              <a:t>Schon die Registrierung lässt auf die Orientierung schließen — besondere Daten nach Art. 9 DSGVO. Ein Leck ist hier kein Rufschaden, sondern ein Zwangsouting.</a:t>
            </a:r>
            <a:endParaRPr lang="en-US" sz="1250" dirty="0"/>
          </a:p>
        </p:txBody>
      </p:sp>
      <p:sp>
        <p:nvSpPr>
          <p:cNvPr id="11" name="Shape 8"/>
          <p:cNvSpPr/>
          <p:nvPr/>
        </p:nvSpPr>
        <p:spPr>
          <a:xfrm>
            <a:off x="6277356" y="1645920"/>
            <a:ext cx="5271516"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33388" y="1847088"/>
            <a:ext cx="4759452"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2 · Anreize gegen die Nutzer</a:t>
            </a:r>
            <a:endParaRPr lang="en-US" sz="1500" dirty="0"/>
          </a:p>
        </p:txBody>
      </p:sp>
      <p:sp>
        <p:nvSpPr>
          <p:cNvPr id="13" name="Text 10"/>
          <p:cNvSpPr txBox="1"/>
          <p:nvPr/>
        </p:nvSpPr>
        <p:spPr>
          <a:xfrm>
            <a:off x="6533388" y="2194560"/>
            <a:ext cx="4759452" cy="1051560"/>
          </a:xfrm>
          <a:prstGeom prst="rect">
            <a:avLst/>
          </a:prstGeom>
          <a:noFill/>
          <a:ln/>
        </p:spPr>
        <p:txBody>
          <a:bodyPr wrap="square" lIns="0" tIns="0" rIns="0" bIns="0" rtlCol="0" anchor="ctr"/>
          <a:lstStyle/>
          <a:p>
            <a:pPr indent="0" marL="0">
              <a:lnSpc>
                <a:spcPct val="115000"/>
              </a:lnSpc>
              <a:buNone/>
            </a:pPr>
            <a:r>
              <a:rPr lang="en-US" sz="1250" dirty="0">
                <a:solidFill>
                  <a:srgbClr val="98A3B3"/>
                </a:solidFill>
                <a:latin typeface="Calibri" pitchFamily="34" charset="0"/>
                <a:ea typeface="Calibri" pitchFamily="34" charset="-122"/>
                <a:cs typeface="Calibri" pitchFamily="34" charset="-120"/>
              </a:rPr>
              <a:t>Werbung im Raster und im Chat ist die meistgenannte Einzelbeschwerde. Zähler zeigen eine Zahl und verkaufen das Auflösen.</a:t>
            </a:r>
            <a:endParaRPr lang="en-US" sz="1250" dirty="0"/>
          </a:p>
        </p:txBody>
      </p:sp>
      <p:sp>
        <p:nvSpPr>
          <p:cNvPr id="14" name="Shape 11"/>
          <p:cNvSpPr/>
          <p:nvPr/>
        </p:nvSpPr>
        <p:spPr>
          <a:xfrm>
            <a:off x="640080" y="3703320"/>
            <a:ext cx="5271516"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896112" y="3904488"/>
            <a:ext cx="4759452"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3 · Leere außerhalb der Metropolen</a:t>
            </a:r>
            <a:endParaRPr lang="en-US" sz="1500" dirty="0"/>
          </a:p>
        </p:txBody>
      </p:sp>
      <p:sp>
        <p:nvSpPr>
          <p:cNvPr id="16" name="Text 13"/>
          <p:cNvSpPr txBox="1"/>
          <p:nvPr/>
        </p:nvSpPr>
        <p:spPr>
          <a:xfrm>
            <a:off x="896112" y="4251960"/>
            <a:ext cx="4759452" cy="1051560"/>
          </a:xfrm>
          <a:prstGeom prst="rect">
            <a:avLst/>
          </a:prstGeom>
          <a:noFill/>
          <a:ln/>
        </p:spPr>
        <p:txBody>
          <a:bodyPr wrap="square" lIns="0" tIns="0" rIns="0" bIns="0" rtlCol="0" anchor="ctr"/>
          <a:lstStyle/>
          <a:p>
            <a:pPr indent="0" marL="0">
              <a:lnSpc>
                <a:spcPct val="115000"/>
              </a:lnSpc>
              <a:buNone/>
            </a:pPr>
            <a:r>
              <a:rPr lang="en-US" sz="1250" dirty="0">
                <a:solidFill>
                  <a:srgbClr val="98A3B3"/>
                </a:solidFill>
                <a:latin typeface="Calibri" pitchFamily="34" charset="0"/>
                <a:ea typeface="Calibri" pitchFamily="34" charset="-122"/>
                <a:cs typeface="Calibri" pitchFamily="34" charset="-120"/>
              </a:rPr>
              <a:t>Ein Echtzeit-Raster braucht Gleichzeitigkeit. Wer nicht in der Großstadt wohnt, sieht ein leeres Raster und kommt nicht wieder.</a:t>
            </a:r>
            <a:endParaRPr lang="en-US" sz="1250" dirty="0"/>
          </a:p>
        </p:txBody>
      </p:sp>
      <p:sp>
        <p:nvSpPr>
          <p:cNvPr id="17" name="Shape 14"/>
          <p:cNvSpPr/>
          <p:nvPr/>
        </p:nvSpPr>
        <p:spPr>
          <a:xfrm>
            <a:off x="6277356" y="3703320"/>
            <a:ext cx="5271516"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8" name="Text 15"/>
          <p:cNvSpPr txBox="1"/>
          <p:nvPr/>
        </p:nvSpPr>
        <p:spPr>
          <a:xfrm>
            <a:off x="6533388" y="3904488"/>
            <a:ext cx="4759452"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4 · Verschwinden statt Absagen</a:t>
            </a:r>
            <a:endParaRPr lang="en-US" sz="1500" dirty="0"/>
          </a:p>
        </p:txBody>
      </p:sp>
      <p:sp>
        <p:nvSpPr>
          <p:cNvPr id="19" name="Text 16"/>
          <p:cNvSpPr txBox="1"/>
          <p:nvPr/>
        </p:nvSpPr>
        <p:spPr>
          <a:xfrm>
            <a:off x="6533388" y="4251960"/>
            <a:ext cx="4759452" cy="1051560"/>
          </a:xfrm>
          <a:prstGeom prst="rect">
            <a:avLst/>
          </a:prstGeom>
          <a:noFill/>
          <a:ln/>
        </p:spPr>
        <p:txBody>
          <a:bodyPr wrap="square" lIns="0" tIns="0" rIns="0" bIns="0" rtlCol="0" anchor="ctr"/>
          <a:lstStyle/>
          <a:p>
            <a:pPr indent="0" marL="0">
              <a:lnSpc>
                <a:spcPct val="115000"/>
              </a:lnSpc>
              <a:buNone/>
            </a:pPr>
            <a:r>
              <a:rPr lang="en-US" sz="1250" dirty="0">
                <a:solidFill>
                  <a:srgbClr val="98A3B3"/>
                </a:solidFill>
                <a:latin typeface="Calibri" pitchFamily="34" charset="0"/>
                <a:ea typeface="Calibri" pitchFamily="34" charset="-122"/>
                <a:cs typeface="Calibri" pitchFamily="34" charset="-120"/>
              </a:rPr>
              <a:t>Den meisten fehlt die Formulierung, nicht der Anstand. Das ist ein Gestaltungsproblem, kein Charakterproblem.</a:t>
            </a:r>
            <a:endParaRPr lang="en-US" sz="1250" dirty="0"/>
          </a:p>
        </p:txBody>
      </p:sp>
      <p:sp>
        <p:nvSpPr>
          <p:cNvPr id="20" name="Text 17"/>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B (Auswertung der Wettbewerbsanalyse) und Handbuch A (Prinzipien). Die eigenen 60 bis 80 Interviews beginnen im Oktober 2026 — bis dahin ist das Analyse, nicht Feldforschung.</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LÖSUNG</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Menschen und Orte statt nur Entfernung</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3</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Text 5"/>
          <p:cNvSpPr txBox="1"/>
          <p:nvPr/>
        </p:nvSpPr>
        <p:spPr>
          <a:xfrm>
            <a:off x="640080" y="1554480"/>
            <a:ext cx="10908792" cy="54864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Cruizy verbindet Menschen und Orte — statt nur Entfernungen zu sortieren.</a:t>
            </a:r>
            <a:endParaRPr lang="en-US" sz="2400" dirty="0"/>
          </a:p>
        </p:txBody>
      </p:sp>
      <p:sp>
        <p:nvSpPr>
          <p:cNvPr id="9" name="Shape 6"/>
          <p:cNvSpPr/>
          <p:nvPr/>
        </p:nvSpPr>
        <p:spPr>
          <a:xfrm>
            <a:off x="640080" y="2286000"/>
            <a:ext cx="2521458"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7"/>
          <p:cNvSpPr txBox="1"/>
          <p:nvPr/>
        </p:nvSpPr>
        <p:spPr>
          <a:xfrm>
            <a:off x="896112" y="2487168"/>
            <a:ext cx="2009394" cy="292608"/>
          </a:xfrm>
          <a:prstGeom prst="rect">
            <a:avLst/>
          </a:prstGeom>
          <a:noFill/>
          <a:ln/>
        </p:spPr>
        <p:txBody>
          <a:bodyPr wrap="square" lIns="0" tIns="0" rIns="0" bIns="0" rtlCol="0" anchor="ctr"/>
          <a:lstStyle/>
          <a:p>
            <a:pPr indent="0" marL="0">
              <a:buNone/>
            </a:pPr>
            <a:r>
              <a:rPr lang="en-US" sz="1700" b="1" dirty="0">
                <a:solidFill>
                  <a:srgbClr val="F2F5F9"/>
                </a:solidFill>
                <a:latin typeface="Calibri" pitchFamily="34" charset="0"/>
                <a:ea typeface="Calibri" pitchFamily="34" charset="-122"/>
                <a:cs typeface="Calibri" pitchFamily="34" charset="-120"/>
              </a:rPr>
              <a:t>Nähe</a:t>
            </a:r>
            <a:endParaRPr lang="en-US" sz="1700" dirty="0"/>
          </a:p>
        </p:txBody>
      </p:sp>
      <p:sp>
        <p:nvSpPr>
          <p:cNvPr id="11" name="Text 8"/>
          <p:cNvSpPr txBox="1"/>
          <p:nvPr/>
        </p:nvSpPr>
        <p:spPr>
          <a:xfrm>
            <a:off x="896112" y="2834640"/>
            <a:ext cx="2009394"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Wer ist da — in vier Entfernungsbändern, nie auf Metern. Sortierung benannt und umschaltbar.</a:t>
            </a:r>
            <a:endParaRPr lang="en-US" sz="1200" dirty="0"/>
          </a:p>
        </p:txBody>
      </p:sp>
      <p:sp>
        <p:nvSpPr>
          <p:cNvPr id="12" name="Shape 9"/>
          <p:cNvSpPr/>
          <p:nvPr/>
        </p:nvSpPr>
        <p:spPr>
          <a:xfrm>
            <a:off x="3435858" y="2286000"/>
            <a:ext cx="2521458"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10"/>
          <p:cNvSpPr txBox="1"/>
          <p:nvPr/>
        </p:nvSpPr>
        <p:spPr>
          <a:xfrm>
            <a:off x="3691890" y="2487168"/>
            <a:ext cx="2009394" cy="292608"/>
          </a:xfrm>
          <a:prstGeom prst="rect">
            <a:avLst/>
          </a:prstGeom>
          <a:noFill/>
          <a:ln/>
        </p:spPr>
        <p:txBody>
          <a:bodyPr wrap="square" lIns="0" tIns="0" rIns="0" bIns="0" rtlCol="0" anchor="ctr"/>
          <a:lstStyle/>
          <a:p>
            <a:pPr indent="0" marL="0">
              <a:buNone/>
            </a:pPr>
            <a:r>
              <a:rPr lang="en-US" sz="1700" b="1" dirty="0">
                <a:solidFill>
                  <a:srgbClr val="F2F5F9"/>
                </a:solidFill>
                <a:latin typeface="Calibri" pitchFamily="34" charset="0"/>
                <a:ea typeface="Calibri" pitchFamily="34" charset="-122"/>
                <a:cs typeface="Calibri" pitchFamily="34" charset="-120"/>
              </a:rPr>
              <a:t>Heute</a:t>
            </a:r>
            <a:endParaRPr lang="en-US" sz="1700" dirty="0"/>
          </a:p>
        </p:txBody>
      </p:sp>
      <p:sp>
        <p:nvSpPr>
          <p:cNvPr id="14" name="Text 11"/>
          <p:cNvSpPr txBox="1"/>
          <p:nvPr/>
        </p:nvSpPr>
        <p:spPr>
          <a:xfrm>
            <a:off x="3691890" y="2834640"/>
            <a:ext cx="2009394"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Was läuft gerade: rund 40 Orte je Stadt, Termine, Gruppen, die sich 2 Std. vorher öffnen.</a:t>
            </a:r>
            <a:endParaRPr lang="en-US" sz="1200" dirty="0"/>
          </a:p>
        </p:txBody>
      </p:sp>
      <p:sp>
        <p:nvSpPr>
          <p:cNvPr id="15" name="Shape 12"/>
          <p:cNvSpPr/>
          <p:nvPr/>
        </p:nvSpPr>
        <p:spPr>
          <a:xfrm>
            <a:off x="6231636" y="2286000"/>
            <a:ext cx="2521458"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6" name="Text 13"/>
          <p:cNvSpPr txBox="1"/>
          <p:nvPr/>
        </p:nvSpPr>
        <p:spPr>
          <a:xfrm>
            <a:off x="6487668" y="2487168"/>
            <a:ext cx="2009394" cy="292608"/>
          </a:xfrm>
          <a:prstGeom prst="rect">
            <a:avLst/>
          </a:prstGeom>
          <a:noFill/>
          <a:ln/>
        </p:spPr>
        <p:txBody>
          <a:bodyPr wrap="square" lIns="0" tIns="0" rIns="0" bIns="0" rtlCol="0" anchor="ctr"/>
          <a:lstStyle/>
          <a:p>
            <a:pPr indent="0" marL="0">
              <a:buNone/>
            </a:pPr>
            <a:r>
              <a:rPr lang="en-US" sz="1700" b="1" dirty="0">
                <a:solidFill>
                  <a:srgbClr val="F2F5F9"/>
                </a:solidFill>
                <a:latin typeface="Calibri" pitchFamily="34" charset="0"/>
                <a:ea typeface="Calibri" pitchFamily="34" charset="-122"/>
                <a:cs typeface="Calibri" pitchFamily="34" charset="-120"/>
              </a:rPr>
              <a:t>Chats</a:t>
            </a:r>
            <a:endParaRPr lang="en-US" sz="1700" dirty="0"/>
          </a:p>
        </p:txBody>
      </p:sp>
      <p:sp>
        <p:nvSpPr>
          <p:cNvPr id="17" name="Text 14"/>
          <p:cNvSpPr txBox="1"/>
          <p:nvPr/>
        </p:nvSpPr>
        <p:spPr>
          <a:xfrm>
            <a:off x="6487668" y="2834640"/>
            <a:ext cx="2009394"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Erstkontakt nur Text. Höflicher Ausstieg mit einem Tipp. Kein Lesestatus, keine Limits.</a:t>
            </a:r>
            <a:endParaRPr lang="en-US" sz="1200" dirty="0"/>
          </a:p>
        </p:txBody>
      </p:sp>
      <p:sp>
        <p:nvSpPr>
          <p:cNvPr id="18" name="Shape 15"/>
          <p:cNvSpPr/>
          <p:nvPr/>
        </p:nvSpPr>
        <p:spPr>
          <a:xfrm>
            <a:off x="9027414" y="2286000"/>
            <a:ext cx="2521458"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9" name="Text 16"/>
          <p:cNvSpPr txBox="1"/>
          <p:nvPr/>
        </p:nvSpPr>
        <p:spPr>
          <a:xfrm>
            <a:off x="9283446" y="2487168"/>
            <a:ext cx="2009394" cy="292608"/>
          </a:xfrm>
          <a:prstGeom prst="rect">
            <a:avLst/>
          </a:prstGeom>
          <a:noFill/>
          <a:ln/>
        </p:spPr>
        <p:txBody>
          <a:bodyPr wrap="square" lIns="0" tIns="0" rIns="0" bIns="0" rtlCol="0" anchor="ctr"/>
          <a:lstStyle/>
          <a:p>
            <a:pPr indent="0" marL="0">
              <a:buNone/>
            </a:pPr>
            <a:r>
              <a:rPr lang="en-US" sz="1700" b="1" dirty="0">
                <a:solidFill>
                  <a:srgbClr val="F2F5F9"/>
                </a:solidFill>
                <a:latin typeface="Calibri" pitchFamily="34" charset="0"/>
                <a:ea typeface="Calibri" pitchFamily="34" charset="-122"/>
                <a:cs typeface="Calibri" pitchFamily="34" charset="-120"/>
              </a:rPr>
              <a:t>Ich</a:t>
            </a:r>
            <a:endParaRPr lang="en-US" sz="1700" dirty="0"/>
          </a:p>
        </p:txBody>
      </p:sp>
      <p:sp>
        <p:nvSpPr>
          <p:cNvPr id="20" name="Text 17"/>
          <p:cNvSpPr txBox="1"/>
          <p:nvPr/>
        </p:nvSpPr>
        <p:spPr>
          <a:xfrm>
            <a:off x="9283446" y="2834640"/>
            <a:ext cx="2009394"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Sicherheitszentrum, Datenkonto, Standortstufe, Ersatzpunkt statt Wohnort — alles kostenlos, immer.</a:t>
            </a:r>
            <a:endParaRPr lang="en-US" sz="1200" dirty="0"/>
          </a:p>
        </p:txBody>
      </p:sp>
      <p:sp>
        <p:nvSpPr>
          <p:cNvPr id="21" name="Shape 18"/>
          <p:cNvSpPr/>
          <p:nvPr/>
        </p:nvSpPr>
        <p:spPr>
          <a:xfrm>
            <a:off x="640080" y="4297680"/>
            <a:ext cx="10908792" cy="914400"/>
          </a:xfrm>
          <a:prstGeom prst="roundRect">
            <a:avLst>
              <a:gd name="adj" fmla="val 6000"/>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2" name="Text 19"/>
          <p:cNvSpPr txBox="1"/>
          <p:nvPr/>
        </p:nvSpPr>
        <p:spPr>
          <a:xfrm>
            <a:off x="914400" y="4434840"/>
            <a:ext cx="5943600" cy="365760"/>
          </a:xfrm>
          <a:prstGeom prst="rect">
            <a:avLst/>
          </a:prstGeom>
          <a:noFill/>
          <a:ln/>
        </p:spPr>
        <p:txBody>
          <a:bodyPr wrap="square" lIns="0" tIns="0" rIns="0" bIns="0" rtlCol="0" anchor="ctr"/>
          <a:lstStyle/>
          <a:p>
            <a:pPr indent="0" marL="0">
              <a:buNone/>
            </a:pPr>
            <a:r>
              <a:rPr lang="en-US" sz="1900" b="1" dirty="0">
                <a:solidFill>
                  <a:srgbClr val="F2F5F9"/>
                </a:solidFill>
                <a:latin typeface="Cambria" pitchFamily="34" charset="0"/>
                <a:ea typeface="Cambria" pitchFamily="34" charset="-122"/>
                <a:cs typeface="Cambria" pitchFamily="34" charset="-120"/>
              </a:rPr>
              <a:t>„Was dich schützt, kostet nie etwas.“</a:t>
            </a:r>
            <a:endParaRPr lang="en-US" sz="1900" dirty="0"/>
          </a:p>
        </p:txBody>
      </p:sp>
      <p:sp>
        <p:nvSpPr>
          <p:cNvPr id="23" name="Text 20"/>
          <p:cNvSpPr txBox="1"/>
          <p:nvPr/>
        </p:nvSpPr>
        <p:spPr>
          <a:xfrm>
            <a:off x="914400" y="4800600"/>
            <a:ext cx="10360152" cy="32004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Sicherheit ist Kernfunktion, kein Bezahlmerkmal — das schließt die üblichen Erlösmodelle aus und ist genau deshalb glaubwürdig.</a:t>
            </a:r>
            <a:endParaRPr lang="en-US" sz="1200" dirty="0"/>
          </a:p>
        </p:txBody>
      </p:sp>
      <p:sp>
        <p:nvSpPr>
          <p:cNvPr id="24" name="Text 21"/>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A, Funktionskatalog und Prinzip 6 · Produktspezifikation A-29 · Beschluss Nr. 48 (Ersatzpunkt kostenlos bis 30 km)</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WARUM JETZT</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Drei Fenster, die zum Start offen stehen</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4</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45920"/>
            <a:ext cx="3422904" cy="2331720"/>
          </a:xfrm>
          <a:prstGeom prst="roundRect">
            <a:avLst>
              <a:gd name="adj" fmla="val 235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828800"/>
            <a:ext cx="457200" cy="457200"/>
          </a:xfrm>
          <a:prstGeom prst="rect">
            <a:avLst/>
          </a:prstGeom>
          <a:noFill/>
          <a:ln/>
        </p:spPr>
        <p:txBody>
          <a:bodyPr wrap="square" lIns="0" tIns="0" rIns="0" bIns="0" rtlCol="0" anchor="ctr"/>
          <a:lstStyle/>
          <a:p>
            <a:pPr indent="0" marL="0">
              <a:buNone/>
            </a:pPr>
            <a:r>
              <a:rPr lang="en-US" sz="2600" b="1" dirty="0">
                <a:solidFill>
                  <a:srgbClr val="4D7CFE"/>
                </a:solidFill>
                <a:latin typeface="Cambria" pitchFamily="34" charset="0"/>
                <a:ea typeface="Cambria" pitchFamily="34" charset="-122"/>
                <a:cs typeface="Cambria" pitchFamily="34" charset="-120"/>
              </a:rPr>
              <a:t>1</a:t>
            </a:r>
            <a:endParaRPr lang="en-US" sz="2600" dirty="0"/>
          </a:p>
        </p:txBody>
      </p:sp>
      <p:sp>
        <p:nvSpPr>
          <p:cNvPr id="10" name="Text 7"/>
          <p:cNvSpPr txBox="1"/>
          <p:nvPr/>
        </p:nvSpPr>
        <p:spPr>
          <a:xfrm>
            <a:off x="896112" y="2350008"/>
            <a:ext cx="2910840"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Regulierung zwingt ohnehin</a:t>
            </a:r>
            <a:endParaRPr lang="en-US" sz="1500" dirty="0"/>
          </a:p>
        </p:txBody>
      </p:sp>
      <p:sp>
        <p:nvSpPr>
          <p:cNvPr id="11" name="Text 8"/>
          <p:cNvSpPr txBox="1"/>
          <p:nvPr/>
        </p:nvSpPr>
        <p:spPr>
          <a:xfrm>
            <a:off x="896112" y="2697480"/>
            <a:ext cx="2910840" cy="109728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DSA und JMStV verlangen Prüfprozesse, Meldewege und Kontaktstellen. Nachrüsten kostet ein Vielfaches — wir bauen es ab der ersten Zeile ein.</a:t>
            </a:r>
            <a:endParaRPr lang="en-US" sz="1200" dirty="0"/>
          </a:p>
        </p:txBody>
      </p:sp>
      <p:sp>
        <p:nvSpPr>
          <p:cNvPr id="12" name="Shape 9"/>
          <p:cNvSpPr/>
          <p:nvPr/>
        </p:nvSpPr>
        <p:spPr>
          <a:xfrm>
            <a:off x="4383024" y="1645920"/>
            <a:ext cx="3422904" cy="2331720"/>
          </a:xfrm>
          <a:prstGeom prst="roundRect">
            <a:avLst>
              <a:gd name="adj" fmla="val 235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10"/>
          <p:cNvSpPr txBox="1"/>
          <p:nvPr/>
        </p:nvSpPr>
        <p:spPr>
          <a:xfrm>
            <a:off x="4639056" y="1828800"/>
            <a:ext cx="457200" cy="457200"/>
          </a:xfrm>
          <a:prstGeom prst="rect">
            <a:avLst/>
          </a:prstGeom>
          <a:noFill/>
          <a:ln/>
        </p:spPr>
        <p:txBody>
          <a:bodyPr wrap="square" lIns="0" tIns="0" rIns="0" bIns="0" rtlCol="0" anchor="ctr"/>
          <a:lstStyle/>
          <a:p>
            <a:pPr indent="0" marL="0">
              <a:buNone/>
            </a:pPr>
            <a:r>
              <a:rPr lang="en-US" sz="2600" b="1" dirty="0">
                <a:solidFill>
                  <a:srgbClr val="4D7CFE"/>
                </a:solidFill>
                <a:latin typeface="Cambria" pitchFamily="34" charset="0"/>
                <a:ea typeface="Cambria" pitchFamily="34" charset="-122"/>
                <a:cs typeface="Cambria" pitchFamily="34" charset="-120"/>
              </a:rPr>
              <a:t>2</a:t>
            </a:r>
            <a:endParaRPr lang="en-US" sz="2600" dirty="0"/>
          </a:p>
        </p:txBody>
      </p:sp>
      <p:sp>
        <p:nvSpPr>
          <p:cNvPr id="14" name="Text 11"/>
          <p:cNvSpPr txBox="1"/>
          <p:nvPr/>
        </p:nvSpPr>
        <p:spPr>
          <a:xfrm>
            <a:off x="4639056" y="2350008"/>
            <a:ext cx="2910840"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Altersnachweis wird billig</a:t>
            </a:r>
            <a:endParaRPr lang="en-US" sz="1500" dirty="0"/>
          </a:p>
        </p:txBody>
      </p:sp>
      <p:sp>
        <p:nvSpPr>
          <p:cNvPr id="15" name="Text 12"/>
          <p:cNvSpPr txBox="1"/>
          <p:nvPr/>
        </p:nvSpPr>
        <p:spPr>
          <a:xfrm>
            <a:off x="4639056" y="2697480"/>
            <a:ext cx="2910840" cy="109728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Ab 02.01.2027 gibt es die staatliche Brieftasche „d-you“ mit Altersnachweis, kostenlos. Der Dienst erfährt nur „Altersgrenze erfüllt“. Zum Start ist sie mindestens anderthalb Jahre im Feld.</a:t>
            </a:r>
            <a:endParaRPr lang="en-US" sz="1200" dirty="0"/>
          </a:p>
        </p:txBody>
      </p:sp>
      <p:sp>
        <p:nvSpPr>
          <p:cNvPr id="16" name="Shape 13"/>
          <p:cNvSpPr/>
          <p:nvPr/>
        </p:nvSpPr>
        <p:spPr>
          <a:xfrm>
            <a:off x="8125968" y="1645920"/>
            <a:ext cx="3422904" cy="2331720"/>
          </a:xfrm>
          <a:prstGeom prst="roundRect">
            <a:avLst>
              <a:gd name="adj" fmla="val 235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7" name="Text 14"/>
          <p:cNvSpPr txBox="1"/>
          <p:nvPr/>
        </p:nvSpPr>
        <p:spPr>
          <a:xfrm>
            <a:off x="8382000" y="1828800"/>
            <a:ext cx="457200" cy="457200"/>
          </a:xfrm>
          <a:prstGeom prst="rect">
            <a:avLst/>
          </a:prstGeom>
          <a:noFill/>
          <a:ln/>
        </p:spPr>
        <p:txBody>
          <a:bodyPr wrap="square" lIns="0" tIns="0" rIns="0" bIns="0" rtlCol="0" anchor="ctr"/>
          <a:lstStyle/>
          <a:p>
            <a:pPr indent="0" marL="0">
              <a:buNone/>
            </a:pPr>
            <a:r>
              <a:rPr lang="en-US" sz="2600" b="1" dirty="0">
                <a:solidFill>
                  <a:srgbClr val="4D7CFE"/>
                </a:solidFill>
                <a:latin typeface="Cambria" pitchFamily="34" charset="0"/>
                <a:ea typeface="Cambria" pitchFamily="34" charset="-122"/>
                <a:cs typeface="Cambria" pitchFamily="34" charset="-120"/>
              </a:rPr>
              <a:t>3</a:t>
            </a:r>
            <a:endParaRPr lang="en-US" sz="2600" dirty="0"/>
          </a:p>
        </p:txBody>
      </p:sp>
      <p:sp>
        <p:nvSpPr>
          <p:cNvPr id="18" name="Text 15"/>
          <p:cNvSpPr txBox="1"/>
          <p:nvPr/>
        </p:nvSpPr>
        <p:spPr>
          <a:xfrm>
            <a:off x="8382000" y="2350008"/>
            <a:ext cx="2910840" cy="292608"/>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Der Markt konsolidiert</a:t>
            </a:r>
            <a:endParaRPr lang="en-US" sz="1500" dirty="0"/>
          </a:p>
        </p:txBody>
      </p:sp>
      <p:sp>
        <p:nvSpPr>
          <p:cNvPr id="19" name="Text 16"/>
          <p:cNvSpPr txBox="1"/>
          <p:nvPr/>
        </p:nvSpPr>
        <p:spPr>
          <a:xfrm>
            <a:off x="8382000" y="2697480"/>
            <a:ext cx="2910840" cy="109728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Match Group investierte im April 2026 100 Mio. $ in Sniffies. Was aufgekauft wird, wird nicht datensparsamer.</a:t>
            </a:r>
            <a:endParaRPr lang="en-US" sz="1200" dirty="0"/>
          </a:p>
        </p:txBody>
      </p:sp>
      <p:sp>
        <p:nvSpPr>
          <p:cNvPr id="20" name="Shape 17"/>
          <p:cNvSpPr/>
          <p:nvPr/>
        </p:nvSpPr>
        <p:spPr>
          <a:xfrm>
            <a:off x="640080" y="4160520"/>
            <a:ext cx="10908792" cy="1325880"/>
          </a:xfrm>
          <a:prstGeom prst="roundRect">
            <a:avLst>
              <a:gd name="adj" fmla="val 4138"/>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1" name="Text 18"/>
          <p:cNvSpPr txBox="1"/>
          <p:nvPr/>
        </p:nvSpPr>
        <p:spPr>
          <a:xfrm>
            <a:off x="914400" y="4297680"/>
            <a:ext cx="7315200"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Das Gegenstück, das wir nicht verschweigen</a:t>
            </a:r>
            <a:endParaRPr lang="en-US" sz="1400" dirty="0"/>
          </a:p>
        </p:txBody>
      </p:sp>
      <p:sp>
        <p:nvSpPr>
          <p:cNvPr id="22" name="Text 19"/>
          <p:cNvSpPr txBox="1"/>
          <p:nvPr/>
        </p:nvSpPr>
        <p:spPr>
          <a:xfrm>
            <a:off x="914400" y="4617720"/>
            <a:ext cx="10360152" cy="731520"/>
          </a:xfrm>
          <a:prstGeom prst="rect">
            <a:avLst/>
          </a:prstGeom>
          <a:noFill/>
          <a:ln/>
        </p:spPr>
        <p:txBody>
          <a:bodyPr wrap="square" lIns="0" tIns="0" rIns="0" bIns="0" rtlCol="0" anchor="ctr"/>
          <a:lstStyle/>
          <a:p>
            <a:pPr indent="0" marL="0">
              <a:lnSpc>
                <a:spcPct val="115000"/>
              </a:lnSpc>
              <a:buNone/>
            </a:pPr>
            <a:r>
              <a:rPr lang="en-US" sz="1150" dirty="0">
                <a:solidFill>
                  <a:srgbClr val="98A3B3"/>
                </a:solidFill>
                <a:latin typeface="Calibri" pitchFamily="34" charset="0"/>
                <a:ea typeface="Calibri" pitchFamily="34" charset="-122"/>
                <a:cs typeface="Calibri" pitchFamily="34" charset="-120"/>
              </a:rPr>
              <a:t>Die Übergangsregelung für den freiwilligen Abgleich gegen bekannte Missbrauchsdarstellungen in privater Kommunikation läuft am 03.04.2028 aus — vor unserem Start, auch im Bestfall. Gilt bis dahin keine Dauerregelung, startet der private Bereich mit ausgeschaltetem Abgleich. Beide Zustände sind im Produkt vorgesehen und umschaltbar gebaut.</a:t>
            </a:r>
            <a:endParaRPr lang="en-US" sz="1150" dirty="0"/>
          </a:p>
        </p:txBody>
      </p:sp>
      <p:sp>
        <p:nvSpPr>
          <p:cNvPr id="23" name="Text 20"/>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A, Rechtsauflagen · Wettbewerbsbeobachtung R-01 vom 15.09.2026 · Altersverifikation A-53 · eIDAS 2.0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PRODUKT</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Drei Bildschirme, drei Entscheidungen</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5</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00200"/>
            <a:ext cx="3392424" cy="3246120"/>
          </a:xfrm>
          <a:prstGeom prst="roundRect">
            <a:avLst>
              <a:gd name="adj" fmla="val 169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783080"/>
            <a:ext cx="2880360" cy="365760"/>
          </a:xfrm>
          <a:prstGeom prst="rect">
            <a:avLst/>
          </a:prstGeom>
          <a:noFill/>
          <a:ln/>
        </p:spPr>
        <p:txBody>
          <a:bodyPr wrap="square" lIns="0" tIns="0" rIns="0" bIns="0" rtlCol="0" anchor="ctr"/>
          <a:lstStyle/>
          <a:p>
            <a:pPr indent="0" marL="0">
              <a:buNone/>
            </a:pPr>
            <a:r>
              <a:rPr lang="en-US" sz="2000" b="1" dirty="0">
                <a:solidFill>
                  <a:srgbClr val="9DBAFF"/>
                </a:solidFill>
                <a:latin typeface="Cambria" pitchFamily="34" charset="0"/>
                <a:ea typeface="Cambria" pitchFamily="34" charset="-122"/>
                <a:cs typeface="Cambria" pitchFamily="34" charset="-120"/>
              </a:rPr>
              <a:t>Nähe</a:t>
            </a:r>
            <a:endParaRPr lang="en-US" sz="2000" dirty="0"/>
          </a:p>
        </p:txBody>
      </p:sp>
      <p:sp>
        <p:nvSpPr>
          <p:cNvPr id="10" name="Text 7"/>
          <p:cNvSpPr txBox="1"/>
          <p:nvPr/>
        </p:nvSpPr>
        <p:spPr>
          <a:xfrm>
            <a:off x="896112" y="2240280"/>
            <a:ext cx="2880360" cy="14630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Raster mit drei Spalten</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Entfernung nur in vier Bändern</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Vier benannte Sortierungen</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Nie ein leeres Raster</a:t>
            </a:r>
            <a:endParaRPr lang="en-US" sz="1250" dirty="0"/>
          </a:p>
        </p:txBody>
      </p:sp>
      <p:sp>
        <p:nvSpPr>
          <p:cNvPr id="11" name="Text 8"/>
          <p:cNvSpPr txBox="1"/>
          <p:nvPr/>
        </p:nvSpPr>
        <p:spPr>
          <a:xfrm>
            <a:off x="896112" y="3931920"/>
            <a:ext cx="2880360" cy="777240"/>
          </a:xfrm>
          <a:prstGeom prst="rect">
            <a:avLst/>
          </a:prstGeom>
          <a:noFill/>
          <a:ln/>
        </p:spPr>
        <p:txBody>
          <a:bodyPr wrap="square" lIns="0" tIns="0" rIns="0" bIns="0" rtlCol="0" anchor="ctr"/>
          <a:lstStyle/>
          <a:p>
            <a:pPr indent="0" marL="0">
              <a:lnSpc>
                <a:spcPct val="115000"/>
              </a:lnSpc>
              <a:buNone/>
            </a:pPr>
            <a:r>
              <a:rPr lang="en-US" sz="1100" i="1" dirty="0">
                <a:solidFill>
                  <a:srgbClr val="98A3B3"/>
                </a:solidFill>
                <a:latin typeface="Calibri" pitchFamily="34" charset="0"/>
                <a:ea typeface="Calibri" pitchFamily="34" charset="-122"/>
                <a:cs typeface="Calibri" pitchFamily="34" charset="-120"/>
              </a:rPr>
              <a:t>Was der Server nie ausliefert: eine genauere Entfernung als das Band.</a:t>
            </a:r>
            <a:endParaRPr lang="en-US" sz="1100" dirty="0"/>
          </a:p>
        </p:txBody>
      </p:sp>
      <p:sp>
        <p:nvSpPr>
          <p:cNvPr id="12" name="Shape 9"/>
          <p:cNvSpPr/>
          <p:nvPr/>
        </p:nvSpPr>
        <p:spPr>
          <a:xfrm>
            <a:off x="4398264" y="1600200"/>
            <a:ext cx="3392424" cy="3246120"/>
          </a:xfrm>
          <a:prstGeom prst="roundRect">
            <a:avLst>
              <a:gd name="adj" fmla="val 169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10"/>
          <p:cNvSpPr txBox="1"/>
          <p:nvPr/>
        </p:nvSpPr>
        <p:spPr>
          <a:xfrm>
            <a:off x="4654296" y="1783080"/>
            <a:ext cx="2880360" cy="365760"/>
          </a:xfrm>
          <a:prstGeom prst="rect">
            <a:avLst/>
          </a:prstGeom>
          <a:noFill/>
          <a:ln/>
        </p:spPr>
        <p:txBody>
          <a:bodyPr wrap="square" lIns="0" tIns="0" rIns="0" bIns="0" rtlCol="0" anchor="ctr"/>
          <a:lstStyle/>
          <a:p>
            <a:pPr indent="0" marL="0">
              <a:buNone/>
            </a:pPr>
            <a:r>
              <a:rPr lang="en-US" sz="2000" b="1" dirty="0">
                <a:solidFill>
                  <a:srgbClr val="9DBAFF"/>
                </a:solidFill>
                <a:latin typeface="Cambria" pitchFamily="34" charset="0"/>
                <a:ea typeface="Cambria" pitchFamily="34" charset="-122"/>
                <a:cs typeface="Cambria" pitchFamily="34" charset="-120"/>
              </a:rPr>
              <a:t>Heute</a:t>
            </a:r>
            <a:endParaRPr lang="en-US" sz="2000" dirty="0"/>
          </a:p>
        </p:txBody>
      </p:sp>
      <p:sp>
        <p:nvSpPr>
          <p:cNvPr id="14" name="Text 11"/>
          <p:cNvSpPr txBox="1"/>
          <p:nvPr/>
        </p:nvSpPr>
        <p:spPr>
          <a:xfrm>
            <a:off x="4654296" y="2240280"/>
            <a:ext cx="2880360" cy="14630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Karte nur mit Gruppen, nie Einzelpins</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Rund 40 Orte je Stadt</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Termine redaktionell geprüft</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Gruppen öffnen 2 Std. vorher</a:t>
            </a:r>
            <a:endParaRPr lang="en-US" sz="1250" dirty="0"/>
          </a:p>
        </p:txBody>
      </p:sp>
      <p:sp>
        <p:nvSpPr>
          <p:cNvPr id="15" name="Text 12"/>
          <p:cNvSpPr txBox="1"/>
          <p:nvPr/>
        </p:nvSpPr>
        <p:spPr>
          <a:xfrm>
            <a:off x="4654296" y="3931920"/>
            <a:ext cx="2880360" cy="777240"/>
          </a:xfrm>
          <a:prstGeom prst="rect">
            <a:avLst/>
          </a:prstGeom>
          <a:noFill/>
          <a:ln/>
        </p:spPr>
        <p:txBody>
          <a:bodyPr wrap="square" lIns="0" tIns="0" rIns="0" bIns="0" rtlCol="0" anchor="ctr"/>
          <a:lstStyle/>
          <a:p>
            <a:pPr indent="0" marL="0">
              <a:lnSpc>
                <a:spcPct val="115000"/>
              </a:lnSpc>
              <a:buNone/>
            </a:pPr>
            <a:r>
              <a:rPr lang="en-US" sz="1100" i="1" dirty="0">
                <a:solidFill>
                  <a:srgbClr val="98A3B3"/>
                </a:solidFill>
                <a:latin typeface="Calibri" pitchFamily="34" charset="0"/>
                <a:ea typeface="Calibri" pitchFamily="34" charset="-122"/>
                <a:cs typeface="Calibri" pitchFamily="34" charset="-120"/>
              </a:rPr>
              <a:t>Der Teil, den ein Konzern nicht einkaufen kann: die Beziehungen dahinter.</a:t>
            </a:r>
            <a:endParaRPr lang="en-US" sz="1100" dirty="0"/>
          </a:p>
        </p:txBody>
      </p:sp>
      <p:sp>
        <p:nvSpPr>
          <p:cNvPr id="16" name="Shape 13"/>
          <p:cNvSpPr/>
          <p:nvPr/>
        </p:nvSpPr>
        <p:spPr>
          <a:xfrm>
            <a:off x="8156448" y="1600200"/>
            <a:ext cx="3392424" cy="3246120"/>
          </a:xfrm>
          <a:prstGeom prst="roundRect">
            <a:avLst>
              <a:gd name="adj" fmla="val 169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7" name="Text 14"/>
          <p:cNvSpPr txBox="1"/>
          <p:nvPr/>
        </p:nvSpPr>
        <p:spPr>
          <a:xfrm>
            <a:off x="8412480" y="1783080"/>
            <a:ext cx="2880360" cy="365760"/>
          </a:xfrm>
          <a:prstGeom prst="rect">
            <a:avLst/>
          </a:prstGeom>
          <a:noFill/>
          <a:ln/>
        </p:spPr>
        <p:txBody>
          <a:bodyPr wrap="square" lIns="0" tIns="0" rIns="0" bIns="0" rtlCol="0" anchor="ctr"/>
          <a:lstStyle/>
          <a:p>
            <a:pPr indent="0" marL="0">
              <a:buNone/>
            </a:pPr>
            <a:r>
              <a:rPr lang="en-US" sz="2000" b="1" dirty="0">
                <a:solidFill>
                  <a:srgbClr val="9DBAFF"/>
                </a:solidFill>
                <a:latin typeface="Cambria" pitchFamily="34" charset="0"/>
                <a:ea typeface="Cambria" pitchFamily="34" charset="-122"/>
                <a:cs typeface="Cambria" pitchFamily="34" charset="-120"/>
              </a:rPr>
              <a:t>Sicherheit</a:t>
            </a:r>
            <a:endParaRPr lang="en-US" sz="2000" dirty="0"/>
          </a:p>
        </p:txBody>
      </p:sp>
      <p:sp>
        <p:nvSpPr>
          <p:cNvPr id="18" name="Text 15"/>
          <p:cNvSpPr txBox="1"/>
          <p:nvPr/>
        </p:nvSpPr>
        <p:spPr>
          <a:xfrm>
            <a:off x="8412480" y="2240280"/>
            <a:ext cx="2880360" cy="14630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Check-in vor dem Treffen</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Schnell verstecken</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Melden mit Fallnummer</a:t>
            </a:r>
            <a:endParaRPr lang="en-US" sz="1250" dirty="0"/>
          </a:p>
          <a:p>
            <a:pPr marL="342900" indent="-342900">
              <a:spcAft>
                <a:spcPts val="600"/>
              </a:spcAft>
              <a:buSzPct val="100000"/>
              <a:buChar char="•"/>
            </a:pPr>
            <a:r>
              <a:rPr lang="en-US" sz="1250" dirty="0">
                <a:solidFill>
                  <a:srgbClr val="F2F5F9"/>
                </a:solidFill>
                <a:latin typeface="Calibri" pitchFamily="34" charset="0"/>
                <a:ea typeface="Calibri" pitchFamily="34" charset="-122"/>
                <a:cs typeface="Calibri" pitchFamily="34" charset="-120"/>
              </a:rPr>
              <a:t>Daten exportieren und löschen</a:t>
            </a:r>
            <a:endParaRPr lang="en-US" sz="1250" dirty="0"/>
          </a:p>
        </p:txBody>
      </p:sp>
      <p:sp>
        <p:nvSpPr>
          <p:cNvPr id="19" name="Text 16"/>
          <p:cNvSpPr txBox="1"/>
          <p:nvPr/>
        </p:nvSpPr>
        <p:spPr>
          <a:xfrm>
            <a:off x="8412480" y="3931920"/>
            <a:ext cx="2880360" cy="777240"/>
          </a:xfrm>
          <a:prstGeom prst="rect">
            <a:avLst/>
          </a:prstGeom>
          <a:noFill/>
          <a:ln/>
        </p:spPr>
        <p:txBody>
          <a:bodyPr wrap="square" lIns="0" tIns="0" rIns="0" bIns="0" rtlCol="0" anchor="ctr"/>
          <a:lstStyle/>
          <a:p>
            <a:pPr indent="0" marL="0">
              <a:lnSpc>
                <a:spcPct val="115000"/>
              </a:lnSpc>
              <a:buNone/>
            </a:pPr>
            <a:r>
              <a:rPr lang="en-US" sz="1100" i="1" dirty="0">
                <a:solidFill>
                  <a:srgbClr val="98A3B3"/>
                </a:solidFill>
                <a:latin typeface="Calibri" pitchFamily="34" charset="0"/>
                <a:ea typeface="Calibri" pitchFamily="34" charset="-122"/>
                <a:cs typeface="Calibri" pitchFamily="34" charset="-120"/>
              </a:rPr>
              <a:t>Aus jedem Gespräch mit einem Tipp erreichbar — und immer kostenlos.</a:t>
            </a:r>
            <a:endParaRPr lang="en-US" sz="1100" dirty="0"/>
          </a:p>
        </p:txBody>
      </p:sp>
      <p:sp>
        <p:nvSpPr>
          <p:cNvPr id="20" name="Text 17"/>
          <p:cNvSpPr txBox="1"/>
          <p:nvPr/>
        </p:nvSpPr>
        <p:spPr>
          <a:xfrm>
            <a:off x="640080" y="5029200"/>
            <a:ext cx="10908792" cy="457200"/>
          </a:xfrm>
          <a:prstGeom prst="rect">
            <a:avLst/>
          </a:prstGeom>
          <a:noFill/>
          <a:ln/>
        </p:spPr>
        <p:txBody>
          <a:bodyPr wrap="square" lIns="0" tIns="0" rIns="0" bIns="0" rtlCol="0" anchor="ctr"/>
          <a:lstStyle/>
          <a:p>
            <a:pPr indent="0" marL="0">
              <a:buNone/>
            </a:pPr>
            <a:r>
              <a:rPr lang="en-US" sz="1150" dirty="0">
                <a:solidFill>
                  <a:srgbClr val="98A3B3"/>
                </a:solidFill>
                <a:latin typeface="Calibri" pitchFamily="34" charset="0"/>
                <a:ea typeface="Calibri" pitchFamily="34" charset="-122"/>
                <a:cs typeface="Calibri" pitchFamily="34" charset="-120"/>
              </a:rPr>
              <a:t>Zuerst kommt die Web-App, vollständig: Sie braucht keine Store-Zulassung, und der Web-Kauf bringt 13 % mehr netto je Abo. Die nativen Apps folgen als Hülle um dieselbe App, sobald die Store-Prüfung es zulässt.</a:t>
            </a:r>
            <a:endParaRPr lang="en-US" sz="1150" dirty="0"/>
          </a:p>
        </p:txBody>
      </p:sp>
      <p:sp>
        <p:nvSpPr>
          <p:cNvPr id="21" name="Text 18"/>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Produktspezifikation A-29 (75 Funktionen, 674 prüfbare Kriterien) · Wireframes A-15 · Bauplan zwei Plattformen A-51 · Erlöskette im Finanzmodell</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ALLEINSTELLUNG</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Sortiert nach dem, was kopierbar ist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6</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45920"/>
            <a:ext cx="10908792" cy="1097280"/>
          </a:xfrm>
          <a:prstGeom prst="roundRect">
            <a:avLst>
              <a:gd name="adj" fmla="val 50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Shape 6"/>
          <p:cNvSpPr/>
          <p:nvPr/>
        </p:nvSpPr>
        <p:spPr>
          <a:xfrm>
            <a:off x="868680" y="1920240"/>
            <a:ext cx="1920240" cy="548640"/>
          </a:xfrm>
          <a:prstGeom prst="roundRect">
            <a:avLst>
              <a:gd name="adj" fmla="val 13333"/>
            </a:avLst>
          </a:prstGeom>
          <a:solidFill>
            <a:srgbClr val="4D7CFE"/>
          </a:solidFill>
          <a:ln w="12700">
            <a:solidFill>
              <a:srgbClr val="4D7CFE"/>
            </a:solidFill>
            <a:prstDash val="solid"/>
          </a:ln>
        </p:spPr>
      </p:sp>
      <p:sp>
        <p:nvSpPr>
          <p:cNvPr id="10" name="Text 7"/>
          <p:cNvSpPr txBox="1"/>
          <p:nvPr/>
        </p:nvSpPr>
        <p:spPr>
          <a:xfrm>
            <a:off x="868680" y="1920240"/>
            <a:ext cx="1920240" cy="548640"/>
          </a:xfrm>
          <a:prstGeom prst="rect">
            <a:avLst/>
          </a:prstGeom>
          <a:noFill/>
          <a:ln/>
        </p:spPr>
        <p:txBody>
          <a:bodyPr wrap="square" lIns="0" tIns="0" rIns="0" bIns="0" rtlCol="0" anchor="ctr"/>
          <a:lstStyle/>
          <a:p>
            <a:pPr algn="ctr" indent="0" marL="0">
              <a:buNone/>
            </a:pPr>
            <a:r>
              <a:rPr lang="en-US" sz="1300" b="1" dirty="0">
                <a:solidFill>
                  <a:srgbClr val="F2F5F9"/>
                </a:solidFill>
                <a:latin typeface="Calibri" pitchFamily="34" charset="0"/>
                <a:ea typeface="Calibri" pitchFamily="34" charset="-122"/>
                <a:cs typeface="Calibri" pitchFamily="34" charset="-120"/>
              </a:rPr>
              <a:t>Jahre — oder gar nicht</a:t>
            </a:r>
            <a:endParaRPr lang="en-US" sz="1300" dirty="0"/>
          </a:p>
        </p:txBody>
      </p:sp>
      <p:sp>
        <p:nvSpPr>
          <p:cNvPr id="11" name="Text 8"/>
          <p:cNvSpPr txBox="1"/>
          <p:nvPr/>
        </p:nvSpPr>
        <p:spPr>
          <a:xfrm>
            <a:off x="3017520" y="1847088"/>
            <a:ext cx="8165592" cy="77724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Rund 40 Ortsbeziehungen je Stadt, persönlich aufgebaut</a:t>
            </a:r>
            <a:endParaRPr lang="en-US" sz="1200" dirty="0"/>
          </a:p>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Architektur ohne genauen Standort: der Server speichert nur die Rasterzelle</a:t>
            </a:r>
            <a:endParaRPr lang="en-US" sz="1200" dirty="0"/>
          </a:p>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Schutzversprechen: nichts, was schützt, liegt hinter der Bezahlschranke</a:t>
            </a:r>
            <a:endParaRPr lang="en-US" sz="1200" dirty="0"/>
          </a:p>
        </p:txBody>
      </p:sp>
      <p:sp>
        <p:nvSpPr>
          <p:cNvPr id="12" name="Shape 9"/>
          <p:cNvSpPr/>
          <p:nvPr/>
        </p:nvSpPr>
        <p:spPr>
          <a:xfrm>
            <a:off x="640080" y="2926080"/>
            <a:ext cx="10908792" cy="1097280"/>
          </a:xfrm>
          <a:prstGeom prst="roundRect">
            <a:avLst>
              <a:gd name="adj" fmla="val 50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Shape 10"/>
          <p:cNvSpPr/>
          <p:nvPr/>
        </p:nvSpPr>
        <p:spPr>
          <a:xfrm>
            <a:off x="868680" y="3200400"/>
            <a:ext cx="1920240" cy="548640"/>
          </a:xfrm>
          <a:prstGeom prst="roundRect">
            <a:avLst>
              <a:gd name="adj" fmla="val 13333"/>
            </a:avLst>
          </a:prstGeom>
          <a:solidFill>
            <a:srgbClr val="3E5EA8"/>
          </a:solidFill>
          <a:ln w="12700">
            <a:solidFill>
              <a:srgbClr val="3E5EA8"/>
            </a:solidFill>
            <a:prstDash val="solid"/>
          </a:ln>
        </p:spPr>
      </p:sp>
      <p:sp>
        <p:nvSpPr>
          <p:cNvPr id="14" name="Text 11"/>
          <p:cNvSpPr txBox="1"/>
          <p:nvPr/>
        </p:nvSpPr>
        <p:spPr>
          <a:xfrm>
            <a:off x="868680" y="3200400"/>
            <a:ext cx="1920240" cy="548640"/>
          </a:xfrm>
          <a:prstGeom prst="rect">
            <a:avLst/>
          </a:prstGeom>
          <a:noFill/>
          <a:ln/>
        </p:spPr>
        <p:txBody>
          <a:bodyPr wrap="square" lIns="0" tIns="0" rIns="0" bIns="0" rtlCol="0" anchor="ctr"/>
          <a:lstStyle/>
          <a:p>
            <a:pPr algn="ctr" indent="0" marL="0">
              <a:buNone/>
            </a:pPr>
            <a:r>
              <a:rPr lang="en-US" sz="1300" b="1" dirty="0">
                <a:solidFill>
                  <a:srgbClr val="F2F5F9"/>
                </a:solidFill>
                <a:latin typeface="Calibri" pitchFamily="34" charset="0"/>
                <a:ea typeface="Calibri" pitchFamily="34" charset="-122"/>
                <a:cs typeface="Calibri" pitchFamily="34" charset="-120"/>
              </a:rPr>
              <a:t>Monate</a:t>
            </a:r>
            <a:endParaRPr lang="en-US" sz="1300" dirty="0"/>
          </a:p>
        </p:txBody>
      </p:sp>
      <p:sp>
        <p:nvSpPr>
          <p:cNvPr id="15" name="Text 12"/>
          <p:cNvSpPr txBox="1"/>
          <p:nvPr/>
        </p:nvSpPr>
        <p:spPr>
          <a:xfrm>
            <a:off x="3017520" y="3127248"/>
            <a:ext cx="8165592" cy="77724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Sicherheitszentrum aus jedem Gespräch erreichbar</a:t>
            </a:r>
            <a:endParaRPr lang="en-US" sz="1200" dirty="0"/>
          </a:p>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Gestufte Altersprüfung statt Ausweiszwang für alle</a:t>
            </a:r>
            <a:endParaRPr lang="en-US" sz="1200" dirty="0"/>
          </a:p>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Datenkonto: Export und Löschung mit je einem Tipp</a:t>
            </a:r>
            <a:endParaRPr lang="en-US" sz="1200" dirty="0"/>
          </a:p>
        </p:txBody>
      </p:sp>
      <p:sp>
        <p:nvSpPr>
          <p:cNvPr id="16" name="Shape 13"/>
          <p:cNvSpPr/>
          <p:nvPr/>
        </p:nvSpPr>
        <p:spPr>
          <a:xfrm>
            <a:off x="640080" y="4206240"/>
            <a:ext cx="10908792" cy="1097280"/>
          </a:xfrm>
          <a:prstGeom prst="roundRect">
            <a:avLst>
              <a:gd name="adj" fmla="val 50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7" name="Shape 14"/>
          <p:cNvSpPr/>
          <p:nvPr/>
        </p:nvSpPr>
        <p:spPr>
          <a:xfrm>
            <a:off x="868680" y="4480560"/>
            <a:ext cx="1920240" cy="548640"/>
          </a:xfrm>
          <a:prstGeom prst="roundRect">
            <a:avLst>
              <a:gd name="adj" fmla="val 13333"/>
            </a:avLst>
          </a:prstGeom>
          <a:solidFill>
            <a:srgbClr val="2E3849"/>
          </a:solidFill>
          <a:ln w="12700">
            <a:solidFill>
              <a:srgbClr val="2E3849"/>
            </a:solidFill>
            <a:prstDash val="solid"/>
          </a:ln>
        </p:spPr>
      </p:sp>
      <p:sp>
        <p:nvSpPr>
          <p:cNvPr id="18" name="Text 15"/>
          <p:cNvSpPr txBox="1"/>
          <p:nvPr/>
        </p:nvSpPr>
        <p:spPr>
          <a:xfrm>
            <a:off x="868680" y="4480560"/>
            <a:ext cx="1920240" cy="548640"/>
          </a:xfrm>
          <a:prstGeom prst="rect">
            <a:avLst/>
          </a:prstGeom>
          <a:noFill/>
          <a:ln/>
        </p:spPr>
        <p:txBody>
          <a:bodyPr wrap="square" lIns="0" tIns="0" rIns="0" bIns="0" rtlCol="0" anchor="ctr"/>
          <a:lstStyle/>
          <a:p>
            <a:pPr algn="ctr" indent="0" marL="0">
              <a:buNone/>
            </a:pPr>
            <a:r>
              <a:rPr lang="en-US" sz="1300" b="1" dirty="0">
                <a:solidFill>
                  <a:srgbClr val="F2F5F9"/>
                </a:solidFill>
                <a:latin typeface="Calibri" pitchFamily="34" charset="0"/>
                <a:ea typeface="Calibri" pitchFamily="34" charset="-122"/>
                <a:cs typeface="Calibri" pitchFamily="34" charset="-120"/>
              </a:rPr>
              <a:t>Wochen</a:t>
            </a:r>
            <a:endParaRPr lang="en-US" sz="1300" dirty="0"/>
          </a:p>
        </p:txBody>
      </p:sp>
      <p:sp>
        <p:nvSpPr>
          <p:cNvPr id="19" name="Text 16"/>
          <p:cNvSpPr txBox="1"/>
          <p:nvPr/>
        </p:nvSpPr>
        <p:spPr>
          <a:xfrm>
            <a:off x="3017520" y="4407408"/>
            <a:ext cx="8165592" cy="777240"/>
          </a:xfrm>
          <a:prstGeom prst="rect">
            <a:avLst/>
          </a:prstGeom>
          <a:noFill/>
          <a:ln/>
        </p:spPr>
        <p:txBody>
          <a:bodyPr wrap="square" lIns="0" tIns="0" rIns="0" bIns="0" rtlCol="0" anchor="ctr"/>
          <a:lstStyle/>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Antwortquote in Bändern statt Zahlen</a:t>
            </a:r>
            <a:endParaRPr lang="en-US" sz="1200" dirty="0"/>
          </a:p>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Höflicher Ausstieg mit festem Text</a:t>
            </a:r>
            <a:endParaRPr lang="en-US" sz="1200" dirty="0"/>
          </a:p>
          <a:p>
            <a:pPr marL="342900" indent="-342900">
              <a:spcAft>
                <a:spcPts val="300"/>
              </a:spcAft>
              <a:buSzPct val="100000"/>
              <a:buChar char="•"/>
            </a:pPr>
            <a:r>
              <a:rPr lang="en-US" sz="1200" dirty="0">
                <a:solidFill>
                  <a:srgbClr val="F2F5F9"/>
                </a:solidFill>
                <a:latin typeface="Calibri" pitchFamily="34" charset="0"/>
                <a:ea typeface="Calibri" pitchFamily="34" charset="-122"/>
                <a:cs typeface="Calibri" pitchFamily="34" charset="-120"/>
              </a:rPr>
              <a:t>Absicht mit Ablauf statt statischem „Ich suche“</a:t>
            </a:r>
            <a:endParaRPr lang="en-US" sz="1200" dirty="0"/>
          </a:p>
        </p:txBody>
      </p:sp>
      <p:sp>
        <p:nvSpPr>
          <p:cNvPr id="20" name="Text 17"/>
          <p:cNvSpPr txBox="1"/>
          <p:nvPr/>
        </p:nvSpPr>
        <p:spPr>
          <a:xfrm>
            <a:off x="640080" y="5440680"/>
            <a:ext cx="10908792" cy="365760"/>
          </a:xfrm>
          <a:prstGeom prst="rect">
            <a:avLst/>
          </a:prstGeom>
          <a:noFill/>
          <a:ln/>
        </p:spPr>
        <p:txBody>
          <a:bodyPr wrap="square" lIns="0" tIns="0" rIns="0" bIns="0" rtlCol="0" anchor="ctr"/>
          <a:lstStyle/>
          <a:p>
            <a:pPr indent="0" marL="0">
              <a:buNone/>
            </a:pPr>
            <a:r>
              <a:rPr lang="en-US" sz="1700" b="1" dirty="0">
                <a:solidFill>
                  <a:srgbClr val="9DBAFF"/>
                </a:solidFill>
                <a:latin typeface="Cambria" pitchFamily="34" charset="0"/>
                <a:ea typeface="Cambria" pitchFamily="34" charset="-122"/>
                <a:cs typeface="Cambria" pitchFamily="34" charset="-120"/>
              </a:rPr>
              <a:t>Die kopierbaren Merkmale sind das Produkt. Die nicht kopierbaren sind das Geschäft.</a:t>
            </a:r>
            <a:endParaRPr lang="en-US" sz="1700" dirty="0"/>
          </a:p>
        </p:txBody>
      </p:sp>
      <p:sp>
        <p:nvSpPr>
          <p:cNvPr id="21" name="Text 18"/>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A, dreizehn Alleinstellungsmerkmale · Produktspezifikation A-29, Abschnitt 19.3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MARKT</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Ein profitabler Marktführer — und eine unbesetzte Nische</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7</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7406640" cy="914400"/>
        </p:xfrm>
        <a:graphic>
          <a:graphicData uri="http://schemas.openxmlformats.org/drawingml/2006/table">
            <a:tbl>
              <a:tblPr/>
              <a:tblGrid>
                <a:gridCol w="1371600"/>
                <a:gridCol w="1737360"/>
                <a:gridCol w="1371600"/>
                <a:gridCol w="2926080"/>
              </a:tblGrid>
              <a:tr h="0">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Anbieter</a:t>
                      </a:r>
                      <a:endParaRPr lang="en-US" sz="110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DACH-MAU (Schätzung)</a:t>
                      </a:r>
                      <a:endParaRPr lang="en-US" sz="110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Preis</a:t>
                      </a:r>
                      <a:endParaRPr lang="en-US" sz="110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Schwäche</a:t>
                      </a:r>
                      <a:endParaRPr lang="en-US" sz="110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Grindr</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300–450 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12–40 €</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Preiserhöhungen erzeugen Unmut, Datenschutz-Vorgeschichte, US-Konzern</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ROMEO</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120–200 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5–9 €</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Optisch und funktional gealtert, verliert jüngere Nutzer</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Sniffies</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60–120 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weitgehend frei</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Aus Apples App Store entfernt, schwache Moderation</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SCRUFF</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50–90 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15–20 €</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Wächst kaum in DACH, kein Kartenprodukt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Hornet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25–50 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9–13 €</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In DACH kaum sichtbar, Feed erzeugt keine Dating-Liquidität</a:t>
                      </a:r>
                      <a:endParaRPr lang="en-US" sz="1150" dirty="0">
                        <a:latin typeface="Calibri" charset="0"/>
                        <a:ea typeface="Calibri" charset="0"/>
                        <a:cs typeface="Calibri" charset="0"/>
                      </a:endParaRPr>
                    </a:p>
                  </a:txBody>
                  <a:tcPr marL="101600" marR="101600" marT="50800" marB="508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bl>
          </a:graphicData>
        </a:graphic>
      </p:graphicFrame>
      <p:sp>
        <p:nvSpPr>
          <p:cNvPr id="9" name="Shape 5"/>
          <p:cNvSpPr/>
          <p:nvPr/>
        </p:nvSpPr>
        <p:spPr>
          <a:xfrm>
            <a:off x="8321040" y="1645920"/>
            <a:ext cx="3227832" cy="1417320"/>
          </a:xfrm>
          <a:prstGeom prst="roundRect">
            <a:avLst>
              <a:gd name="adj" fmla="val 3871"/>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8549640" y="1783080"/>
            <a:ext cx="2926080" cy="685800"/>
          </a:xfrm>
          <a:prstGeom prst="rect">
            <a:avLst/>
          </a:prstGeom>
          <a:noFill/>
          <a:ln/>
        </p:spPr>
        <p:txBody>
          <a:bodyPr wrap="square" lIns="0" tIns="0" rIns="0" bIns="0" rtlCol="0" anchor="ctr"/>
          <a:lstStyle/>
          <a:p>
            <a:pPr indent="0" marL="0">
              <a:buNone/>
            </a:pPr>
            <a:r>
              <a:rPr lang="en-US" sz="2600" b="1" dirty="0">
                <a:solidFill>
                  <a:srgbClr val="9DBAFF"/>
                </a:solidFill>
                <a:latin typeface="Cambria" pitchFamily="34" charset="0"/>
                <a:ea typeface="Cambria" pitchFamily="34" charset="-122"/>
                <a:cs typeface="Cambria" pitchFamily="34" charset="-120"/>
              </a:rPr>
              <a:t>600–850 T</a:t>
            </a:r>
            <a:endParaRPr lang="en-US" sz="2600" dirty="0"/>
          </a:p>
        </p:txBody>
      </p:sp>
      <p:sp>
        <p:nvSpPr>
          <p:cNvPr id="11" name="Text 7"/>
          <p:cNvSpPr txBox="1"/>
          <p:nvPr/>
        </p:nvSpPr>
        <p:spPr>
          <a:xfrm>
            <a:off x="8549640" y="2441448"/>
            <a:ext cx="2926080"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eindeutige aktive Männer im DACH-Raum — die meisten haben zwei bis vier Apps installiert</a:t>
            </a:r>
            <a:endParaRPr lang="en-US" sz="1100" dirty="0"/>
          </a:p>
        </p:txBody>
      </p:sp>
      <p:sp>
        <p:nvSpPr>
          <p:cNvPr id="12" name="Shape 8"/>
          <p:cNvSpPr/>
          <p:nvPr/>
        </p:nvSpPr>
        <p:spPr>
          <a:xfrm>
            <a:off x="8321040" y="3200400"/>
            <a:ext cx="3227832" cy="1463040"/>
          </a:xfrm>
          <a:prstGeom prst="roundRect">
            <a:avLst>
              <a:gd name="adj" fmla="val 375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9"/>
          <p:cNvSpPr txBox="1"/>
          <p:nvPr/>
        </p:nvSpPr>
        <p:spPr>
          <a:xfrm>
            <a:off x="8549640" y="3337560"/>
            <a:ext cx="2926080" cy="685800"/>
          </a:xfrm>
          <a:prstGeom prst="rect">
            <a:avLst/>
          </a:prstGeom>
          <a:noFill/>
          <a:ln/>
        </p:spPr>
        <p:txBody>
          <a:bodyPr wrap="square" lIns="0" tIns="0" rIns="0" bIns="0" rtlCol="0" anchor="ctr"/>
          <a:lstStyle/>
          <a:p>
            <a:pPr indent="0" marL="0">
              <a:buNone/>
            </a:pPr>
            <a:r>
              <a:rPr lang="en-US" sz="2600" b="1" dirty="0">
                <a:solidFill>
                  <a:srgbClr val="9DBAFF"/>
                </a:solidFill>
                <a:latin typeface="Cambria" pitchFamily="34" charset="0"/>
                <a:ea typeface="Cambria" pitchFamily="34" charset="-122"/>
                <a:cs typeface="Cambria" pitchFamily="34" charset="-120"/>
              </a:rPr>
              <a:t>130 Mio. $</a:t>
            </a:r>
            <a:endParaRPr lang="en-US" sz="2600" dirty="0"/>
          </a:p>
        </p:txBody>
      </p:sp>
      <p:sp>
        <p:nvSpPr>
          <p:cNvPr id="14" name="Text 10"/>
          <p:cNvSpPr txBox="1"/>
          <p:nvPr/>
        </p:nvSpPr>
        <p:spPr>
          <a:xfrm>
            <a:off x="8549640" y="3995928"/>
            <a:ext cx="2926080"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Umsatz von Grindr im ersten Quartal 2026, bei rund 45 % bereinigter Marge</a:t>
            </a:r>
            <a:endParaRPr lang="en-US" sz="1100" dirty="0"/>
          </a:p>
        </p:txBody>
      </p:sp>
      <p:sp>
        <p:nvSpPr>
          <p:cNvPr id="15" name="Shape 11"/>
          <p:cNvSpPr/>
          <p:nvPr/>
        </p:nvSpPr>
        <p:spPr>
          <a:xfrm>
            <a:off x="640080" y="4526280"/>
            <a:ext cx="7406640" cy="1051560"/>
          </a:xfrm>
          <a:prstGeom prst="roundRect">
            <a:avLst>
              <a:gd name="adj" fmla="val 5217"/>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6" name="Text 12"/>
          <p:cNvSpPr txBox="1"/>
          <p:nvPr/>
        </p:nvSpPr>
        <p:spPr>
          <a:xfrm>
            <a:off x="896112" y="4690872"/>
            <a:ext cx="6903720" cy="777240"/>
          </a:xfrm>
          <a:prstGeom prst="rect">
            <a:avLst/>
          </a:prstGeom>
          <a:noFill/>
          <a:ln/>
        </p:spPr>
        <p:txBody>
          <a:bodyPr wrap="square" lIns="0" tIns="0" rIns="0" bIns="0" rtlCol="0" anchor="ctr"/>
          <a:lstStyle/>
          <a:p>
            <a:pPr indent="0" marL="0">
              <a:lnSpc>
                <a:spcPct val="115000"/>
              </a:lnSpc>
              <a:buNone/>
            </a:pPr>
            <a:r>
              <a:rPr lang="en-US" sz="1200" dirty="0">
                <a:solidFill>
                  <a:srgbClr val="F2F5F9"/>
                </a:solidFill>
                <a:latin typeface="Calibri" pitchFamily="34" charset="0"/>
                <a:ea typeface="Calibri" pitchFamily="34" charset="-122"/>
                <a:cs typeface="Calibri" pitchFamily="34" charset="-120"/>
              </a:rPr>
              <a:t>Was daraus ehrlich folgt: Ein hochprofitabler Marktführer baut gerade an Karte, Absichten und Gesundheit. Unsere Vorteile sind Nischenvorteile — sie machen eine Stadt gewinnbar, nicht den Markt.</a:t>
            </a:r>
            <a:endParaRPr lang="en-US" sz="1200" dirty="0"/>
          </a:p>
        </p:txBody>
      </p:sp>
      <p:sp>
        <p:nvSpPr>
          <p:cNvPr id="17" name="Text 13"/>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B, Wettbewerbsmatrix DACH · Wettbewerbsbeobachtung R-01, 15.09.2026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GESCHÄFTSMODELL</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Fünf Quellen, eine Regel</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8</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graphicFrame>
        <p:nvGraphicFramePr>
          <p:cNvPr id="8" name="Chart 0" descr=""/>
          <p:cNvGraphicFramePr/>
          <p:nvPr/>
        </p:nvGraphicFramePr>
        <p:xfrm>
          <a:off x="640080" y="1600200"/>
          <a:ext cx="6583680" cy="32004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498080" y="1600200"/>
            <a:ext cx="4050792" cy="960120"/>
          </a:xfrm>
          <a:prstGeom prst="roundRect">
            <a:avLst>
              <a:gd name="adj" fmla="val 5714"/>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7726680" y="1709928"/>
            <a:ext cx="3657600" cy="365760"/>
          </a:xfrm>
          <a:prstGeom prst="rect">
            <a:avLst/>
          </a:prstGeom>
          <a:noFill/>
          <a:ln/>
        </p:spPr>
        <p:txBody>
          <a:bodyPr wrap="square" lIns="0" tIns="0" rIns="0" bIns="0" rtlCol="0" anchor="ctr"/>
          <a:lstStyle/>
          <a:p>
            <a:pPr indent="0" marL="0">
              <a:buNone/>
            </a:pPr>
            <a:r>
              <a:rPr lang="en-US" sz="2200" b="1" dirty="0">
                <a:solidFill>
                  <a:srgbClr val="9DBAFF"/>
                </a:solidFill>
                <a:latin typeface="Cambria" pitchFamily="34" charset="0"/>
                <a:ea typeface="Cambria" pitchFamily="34" charset="-122"/>
                <a:cs typeface="Cambria" pitchFamily="34" charset="-120"/>
              </a:rPr>
              <a:t>83 %</a:t>
            </a:r>
            <a:endParaRPr lang="en-US" sz="2200" dirty="0"/>
          </a:p>
        </p:txBody>
      </p:sp>
      <p:sp>
        <p:nvSpPr>
          <p:cNvPr id="11" name="Text 7"/>
          <p:cNvSpPr txBox="1"/>
          <p:nvPr/>
        </p:nvSpPr>
        <p:spPr>
          <a:xfrm>
            <a:off x="7726680" y="2075688"/>
            <a:ext cx="3593592"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der Erlöse im Monat 36 aus Abos — die übrigen vier Quellen sind Reserve, nicht Grundlage</a:t>
            </a:r>
            <a:endParaRPr lang="en-US" sz="1050" dirty="0"/>
          </a:p>
        </p:txBody>
      </p:sp>
      <p:sp>
        <p:nvSpPr>
          <p:cNvPr id="12" name="Shape 8"/>
          <p:cNvSpPr/>
          <p:nvPr/>
        </p:nvSpPr>
        <p:spPr>
          <a:xfrm>
            <a:off x="7498080" y="2697480"/>
            <a:ext cx="4050792" cy="960120"/>
          </a:xfrm>
          <a:prstGeom prst="roundRect">
            <a:avLst>
              <a:gd name="adj" fmla="val 5714"/>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9"/>
          <p:cNvSpPr txBox="1"/>
          <p:nvPr/>
        </p:nvSpPr>
        <p:spPr>
          <a:xfrm>
            <a:off x="7726680" y="2807208"/>
            <a:ext cx="3657600" cy="365760"/>
          </a:xfrm>
          <a:prstGeom prst="rect">
            <a:avLst/>
          </a:prstGeom>
          <a:noFill/>
          <a:ln/>
        </p:spPr>
        <p:txBody>
          <a:bodyPr wrap="square" lIns="0" tIns="0" rIns="0" bIns="0" rtlCol="0" anchor="ctr"/>
          <a:lstStyle/>
          <a:p>
            <a:pPr indent="0" marL="0">
              <a:buNone/>
            </a:pPr>
            <a:r>
              <a:rPr lang="en-US" sz="2200" b="1" dirty="0">
                <a:solidFill>
                  <a:srgbClr val="9DBAFF"/>
                </a:solidFill>
                <a:latin typeface="Cambria" pitchFamily="34" charset="0"/>
                <a:ea typeface="Cambria" pitchFamily="34" charset="-122"/>
                <a:cs typeface="Cambria" pitchFamily="34" charset="-120"/>
              </a:rPr>
              <a:t>20.372 €</a:t>
            </a:r>
            <a:endParaRPr lang="en-US" sz="2200" dirty="0"/>
          </a:p>
        </p:txBody>
      </p:sp>
      <p:sp>
        <p:nvSpPr>
          <p:cNvPr id="14" name="Text 10"/>
          <p:cNvSpPr txBox="1"/>
          <p:nvPr/>
        </p:nvSpPr>
        <p:spPr>
          <a:xfrm>
            <a:off x="7726680" y="3172968"/>
            <a:ext cx="3593592"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Erlös im Monat 36 bei 62.000 aktiven Nutzern in vier Städten (realistisch)</a:t>
            </a:r>
            <a:endParaRPr lang="en-US" sz="1050" dirty="0"/>
          </a:p>
        </p:txBody>
      </p:sp>
      <p:sp>
        <p:nvSpPr>
          <p:cNvPr id="15" name="Shape 11"/>
          <p:cNvSpPr/>
          <p:nvPr/>
        </p:nvSpPr>
        <p:spPr>
          <a:xfrm>
            <a:off x="7498080" y="3794760"/>
            <a:ext cx="4050792" cy="960120"/>
          </a:xfrm>
          <a:prstGeom prst="roundRect">
            <a:avLst>
              <a:gd name="adj" fmla="val 5714"/>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6" name="Text 12"/>
          <p:cNvSpPr txBox="1"/>
          <p:nvPr/>
        </p:nvSpPr>
        <p:spPr>
          <a:xfrm>
            <a:off x="7726680" y="3904488"/>
            <a:ext cx="3657600" cy="365760"/>
          </a:xfrm>
          <a:prstGeom prst="rect">
            <a:avLst/>
          </a:prstGeom>
          <a:noFill/>
          <a:ln/>
        </p:spPr>
        <p:txBody>
          <a:bodyPr wrap="square" lIns="0" tIns="0" rIns="0" bIns="0" rtlCol="0" anchor="ctr"/>
          <a:lstStyle/>
          <a:p>
            <a:pPr indent="0" marL="0">
              <a:buNone/>
            </a:pPr>
            <a:r>
              <a:rPr lang="en-US" sz="2200" b="1" dirty="0">
                <a:solidFill>
                  <a:srgbClr val="9DBAFF"/>
                </a:solidFill>
                <a:latin typeface="Cambria" pitchFamily="34" charset="0"/>
                <a:ea typeface="Cambria" pitchFamily="34" charset="-122"/>
                <a:cs typeface="Cambria" pitchFamily="34" charset="-120"/>
              </a:rPr>
              <a:t>9 € / 17 €</a:t>
            </a:r>
            <a:endParaRPr lang="en-US" sz="2200" dirty="0"/>
          </a:p>
        </p:txBody>
      </p:sp>
      <p:sp>
        <p:nvSpPr>
          <p:cNvPr id="17" name="Text 13"/>
          <p:cNvSpPr txBox="1"/>
          <p:nvPr/>
        </p:nvSpPr>
        <p:spPr>
          <a:xfrm>
            <a:off x="7726680" y="4270248"/>
            <a:ext cx="3593592"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PLUS und PRO im Monat, glatte Preise statt 8,99 € — im Jahresabo 5,83 € und 11 €</a:t>
            </a:r>
            <a:endParaRPr lang="en-US" sz="1050" dirty="0"/>
          </a:p>
        </p:txBody>
      </p:sp>
      <p:sp>
        <p:nvSpPr>
          <p:cNvPr id="18" name="Shape 14"/>
          <p:cNvSpPr/>
          <p:nvPr/>
        </p:nvSpPr>
        <p:spPr>
          <a:xfrm>
            <a:off x="640080" y="4937760"/>
            <a:ext cx="10908792" cy="868680"/>
          </a:xfrm>
          <a:prstGeom prst="roundRect">
            <a:avLst>
              <a:gd name="adj" fmla="val 6316"/>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9" name="Text 15"/>
          <p:cNvSpPr txBox="1"/>
          <p:nvPr/>
        </p:nvSpPr>
        <p:spPr>
          <a:xfrm>
            <a:off x="896112" y="5102352"/>
            <a:ext cx="10396728" cy="548640"/>
          </a:xfrm>
          <a:prstGeom prst="rect">
            <a:avLst/>
          </a:prstGeom>
          <a:noFill/>
          <a:ln/>
        </p:spPr>
        <p:txBody>
          <a:bodyPr wrap="square" lIns="0" tIns="0" rIns="0" bIns="0" rtlCol="0" anchor="ctr"/>
          <a:lstStyle/>
          <a:p>
            <a:pPr indent="0" marL="0">
              <a:lnSpc>
                <a:spcPct val="115000"/>
              </a:lnSpc>
              <a:buNone/>
            </a:pPr>
            <a:r>
              <a:rPr lang="en-US" sz="1200" dirty="0">
                <a:solidFill>
                  <a:srgbClr val="F2F5F9"/>
                </a:solidFill>
                <a:latin typeface="Calibri" pitchFamily="34" charset="0"/>
                <a:ea typeface="Calibri" pitchFamily="34" charset="-122"/>
                <a:cs typeface="Calibri" pitchFamily="34" charset="-120"/>
              </a:rPr>
              <a:t>Die Regel über allem: keine Werbung, kein Datenverkauf, keine bezahlte Sichtbarkeit — auch nicht für Orte. Der Zuschnitt der Stufen ist vorgeschlagen (PLUS mit Inkognito, PRO mit Travel) und wird nach den Interviews bestätigt.</a:t>
            </a:r>
            <a:endParaRPr lang="en-US" sz="1200" dirty="0"/>
          </a:p>
        </p:txBody>
      </p:sp>
      <p:sp>
        <p:nvSpPr>
          <p:cNvPr id="20" name="Text 16"/>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finanzmodell.xlsx, Blatt „Realistisch“, Monat 36 · preise-und-bezahlstufen.md, Fassung 2 · Beschlüsse Nr. 65, 67 und 78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AKQUISE</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Die Rechnung, die den Kanal bestimmt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9</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45920"/>
            <a:ext cx="3392424" cy="1554480"/>
          </a:xfrm>
          <a:prstGeom prst="roundRect">
            <a:avLst>
              <a:gd name="adj" fmla="val 3529"/>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14400" y="1828800"/>
            <a:ext cx="2843784" cy="685800"/>
          </a:xfrm>
          <a:prstGeom prst="rect">
            <a:avLst/>
          </a:prstGeom>
          <a:noFill/>
          <a:ln/>
        </p:spPr>
        <p:txBody>
          <a:bodyPr wrap="square" lIns="0" tIns="0" rIns="0" bIns="0" rtlCol="0" anchor="ctr"/>
          <a:lstStyle/>
          <a:p>
            <a:pPr indent="0" marL="0">
              <a:buNone/>
            </a:pPr>
            <a:r>
              <a:rPr lang="en-US" sz="3400" b="1" dirty="0">
                <a:solidFill>
                  <a:srgbClr val="9DBAFF"/>
                </a:solidFill>
                <a:latin typeface="Cambria" pitchFamily="34" charset="0"/>
                <a:ea typeface="Cambria" pitchFamily="34" charset="-122"/>
                <a:cs typeface="Cambria" pitchFamily="34" charset="-120"/>
              </a:rPr>
              <a:t>0,33 €</a:t>
            </a:r>
            <a:endParaRPr lang="en-US" sz="3400" dirty="0"/>
          </a:p>
        </p:txBody>
      </p:sp>
      <p:sp>
        <p:nvSpPr>
          <p:cNvPr id="10" name="Text 7"/>
          <p:cNvSpPr txBox="1"/>
          <p:nvPr/>
        </p:nvSpPr>
        <p:spPr>
          <a:xfrm>
            <a:off x="914400" y="2487168"/>
            <a:ext cx="2843784"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Erlös je aktivem Nutzer und Monat, am Ende des dritten Jahres</a:t>
            </a:r>
            <a:endParaRPr lang="en-US" sz="1100" dirty="0"/>
          </a:p>
        </p:txBody>
      </p:sp>
      <p:sp>
        <p:nvSpPr>
          <p:cNvPr id="11" name="Shape 8"/>
          <p:cNvSpPr/>
          <p:nvPr/>
        </p:nvSpPr>
        <p:spPr>
          <a:xfrm>
            <a:off x="4398264" y="1645920"/>
            <a:ext cx="3392424" cy="1554480"/>
          </a:xfrm>
          <a:prstGeom prst="roundRect">
            <a:avLst>
              <a:gd name="adj" fmla="val 3529"/>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4672584" y="1828800"/>
            <a:ext cx="2843784" cy="685800"/>
          </a:xfrm>
          <a:prstGeom prst="rect">
            <a:avLst/>
          </a:prstGeom>
          <a:noFill/>
          <a:ln/>
        </p:spPr>
        <p:txBody>
          <a:bodyPr wrap="square" lIns="0" tIns="0" rIns="0" bIns="0" rtlCol="0" anchor="ctr"/>
          <a:lstStyle/>
          <a:p>
            <a:pPr indent="0" marL="0">
              <a:buNone/>
            </a:pPr>
            <a:r>
              <a:rPr lang="en-US" sz="3400" b="1" dirty="0">
                <a:solidFill>
                  <a:srgbClr val="9DBAFF"/>
                </a:solidFill>
                <a:latin typeface="Cambria" pitchFamily="34" charset="0"/>
                <a:ea typeface="Cambria" pitchFamily="34" charset="-122"/>
                <a:cs typeface="Cambria" pitchFamily="34" charset="-120"/>
              </a:rPr>
              <a:t>1,97 €</a:t>
            </a:r>
            <a:endParaRPr lang="en-US" sz="3400" dirty="0"/>
          </a:p>
        </p:txBody>
      </p:sp>
      <p:sp>
        <p:nvSpPr>
          <p:cNvPr id="13" name="Text 10"/>
          <p:cNvSpPr txBox="1"/>
          <p:nvPr/>
        </p:nvSpPr>
        <p:spPr>
          <a:xfrm>
            <a:off x="4672584" y="2487168"/>
            <a:ext cx="2843784"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tragbare Akquisekosten bei 18 Monaten Verweildauer und 3:1-Relation</a:t>
            </a:r>
            <a:endParaRPr lang="en-US" sz="1100" dirty="0"/>
          </a:p>
        </p:txBody>
      </p:sp>
      <p:sp>
        <p:nvSpPr>
          <p:cNvPr id="14" name="Shape 11"/>
          <p:cNvSpPr/>
          <p:nvPr/>
        </p:nvSpPr>
        <p:spPr>
          <a:xfrm>
            <a:off x="8156448" y="1645920"/>
            <a:ext cx="3392424" cy="1554480"/>
          </a:xfrm>
          <a:prstGeom prst="roundRect">
            <a:avLst>
              <a:gd name="adj" fmla="val 3529"/>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8430768" y="1828800"/>
            <a:ext cx="2843784" cy="685800"/>
          </a:xfrm>
          <a:prstGeom prst="rect">
            <a:avLst/>
          </a:prstGeom>
          <a:noFill/>
          <a:ln/>
        </p:spPr>
        <p:txBody>
          <a:bodyPr wrap="square" lIns="0" tIns="0" rIns="0" bIns="0" rtlCol="0" anchor="ctr"/>
          <a:lstStyle/>
          <a:p>
            <a:pPr indent="0" marL="0">
              <a:buNone/>
            </a:pPr>
            <a:r>
              <a:rPr lang="en-US" sz="3400" b="1" dirty="0">
                <a:solidFill>
                  <a:srgbClr val="E06C75"/>
                </a:solidFill>
                <a:latin typeface="Cambria" pitchFamily="34" charset="0"/>
                <a:ea typeface="Cambria" pitchFamily="34" charset="-122"/>
                <a:cs typeface="Cambria" pitchFamily="34" charset="-120"/>
              </a:rPr>
              <a:t>60–150 €</a:t>
            </a:r>
            <a:endParaRPr lang="en-US" sz="3400" dirty="0"/>
          </a:p>
        </p:txBody>
      </p:sp>
      <p:sp>
        <p:nvSpPr>
          <p:cNvPr id="16" name="Text 13"/>
          <p:cNvSpPr txBox="1"/>
          <p:nvPr/>
        </p:nvSpPr>
        <p:spPr>
          <a:xfrm>
            <a:off x="8430768" y="2487168"/>
            <a:ext cx="2843784"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was eine Installation über Meta oder TikTok kostet</a:t>
            </a:r>
            <a:endParaRPr lang="en-US" sz="1100" dirty="0"/>
          </a:p>
        </p:txBody>
      </p:sp>
      <p:sp>
        <p:nvSpPr>
          <p:cNvPr id="17" name="Text 14"/>
          <p:cNvSpPr txBox="1"/>
          <p:nvPr/>
        </p:nvSpPr>
        <p:spPr>
          <a:xfrm>
            <a:off x="640080" y="3383280"/>
            <a:ext cx="10908792" cy="365760"/>
          </a:xfrm>
          <a:prstGeom prst="rect">
            <a:avLst/>
          </a:prstGeom>
          <a:noFill/>
          <a:ln/>
        </p:spPr>
        <p:txBody>
          <a:bodyPr wrap="square" lIns="0" tIns="0" rIns="0" bIns="0" rtlCol="0" anchor="ctr"/>
          <a:lstStyle/>
          <a:p>
            <a:pPr indent="0" marL="0">
              <a:buNone/>
            </a:pPr>
            <a:r>
              <a:rPr lang="en-US" sz="1700" b="1" dirty="0">
                <a:solidFill>
                  <a:srgbClr val="F2F5F9"/>
                </a:solidFill>
                <a:latin typeface="Cambria" pitchFamily="34" charset="0"/>
                <a:ea typeface="Cambria" pitchFamily="34" charset="-122"/>
                <a:cs typeface="Cambria" pitchFamily="34" charset="-120"/>
              </a:rPr>
              <a:t>Kein knappes Rennen — bezahlte Reichweite kostet mehr als das Dreißigfache. Daraus folgt die Strategie.</a:t>
            </a:r>
            <a:endParaRPr lang="en-US" sz="1700" dirty="0"/>
          </a:p>
        </p:txBody>
      </p:sp>
      <p:sp>
        <p:nvSpPr>
          <p:cNvPr id="18" name="Shape 15"/>
          <p:cNvSpPr/>
          <p:nvPr/>
        </p:nvSpPr>
        <p:spPr>
          <a:xfrm>
            <a:off x="640080" y="3886200"/>
            <a:ext cx="3392424" cy="1463040"/>
          </a:xfrm>
          <a:prstGeom prst="roundRect">
            <a:avLst>
              <a:gd name="adj" fmla="val 375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9" name="Text 16"/>
          <p:cNvSpPr txBox="1"/>
          <p:nvPr/>
        </p:nvSpPr>
        <p:spPr>
          <a:xfrm>
            <a:off x="896112" y="4087368"/>
            <a:ext cx="2880360"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Eigene Kanäle</a:t>
            </a:r>
            <a:endParaRPr lang="en-US" sz="1400" dirty="0"/>
          </a:p>
        </p:txBody>
      </p:sp>
      <p:sp>
        <p:nvSpPr>
          <p:cNvPr id="20" name="Text 17"/>
          <p:cNvSpPr txBox="1"/>
          <p:nvPr/>
        </p:nvSpPr>
        <p:spPr>
          <a:xfrm>
            <a:off x="896112" y="4434840"/>
            <a:ext cx="2880360" cy="82296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Instagram und TikTok mit sechs bis neun Monaten Vorlauf — der Kanal startet neun Monate vor dem Produkt.</a:t>
            </a:r>
            <a:endParaRPr lang="en-US" sz="1200" dirty="0"/>
          </a:p>
        </p:txBody>
      </p:sp>
      <p:sp>
        <p:nvSpPr>
          <p:cNvPr id="21" name="Shape 18"/>
          <p:cNvSpPr/>
          <p:nvPr/>
        </p:nvSpPr>
        <p:spPr>
          <a:xfrm>
            <a:off x="4398264" y="3886200"/>
            <a:ext cx="3392424" cy="1463040"/>
          </a:xfrm>
          <a:prstGeom prst="roundRect">
            <a:avLst>
              <a:gd name="adj" fmla="val 375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2" name="Text 19"/>
          <p:cNvSpPr txBox="1"/>
          <p:nvPr/>
        </p:nvSpPr>
        <p:spPr>
          <a:xfrm>
            <a:off x="4654296" y="4087368"/>
            <a:ext cx="2880360"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Orte als Multiplikatoren</a:t>
            </a:r>
            <a:endParaRPr lang="en-US" sz="1400" dirty="0"/>
          </a:p>
        </p:txBody>
      </p:sp>
      <p:sp>
        <p:nvSpPr>
          <p:cNvPr id="23" name="Text 20"/>
          <p:cNvSpPr txBox="1"/>
          <p:nvPr/>
        </p:nvSpPr>
        <p:spPr>
          <a:xfrm>
            <a:off x="4654296" y="4434840"/>
            <a:ext cx="2880360" cy="82296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Wer 40 Orte in einer Stadt kennt, braucht keine Anzeigen, um in dieser Stadt sichtbar zu sein.</a:t>
            </a:r>
            <a:endParaRPr lang="en-US" sz="1200" dirty="0"/>
          </a:p>
        </p:txBody>
      </p:sp>
      <p:sp>
        <p:nvSpPr>
          <p:cNvPr id="24" name="Shape 21"/>
          <p:cNvSpPr/>
          <p:nvPr/>
        </p:nvSpPr>
        <p:spPr>
          <a:xfrm>
            <a:off x="8156448" y="3886200"/>
            <a:ext cx="3392424" cy="1463040"/>
          </a:xfrm>
          <a:prstGeom prst="roundRect">
            <a:avLst>
              <a:gd name="adj" fmla="val 375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5" name="Text 22"/>
          <p:cNvSpPr txBox="1"/>
          <p:nvPr/>
        </p:nvSpPr>
        <p:spPr>
          <a:xfrm>
            <a:off x="8412480" y="4087368"/>
            <a:ext cx="2880360"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CSD zum Start</a:t>
            </a:r>
            <a:endParaRPr lang="en-US" sz="1400" dirty="0"/>
          </a:p>
        </p:txBody>
      </p:sp>
      <p:sp>
        <p:nvSpPr>
          <p:cNvPr id="26" name="Text 23"/>
          <p:cNvSpPr txBox="1"/>
          <p:nvPr/>
        </p:nvSpPr>
        <p:spPr>
          <a:xfrm>
            <a:off x="8412480" y="4434840"/>
            <a:ext cx="2880360" cy="82296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Ein CSD-Auftritt lohnt nicht wegen 400 Installationen, sondern wegen zehntausender Menschen, die den Namen einordnen können.</a:t>
            </a:r>
            <a:endParaRPr lang="en-US" sz="1200" dirty="0"/>
          </a:p>
        </p:txBody>
      </p:sp>
      <p:sp>
        <p:nvSpPr>
          <p:cNvPr id="27" name="Text 24"/>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Erlöse ÷ aktive Nutzer im Monat 36 (finanzmodell.xlsx, realistisch) · Verweildauer, 3:1 und Kanalkosten aus Handbuch B · Beschluss Nr.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TRAKTION</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Was heute steht — und was noch nicht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10</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00200"/>
            <a:ext cx="5577840" cy="3566160"/>
          </a:xfrm>
          <a:prstGeom prst="roundRect">
            <a:avLst>
              <a:gd name="adj" fmla="val 153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14400" y="1783080"/>
            <a:ext cx="5029200" cy="320040"/>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Was heute steht</a:t>
            </a:r>
            <a:endParaRPr lang="en-US" sz="1500" dirty="0"/>
          </a:p>
        </p:txBody>
      </p:sp>
      <p:sp>
        <p:nvSpPr>
          <p:cNvPr id="10" name="Text 7"/>
          <p:cNvSpPr txBox="1"/>
          <p:nvPr/>
        </p:nvSpPr>
        <p:spPr>
          <a:xfrm>
            <a:off x="914400" y="2194560"/>
            <a:ext cx="5029200" cy="274320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00" dirty="0">
                <a:solidFill>
                  <a:srgbClr val="F2F5F9"/>
                </a:solidFill>
                <a:latin typeface="Calibri" pitchFamily="34" charset="0"/>
                <a:ea typeface="Calibri" pitchFamily="34" charset="-122"/>
                <a:cs typeface="Calibri" pitchFamily="34" charset="-120"/>
              </a:rPr>
              <a:t>Produkt vollständig auf Papier: 75 Funktionen, 674 prüfbare Kriterien, 11 Nutzerabläufe</a:t>
            </a:r>
            <a:endParaRPr lang="en-US" sz="1200" dirty="0"/>
          </a:p>
          <a:p>
            <a:pPr marL="342900" indent="-342900">
              <a:lnSpc>
                <a:spcPct val="110000"/>
              </a:lnSpc>
              <a:spcAft>
                <a:spcPts val="800"/>
              </a:spcAft>
              <a:buSzPct val="100000"/>
              <a:buChar char="•"/>
            </a:pPr>
            <a:r>
              <a:rPr lang="en-US" sz="1200" dirty="0">
                <a:solidFill>
                  <a:srgbClr val="F2F5F9"/>
                </a:solidFill>
                <a:latin typeface="Calibri" pitchFamily="34" charset="0"/>
                <a:ea typeface="Calibri" pitchFamily="34" charset="-122"/>
                <a:cs typeface="Calibri" pitchFamily="34" charset="-120"/>
              </a:rPr>
              <a:t>Ortsliste Köln: 33 benannte Orte, Ansprache vorbereitet</a:t>
            </a:r>
            <a:endParaRPr lang="en-US" sz="1200" dirty="0"/>
          </a:p>
          <a:p>
            <a:pPr marL="342900" indent="-342900">
              <a:lnSpc>
                <a:spcPct val="110000"/>
              </a:lnSpc>
              <a:spcAft>
                <a:spcPts val="800"/>
              </a:spcAft>
              <a:buSzPct val="100000"/>
              <a:buChar char="•"/>
            </a:pPr>
            <a:r>
              <a:rPr lang="en-US" sz="1200" dirty="0">
                <a:solidFill>
                  <a:srgbClr val="F2F5F9"/>
                </a:solidFill>
                <a:latin typeface="Calibri" pitchFamily="34" charset="0"/>
                <a:ea typeface="Calibri" pitchFamily="34" charset="-122"/>
                <a:cs typeface="Calibri" pitchFamily="34" charset="-120"/>
              </a:rPr>
              <a:t>Rechtsrahmen: Mandantenakte über 15 Rechtsgebiete mit vier Nachträgen, Rechtstexte im Entwurf</a:t>
            </a:r>
            <a:endParaRPr lang="en-US" sz="1200" dirty="0"/>
          </a:p>
          <a:p>
            <a:pPr marL="342900" indent="-342900">
              <a:lnSpc>
                <a:spcPct val="110000"/>
              </a:lnSpc>
              <a:spcAft>
                <a:spcPts val="800"/>
              </a:spcAft>
              <a:buSzPct val="100000"/>
              <a:buChar char="•"/>
            </a:pPr>
            <a:r>
              <a:rPr lang="en-US" sz="1200" dirty="0">
                <a:solidFill>
                  <a:srgbClr val="F2F5F9"/>
                </a:solidFill>
                <a:latin typeface="Calibri" pitchFamily="34" charset="0"/>
                <a:ea typeface="Calibri" pitchFamily="34" charset="-122"/>
                <a:cs typeface="Calibri" pitchFamily="34" charset="-120"/>
              </a:rPr>
              <a:t>Finanzmodell mit drei Szenarien und allen Beschlüssen, gegen Handbuch B abgeglichen</a:t>
            </a:r>
            <a:endParaRPr lang="en-US" sz="1200" dirty="0"/>
          </a:p>
          <a:p>
            <a:pPr marL="342900" indent="-342900">
              <a:lnSpc>
                <a:spcPct val="110000"/>
              </a:lnSpc>
              <a:spcAft>
                <a:spcPts val="800"/>
              </a:spcAft>
              <a:buSzPct val="100000"/>
              <a:buChar char="•"/>
            </a:pPr>
            <a:r>
              <a:rPr lang="en-US" sz="1200" dirty="0">
                <a:solidFill>
                  <a:srgbClr val="F2F5F9"/>
                </a:solidFill>
                <a:latin typeface="Calibri" pitchFamily="34" charset="0"/>
                <a:ea typeface="Calibri" pitchFamily="34" charset="-122"/>
                <a:cs typeface="Calibri" pitchFamily="34" charset="-120"/>
              </a:rPr>
              <a:t>Kanalplan für 12 Wochen, 84 Beiträge, Start neun Monate vor dem Produkt</a:t>
            </a:r>
            <a:endParaRPr lang="en-US" sz="1200" dirty="0"/>
          </a:p>
        </p:txBody>
      </p:sp>
      <p:sp>
        <p:nvSpPr>
          <p:cNvPr id="11" name="Shape 8"/>
          <p:cNvSpPr/>
          <p:nvPr/>
        </p:nvSpPr>
        <p:spPr>
          <a:xfrm>
            <a:off x="6492240" y="1600200"/>
            <a:ext cx="5056632" cy="3566160"/>
          </a:xfrm>
          <a:prstGeom prst="roundRect">
            <a:avLst>
              <a:gd name="adj" fmla="val 1538"/>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766560" y="1783080"/>
            <a:ext cx="4572000" cy="320040"/>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Was am Gesprächstag zählt</a:t>
            </a:r>
            <a:endParaRPr lang="en-US" sz="1500" dirty="0"/>
          </a:p>
        </p:txBody>
      </p:sp>
      <p:sp>
        <p:nvSpPr>
          <p:cNvPr id="13" name="Text 10"/>
          <p:cNvSpPr txBox="1"/>
          <p:nvPr/>
        </p:nvSpPr>
        <p:spPr>
          <a:xfrm>
            <a:off x="6766560" y="2240280"/>
            <a:ext cx="2926080" cy="274320"/>
          </a:xfrm>
          <a:prstGeom prst="rect">
            <a:avLst/>
          </a:prstGeom>
          <a:noFill/>
          <a:ln/>
        </p:spPr>
        <p:txBody>
          <a:bodyPr wrap="square" lIns="0" tIns="0" rIns="0" bIns="0" rtlCol="0" anchor="ctr"/>
          <a:lstStyle/>
          <a:p>
            <a:pPr indent="0" marL="0">
              <a:buNone/>
            </a:pPr>
            <a:r>
              <a:rPr lang="en-US" sz="1250" b="1" dirty="0">
                <a:solidFill>
                  <a:srgbClr val="F2F5F9"/>
                </a:solidFill>
                <a:latin typeface="Calibri" pitchFamily="34" charset="0"/>
                <a:ea typeface="Calibri" pitchFamily="34" charset="-122"/>
                <a:cs typeface="Calibri" pitchFamily="34" charset="-120"/>
              </a:rPr>
              <a:t>Wartelisten-Anmeldungen</a:t>
            </a:r>
            <a:endParaRPr lang="en-US" sz="1250" dirty="0"/>
          </a:p>
        </p:txBody>
      </p:sp>
      <p:sp>
        <p:nvSpPr>
          <p:cNvPr id="14" name="Text 11"/>
          <p:cNvSpPr txBox="1"/>
          <p:nvPr/>
        </p:nvSpPr>
        <p:spPr>
          <a:xfrm>
            <a:off x="6766560" y="2514600"/>
            <a:ext cx="3108960"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Ziel bis Tag 90: über 1.500, davon 900 aus einer Stadt</a:t>
            </a:r>
            <a:endParaRPr lang="en-US" sz="1050" dirty="0"/>
          </a:p>
        </p:txBody>
      </p:sp>
      <p:sp>
        <p:nvSpPr>
          <p:cNvPr id="15" name="Shape 12"/>
          <p:cNvSpPr/>
          <p:nvPr/>
        </p:nvSpPr>
        <p:spPr>
          <a:xfrm>
            <a:off x="10177272" y="2286000"/>
            <a:ext cx="1097280" cy="457200"/>
          </a:xfrm>
          <a:prstGeom prst="roundRect">
            <a:avLst>
              <a:gd name="adj" fmla="val 12000"/>
            </a:avLst>
          </a:prstGeom>
          <a:solidFill>
            <a:srgbClr val="1B212B"/>
          </a:solidFill>
          <a:ln w="9525">
            <a:solidFill>
              <a:srgbClr val="4D7CFE"/>
            </a:solidFill>
            <a:prstDash val="solid"/>
          </a:ln>
        </p:spPr>
      </p:sp>
      <p:sp>
        <p:nvSpPr>
          <p:cNvPr id="16" name="Text 13"/>
          <p:cNvSpPr txBox="1"/>
          <p:nvPr/>
        </p:nvSpPr>
        <p:spPr>
          <a:xfrm>
            <a:off x="10177272" y="2286000"/>
            <a:ext cx="1097280" cy="457200"/>
          </a:xfrm>
          <a:prstGeom prst="rect">
            <a:avLst/>
          </a:prstGeom>
          <a:noFill/>
          <a:ln/>
        </p:spPr>
        <p:txBody>
          <a:bodyPr wrap="square" lIns="0" tIns="0" rIns="0" bIns="0" rtlCol="0" anchor="ctr"/>
          <a:lstStyle/>
          <a:p>
            <a:pPr algn="ctr" indent="0" marL="0">
              <a:buNone/>
            </a:pPr>
            <a:r>
              <a:rPr lang="en-US" sz="1000" dirty="0">
                <a:solidFill>
                  <a:srgbClr val="9DBAFF"/>
                </a:solidFill>
                <a:latin typeface="Calibri" pitchFamily="34" charset="0"/>
                <a:ea typeface="Calibri" pitchFamily="34" charset="-122"/>
                <a:cs typeface="Calibri" pitchFamily="34" charset="-120"/>
              </a:rPr>
              <a:t>[Stand]</a:t>
            </a:r>
            <a:endParaRPr lang="en-US" sz="1000" dirty="0"/>
          </a:p>
        </p:txBody>
      </p:sp>
      <p:sp>
        <p:nvSpPr>
          <p:cNvPr id="17" name="Text 14"/>
          <p:cNvSpPr txBox="1"/>
          <p:nvPr/>
        </p:nvSpPr>
        <p:spPr>
          <a:xfrm>
            <a:off x="6766560" y="3172968"/>
            <a:ext cx="2926080" cy="274320"/>
          </a:xfrm>
          <a:prstGeom prst="rect">
            <a:avLst/>
          </a:prstGeom>
          <a:noFill/>
          <a:ln/>
        </p:spPr>
        <p:txBody>
          <a:bodyPr wrap="square" lIns="0" tIns="0" rIns="0" bIns="0" rtlCol="0" anchor="ctr"/>
          <a:lstStyle/>
          <a:p>
            <a:pPr indent="0" marL="0">
              <a:buNone/>
            </a:pPr>
            <a:r>
              <a:rPr lang="en-US" sz="1250" b="1" dirty="0">
                <a:solidFill>
                  <a:srgbClr val="F2F5F9"/>
                </a:solidFill>
                <a:latin typeface="Calibri" pitchFamily="34" charset="0"/>
                <a:ea typeface="Calibri" pitchFamily="34" charset="-122"/>
                <a:cs typeface="Calibri" pitchFamily="34" charset="-120"/>
              </a:rPr>
              <a:t>Zusagen von Orten</a:t>
            </a:r>
            <a:endParaRPr lang="en-US" sz="1250" dirty="0"/>
          </a:p>
        </p:txBody>
      </p:sp>
      <p:sp>
        <p:nvSpPr>
          <p:cNvPr id="18" name="Text 15"/>
          <p:cNvSpPr txBox="1"/>
          <p:nvPr/>
        </p:nvSpPr>
        <p:spPr>
          <a:xfrm>
            <a:off x="6766560" y="3447288"/>
            <a:ext cx="3108960"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Ziel: 40 Vereinbarungen in Köln vor dem Start</a:t>
            </a:r>
            <a:endParaRPr lang="en-US" sz="1050" dirty="0"/>
          </a:p>
        </p:txBody>
      </p:sp>
      <p:sp>
        <p:nvSpPr>
          <p:cNvPr id="19" name="Shape 16"/>
          <p:cNvSpPr/>
          <p:nvPr/>
        </p:nvSpPr>
        <p:spPr>
          <a:xfrm>
            <a:off x="10177272" y="3218688"/>
            <a:ext cx="1097280" cy="457200"/>
          </a:xfrm>
          <a:prstGeom prst="roundRect">
            <a:avLst>
              <a:gd name="adj" fmla="val 12000"/>
            </a:avLst>
          </a:prstGeom>
          <a:solidFill>
            <a:srgbClr val="1B212B"/>
          </a:solidFill>
          <a:ln w="9525">
            <a:solidFill>
              <a:srgbClr val="4D7CFE"/>
            </a:solidFill>
            <a:prstDash val="solid"/>
          </a:ln>
        </p:spPr>
      </p:sp>
      <p:sp>
        <p:nvSpPr>
          <p:cNvPr id="20" name="Text 17"/>
          <p:cNvSpPr txBox="1"/>
          <p:nvPr/>
        </p:nvSpPr>
        <p:spPr>
          <a:xfrm>
            <a:off x="10177272" y="3218688"/>
            <a:ext cx="1097280" cy="457200"/>
          </a:xfrm>
          <a:prstGeom prst="rect">
            <a:avLst/>
          </a:prstGeom>
          <a:noFill/>
          <a:ln/>
        </p:spPr>
        <p:txBody>
          <a:bodyPr wrap="square" lIns="0" tIns="0" rIns="0" bIns="0" rtlCol="0" anchor="ctr"/>
          <a:lstStyle/>
          <a:p>
            <a:pPr algn="ctr" indent="0" marL="0">
              <a:buNone/>
            </a:pPr>
            <a:r>
              <a:rPr lang="en-US" sz="1000" dirty="0">
                <a:solidFill>
                  <a:srgbClr val="9DBAFF"/>
                </a:solidFill>
                <a:latin typeface="Calibri" pitchFamily="34" charset="0"/>
                <a:ea typeface="Calibri" pitchFamily="34" charset="-122"/>
                <a:cs typeface="Calibri" pitchFamily="34" charset="-120"/>
              </a:rPr>
              <a:t>[Stand]</a:t>
            </a:r>
            <a:endParaRPr lang="en-US" sz="1000" dirty="0"/>
          </a:p>
        </p:txBody>
      </p:sp>
      <p:sp>
        <p:nvSpPr>
          <p:cNvPr id="21" name="Text 18"/>
          <p:cNvSpPr txBox="1"/>
          <p:nvPr/>
        </p:nvSpPr>
        <p:spPr>
          <a:xfrm>
            <a:off x="6766560" y="4105656"/>
            <a:ext cx="2926080" cy="274320"/>
          </a:xfrm>
          <a:prstGeom prst="rect">
            <a:avLst/>
          </a:prstGeom>
          <a:noFill/>
          <a:ln/>
        </p:spPr>
        <p:txBody>
          <a:bodyPr wrap="square" lIns="0" tIns="0" rIns="0" bIns="0" rtlCol="0" anchor="ctr"/>
          <a:lstStyle/>
          <a:p>
            <a:pPr indent="0" marL="0">
              <a:buNone/>
            </a:pPr>
            <a:r>
              <a:rPr lang="en-US" sz="1250" b="1" dirty="0">
                <a:solidFill>
                  <a:srgbClr val="F2F5F9"/>
                </a:solidFill>
                <a:latin typeface="Calibri" pitchFamily="34" charset="0"/>
                <a:ea typeface="Calibri" pitchFamily="34" charset="-122"/>
                <a:cs typeface="Calibri" pitchFamily="34" charset="-120"/>
              </a:rPr>
              <a:t>Eigene Kanäle</a:t>
            </a:r>
            <a:endParaRPr lang="en-US" sz="1250" dirty="0"/>
          </a:p>
        </p:txBody>
      </p:sp>
      <p:sp>
        <p:nvSpPr>
          <p:cNvPr id="22" name="Text 19"/>
          <p:cNvSpPr txBox="1"/>
          <p:nvPr/>
        </p:nvSpPr>
        <p:spPr>
          <a:xfrm>
            <a:off x="6766560" y="4379976"/>
            <a:ext cx="3108960"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Ziel für Tor 2: 5.000 echte Follower, 800 Installationen</a:t>
            </a:r>
            <a:endParaRPr lang="en-US" sz="1050" dirty="0"/>
          </a:p>
        </p:txBody>
      </p:sp>
      <p:sp>
        <p:nvSpPr>
          <p:cNvPr id="23" name="Shape 20"/>
          <p:cNvSpPr/>
          <p:nvPr/>
        </p:nvSpPr>
        <p:spPr>
          <a:xfrm>
            <a:off x="10177272" y="4151376"/>
            <a:ext cx="1097280" cy="457200"/>
          </a:xfrm>
          <a:prstGeom prst="roundRect">
            <a:avLst>
              <a:gd name="adj" fmla="val 12000"/>
            </a:avLst>
          </a:prstGeom>
          <a:solidFill>
            <a:srgbClr val="1B212B"/>
          </a:solidFill>
          <a:ln w="9525">
            <a:solidFill>
              <a:srgbClr val="4D7CFE"/>
            </a:solidFill>
            <a:prstDash val="solid"/>
          </a:ln>
        </p:spPr>
      </p:sp>
      <p:sp>
        <p:nvSpPr>
          <p:cNvPr id="24" name="Text 21"/>
          <p:cNvSpPr txBox="1"/>
          <p:nvPr/>
        </p:nvSpPr>
        <p:spPr>
          <a:xfrm>
            <a:off x="10177272" y="4151376"/>
            <a:ext cx="1097280" cy="457200"/>
          </a:xfrm>
          <a:prstGeom prst="rect">
            <a:avLst/>
          </a:prstGeom>
          <a:noFill/>
          <a:ln/>
        </p:spPr>
        <p:txBody>
          <a:bodyPr wrap="square" lIns="0" tIns="0" rIns="0" bIns="0" rtlCol="0" anchor="ctr"/>
          <a:lstStyle/>
          <a:p>
            <a:pPr algn="ctr" indent="0" marL="0">
              <a:buNone/>
            </a:pPr>
            <a:r>
              <a:rPr lang="en-US" sz="1000" dirty="0">
                <a:solidFill>
                  <a:srgbClr val="9DBAFF"/>
                </a:solidFill>
                <a:latin typeface="Calibri" pitchFamily="34" charset="0"/>
                <a:ea typeface="Calibri" pitchFamily="34" charset="-122"/>
                <a:cs typeface="Calibri" pitchFamily="34" charset="-120"/>
              </a:rPr>
              <a:t>[Stand]</a:t>
            </a:r>
            <a:endParaRPr lang="en-US" sz="1000" dirty="0"/>
          </a:p>
        </p:txBody>
      </p:sp>
      <p:sp>
        <p:nvSpPr>
          <p:cNvPr id="25" name="Text 22"/>
          <p:cNvSpPr txBox="1"/>
          <p:nvPr/>
        </p:nvSpPr>
        <p:spPr>
          <a:xfrm>
            <a:off x="640080" y="5303520"/>
            <a:ext cx="10908792" cy="365760"/>
          </a:xfrm>
          <a:prstGeom prst="rect">
            <a:avLst/>
          </a:prstGeom>
          <a:noFill/>
          <a:ln/>
        </p:spPr>
        <p:txBody>
          <a:bodyPr wrap="square" lIns="0" tIns="0" rIns="0" bIns="0" rtlCol="0" anchor="ctr"/>
          <a:lstStyle/>
          <a:p>
            <a:pPr indent="0" marL="0">
              <a:buNone/>
            </a:pPr>
            <a:r>
              <a:rPr lang="en-US" sz="1200" i="1" dirty="0">
                <a:solidFill>
                  <a:srgbClr val="98A3B3"/>
                </a:solidFill>
                <a:latin typeface="Calibri" pitchFamily="34" charset="0"/>
                <a:ea typeface="Calibri" pitchFamily="34" charset="-122"/>
                <a:cs typeface="Calibri" pitchFamily="34" charset="-120"/>
              </a:rPr>
              <a:t>Heute gibt es keine Nutzer — gestartet wird in der CSD-Saison, frühestens 2028, geplant ein Jahr später. Wir zeigen keine Zahl ohne Datum.</a:t>
            </a:r>
            <a:endParaRPr lang="en-US" sz="1200" dirty="0"/>
          </a:p>
        </p:txBody>
      </p:sp>
      <p:sp>
        <p:nvSpPr>
          <p:cNvPr id="26" name="Text 23"/>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Aufgabensystem und Projektdokumente, Stand 26.09.2026 · Zielwerte aus Handbuch B</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TEAM</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Zwei Gründer, zwei getrennte Bereiche</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11</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45920"/>
            <a:ext cx="5225796" cy="2011680"/>
          </a:xfrm>
          <a:prstGeom prst="roundRect">
            <a:avLst>
              <a:gd name="adj" fmla="val 272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Shape 6"/>
          <p:cNvSpPr/>
          <p:nvPr/>
        </p:nvSpPr>
        <p:spPr>
          <a:xfrm>
            <a:off x="914400" y="1874520"/>
            <a:ext cx="566928" cy="566928"/>
          </a:xfrm>
          <a:prstGeom prst="roundRect">
            <a:avLst>
              <a:gd name="adj" fmla="val 19355"/>
            </a:avLst>
          </a:prstGeom>
          <a:solidFill>
            <a:srgbClr val="4D7CFE"/>
          </a:solidFill>
          <a:ln w="12700">
            <a:solidFill>
              <a:srgbClr val="4D7CFE"/>
            </a:solidFill>
            <a:prstDash val="solid"/>
          </a:ln>
        </p:spPr>
      </p:sp>
      <p:sp>
        <p:nvSpPr>
          <p:cNvPr id="10" name="Text 7"/>
          <p:cNvSpPr txBox="1"/>
          <p:nvPr/>
        </p:nvSpPr>
        <p:spPr>
          <a:xfrm>
            <a:off x="914400" y="1874520"/>
            <a:ext cx="566928" cy="566928"/>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HL</a:t>
            </a:r>
            <a:endParaRPr lang="en-US" sz="1800" dirty="0"/>
          </a:p>
        </p:txBody>
      </p:sp>
      <p:sp>
        <p:nvSpPr>
          <p:cNvPr id="11" name="Text 8"/>
          <p:cNvSpPr txBox="1"/>
          <p:nvPr/>
        </p:nvSpPr>
        <p:spPr>
          <a:xfrm>
            <a:off x="1600200" y="1874520"/>
            <a:ext cx="3991356" cy="292608"/>
          </a:xfrm>
          <a:prstGeom prst="rect">
            <a:avLst/>
          </a:prstGeom>
          <a:noFill/>
          <a:ln/>
        </p:spPr>
        <p:txBody>
          <a:bodyPr wrap="square" lIns="0" tIns="0" rIns="0" bIns="0" rtlCol="0" anchor="ctr"/>
          <a:lstStyle/>
          <a:p>
            <a:pPr indent="0" marL="0">
              <a:buNone/>
            </a:pPr>
            <a:r>
              <a:rPr lang="en-US" sz="1800" b="1" dirty="0">
                <a:solidFill>
                  <a:srgbClr val="F2F5F9"/>
                </a:solidFill>
                <a:latin typeface="Cambria" pitchFamily="34" charset="0"/>
                <a:ea typeface="Cambria" pitchFamily="34" charset="-122"/>
                <a:cs typeface="Cambria" pitchFamily="34" charset="-120"/>
              </a:rPr>
              <a:t>Henry Luca Kurz</a:t>
            </a:r>
            <a:endParaRPr lang="en-US" sz="1800" dirty="0"/>
          </a:p>
        </p:txBody>
      </p:sp>
      <p:sp>
        <p:nvSpPr>
          <p:cNvPr id="12" name="Text 9"/>
          <p:cNvSpPr txBox="1"/>
          <p:nvPr/>
        </p:nvSpPr>
        <p:spPr>
          <a:xfrm>
            <a:off x="1600200" y="2176272"/>
            <a:ext cx="3991356" cy="274320"/>
          </a:xfrm>
          <a:prstGeom prst="rect">
            <a:avLst/>
          </a:prstGeom>
          <a:noFill/>
          <a:ln/>
        </p:spPr>
        <p:txBody>
          <a:bodyPr wrap="square" lIns="0" tIns="0" rIns="0" bIns="0" rtlCol="0" anchor="ctr"/>
          <a:lstStyle/>
          <a:p>
            <a:pPr indent="0" marL="0">
              <a:buNone/>
            </a:pPr>
            <a:r>
              <a:rPr lang="en-US" sz="1150" dirty="0">
                <a:solidFill>
                  <a:srgbClr val="9DBAFF"/>
                </a:solidFill>
                <a:latin typeface="Calibri" pitchFamily="34" charset="0"/>
                <a:ea typeface="Calibri" pitchFamily="34" charset="-122"/>
                <a:cs typeface="Calibri" pitchFamily="34" charset="-120"/>
              </a:rPr>
              <a:t>Marketing, Veranstaltungen, Partnerschaften</a:t>
            </a:r>
            <a:endParaRPr lang="en-US" sz="1150" dirty="0"/>
          </a:p>
        </p:txBody>
      </p:sp>
      <p:sp>
        <p:nvSpPr>
          <p:cNvPr id="13" name="Text 10"/>
          <p:cNvSpPr txBox="1"/>
          <p:nvPr/>
        </p:nvSpPr>
        <p:spPr>
          <a:xfrm>
            <a:off x="914400" y="2606040"/>
            <a:ext cx="4677156" cy="914400"/>
          </a:xfrm>
          <a:prstGeom prst="rect">
            <a:avLst/>
          </a:prstGeom>
          <a:noFill/>
          <a:ln/>
        </p:spPr>
        <p:txBody>
          <a:bodyPr wrap="square" lIns="0" tIns="0" rIns="0" bIns="0" rtlCol="0" anchor="ctr"/>
          <a:lstStyle/>
          <a:p>
            <a:pPr indent="0" marL="0">
              <a:lnSpc>
                <a:spcPct val="115000"/>
              </a:lnSpc>
              <a:buNone/>
            </a:pPr>
            <a:r>
              <a:rPr lang="en-US" sz="1150" dirty="0">
                <a:solidFill>
                  <a:srgbClr val="98A3B3"/>
                </a:solidFill>
                <a:latin typeface="Calibri" pitchFamily="34" charset="0"/>
                <a:ea typeface="Calibri" pitchFamily="34" charset="-122"/>
                <a:cs typeface="Calibri" pitchFamily="34" charset="-120"/>
              </a:rPr>
              <a:t>Entscheidet über die eigenen Kanäle, Veranstaltungen und den CSD-Auftritt sowie die Partnerschaften mit Clubs und Orten — die Gespräche, die kein Werkzeug ersetzt.</a:t>
            </a:r>
            <a:endParaRPr lang="en-US" sz="1150" dirty="0"/>
          </a:p>
        </p:txBody>
      </p:sp>
      <p:sp>
        <p:nvSpPr>
          <p:cNvPr id="14" name="Shape 11"/>
          <p:cNvSpPr/>
          <p:nvPr/>
        </p:nvSpPr>
        <p:spPr>
          <a:xfrm>
            <a:off x="6323076" y="1645920"/>
            <a:ext cx="5225796" cy="2011680"/>
          </a:xfrm>
          <a:prstGeom prst="roundRect">
            <a:avLst>
              <a:gd name="adj" fmla="val 272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Shape 12"/>
          <p:cNvSpPr/>
          <p:nvPr/>
        </p:nvSpPr>
        <p:spPr>
          <a:xfrm>
            <a:off x="6597396" y="1874520"/>
            <a:ext cx="566928" cy="566928"/>
          </a:xfrm>
          <a:prstGeom prst="roundRect">
            <a:avLst>
              <a:gd name="adj" fmla="val 19355"/>
            </a:avLst>
          </a:prstGeom>
          <a:solidFill>
            <a:srgbClr val="4D7CFE"/>
          </a:solidFill>
          <a:ln w="12700">
            <a:solidFill>
              <a:srgbClr val="4D7CFE"/>
            </a:solidFill>
            <a:prstDash val="solid"/>
          </a:ln>
        </p:spPr>
      </p:sp>
      <p:sp>
        <p:nvSpPr>
          <p:cNvPr id="16" name="Text 13"/>
          <p:cNvSpPr txBox="1"/>
          <p:nvPr/>
        </p:nvSpPr>
        <p:spPr>
          <a:xfrm>
            <a:off x="6597396" y="1874520"/>
            <a:ext cx="566928" cy="566928"/>
          </a:xfrm>
          <a:prstGeom prst="rect">
            <a:avLst/>
          </a:prstGeom>
          <a:noFill/>
          <a:ln/>
        </p:spPr>
        <p:txBody>
          <a:bodyPr wrap="square" lIns="0" tIns="0" rIns="0" bIns="0" rtlCol="0" anchor="ctr"/>
          <a:lstStyle/>
          <a:p>
            <a:pPr algn="ctr" indent="0" marL="0">
              <a:buNone/>
            </a:pPr>
            <a:r>
              <a:rPr lang="en-US" sz="1800" b="1" dirty="0">
                <a:solidFill>
                  <a:srgbClr val="0B1220"/>
                </a:solidFill>
                <a:latin typeface="Cambria" pitchFamily="34" charset="0"/>
                <a:ea typeface="Cambria" pitchFamily="34" charset="-122"/>
                <a:cs typeface="Cambria" pitchFamily="34" charset="-120"/>
              </a:rPr>
              <a:t>NG</a:t>
            </a:r>
            <a:endParaRPr lang="en-US" sz="1800" dirty="0"/>
          </a:p>
        </p:txBody>
      </p:sp>
      <p:sp>
        <p:nvSpPr>
          <p:cNvPr id="17" name="Text 14"/>
          <p:cNvSpPr txBox="1"/>
          <p:nvPr/>
        </p:nvSpPr>
        <p:spPr>
          <a:xfrm>
            <a:off x="7283196" y="1874520"/>
            <a:ext cx="3991356" cy="292608"/>
          </a:xfrm>
          <a:prstGeom prst="rect">
            <a:avLst/>
          </a:prstGeom>
          <a:noFill/>
          <a:ln/>
        </p:spPr>
        <p:txBody>
          <a:bodyPr wrap="square" lIns="0" tIns="0" rIns="0" bIns="0" rtlCol="0" anchor="ctr"/>
          <a:lstStyle/>
          <a:p>
            <a:pPr indent="0" marL="0">
              <a:buNone/>
            </a:pPr>
            <a:r>
              <a:rPr lang="en-US" sz="1800" b="1" dirty="0">
                <a:solidFill>
                  <a:srgbClr val="F2F5F9"/>
                </a:solidFill>
                <a:latin typeface="Cambria" pitchFamily="34" charset="0"/>
                <a:ea typeface="Cambria" pitchFamily="34" charset="-122"/>
                <a:cs typeface="Cambria" pitchFamily="34" charset="-120"/>
              </a:rPr>
              <a:t>Nicolas Greulich</a:t>
            </a:r>
            <a:endParaRPr lang="en-US" sz="1800" dirty="0"/>
          </a:p>
        </p:txBody>
      </p:sp>
      <p:sp>
        <p:nvSpPr>
          <p:cNvPr id="18" name="Text 15"/>
          <p:cNvSpPr txBox="1"/>
          <p:nvPr/>
        </p:nvSpPr>
        <p:spPr>
          <a:xfrm>
            <a:off x="7283196" y="2176272"/>
            <a:ext cx="3991356" cy="274320"/>
          </a:xfrm>
          <a:prstGeom prst="rect">
            <a:avLst/>
          </a:prstGeom>
          <a:noFill/>
          <a:ln/>
        </p:spPr>
        <p:txBody>
          <a:bodyPr wrap="square" lIns="0" tIns="0" rIns="0" bIns="0" rtlCol="0" anchor="ctr"/>
          <a:lstStyle/>
          <a:p>
            <a:pPr indent="0" marL="0">
              <a:buNone/>
            </a:pPr>
            <a:r>
              <a:rPr lang="en-US" sz="1150" dirty="0">
                <a:solidFill>
                  <a:srgbClr val="9DBAFF"/>
                </a:solidFill>
                <a:latin typeface="Calibri" pitchFamily="34" charset="0"/>
                <a:ea typeface="Calibri" pitchFamily="34" charset="-122"/>
                <a:cs typeface="Calibri" pitchFamily="34" charset="-120"/>
              </a:rPr>
              <a:t>Technik und Produktentwicklung</a:t>
            </a:r>
            <a:endParaRPr lang="en-US" sz="1150" dirty="0"/>
          </a:p>
        </p:txBody>
      </p:sp>
      <p:sp>
        <p:nvSpPr>
          <p:cNvPr id="19" name="Text 16"/>
          <p:cNvSpPr txBox="1"/>
          <p:nvPr/>
        </p:nvSpPr>
        <p:spPr>
          <a:xfrm>
            <a:off x="6597396" y="2606040"/>
            <a:ext cx="4677156" cy="914400"/>
          </a:xfrm>
          <a:prstGeom prst="rect">
            <a:avLst/>
          </a:prstGeom>
          <a:noFill/>
          <a:ln/>
        </p:spPr>
        <p:txBody>
          <a:bodyPr wrap="square" lIns="0" tIns="0" rIns="0" bIns="0" rtlCol="0" anchor="ctr"/>
          <a:lstStyle/>
          <a:p>
            <a:pPr indent="0" marL="0">
              <a:lnSpc>
                <a:spcPct val="115000"/>
              </a:lnSpc>
              <a:buNone/>
            </a:pPr>
            <a:r>
              <a:rPr lang="en-US" sz="1150" dirty="0">
                <a:solidFill>
                  <a:srgbClr val="98A3B3"/>
                </a:solidFill>
                <a:latin typeface="Calibri" pitchFamily="34" charset="0"/>
                <a:ea typeface="Calibri" pitchFamily="34" charset="-122"/>
                <a:cs typeface="Calibri" pitchFamily="34" charset="-120"/>
              </a:rPr>
              <a:t>Entscheidet über Architektur und Produkt — und damit über alles, was nachträglich nicht einbaubar ist: Standortunschärfe, Bildverarbeitung, Löschbarkeit.</a:t>
            </a:r>
            <a:endParaRPr lang="en-US" sz="1150" dirty="0"/>
          </a:p>
        </p:txBody>
      </p:sp>
      <p:sp>
        <p:nvSpPr>
          <p:cNvPr id="20" name="Shape 17"/>
          <p:cNvSpPr/>
          <p:nvPr/>
        </p:nvSpPr>
        <p:spPr>
          <a:xfrm>
            <a:off x="640080" y="3840480"/>
            <a:ext cx="5225796" cy="1463040"/>
          </a:xfrm>
          <a:prstGeom prst="roundRect">
            <a:avLst>
              <a:gd name="adj" fmla="val 3750"/>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1" name="Text 18"/>
          <p:cNvSpPr txBox="1"/>
          <p:nvPr/>
        </p:nvSpPr>
        <p:spPr>
          <a:xfrm>
            <a:off x="896112" y="4041648"/>
            <a:ext cx="4713732"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Warum ausgerechnet wir</a:t>
            </a:r>
            <a:endParaRPr lang="en-US" sz="1400" dirty="0"/>
          </a:p>
        </p:txBody>
      </p:sp>
      <p:sp>
        <p:nvSpPr>
          <p:cNvPr id="22" name="Text 19"/>
          <p:cNvSpPr txBox="1"/>
          <p:nvPr/>
        </p:nvSpPr>
        <p:spPr>
          <a:xfrm>
            <a:off x="896112" y="4389120"/>
            <a:ext cx="4713732" cy="82296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Wir gehören zur Zielgruppe, bereiten seit Juli 2026 vor und haben jede Entscheidung dokumentiert — auch jede offene.</a:t>
            </a:r>
            <a:endParaRPr lang="en-US" sz="1200" dirty="0"/>
          </a:p>
        </p:txBody>
      </p:sp>
      <p:sp>
        <p:nvSpPr>
          <p:cNvPr id="23" name="Shape 20"/>
          <p:cNvSpPr/>
          <p:nvPr/>
        </p:nvSpPr>
        <p:spPr>
          <a:xfrm>
            <a:off x="6323076" y="3840480"/>
            <a:ext cx="5225796" cy="1463040"/>
          </a:xfrm>
          <a:prstGeom prst="roundRect">
            <a:avLst>
              <a:gd name="adj" fmla="val 3750"/>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4" name="Text 21"/>
          <p:cNvSpPr txBox="1"/>
          <p:nvPr/>
        </p:nvSpPr>
        <p:spPr>
          <a:xfrm>
            <a:off x="6579108" y="4041648"/>
            <a:ext cx="4713732"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Was uns fehlt — und was wir dagegen tun</a:t>
            </a:r>
            <a:endParaRPr lang="en-US" sz="1400" dirty="0"/>
          </a:p>
        </p:txBody>
      </p:sp>
      <p:sp>
        <p:nvSpPr>
          <p:cNvPr id="25" name="Text 22"/>
          <p:cNvSpPr txBox="1"/>
          <p:nvPr/>
        </p:nvSpPr>
        <p:spPr>
          <a:xfrm>
            <a:off x="6579108" y="4389120"/>
            <a:ext cx="4713732" cy="82296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Erfahrung im Betrieb unter Last und im Aufbau eines Moderationsteams. Dafür stehen die vollständige Prüfung des Codes, ein Penetrationstest und eine Moderationskraft ab 15.000 Nutzern im Plan.</a:t>
            </a:r>
            <a:endParaRPr lang="en-US" sz="1200" dirty="0"/>
          </a:p>
        </p:txBody>
      </p:sp>
      <p:sp>
        <p:nvSpPr>
          <p:cNvPr id="26" name="Text 23"/>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Gesellschaftsvertrag, Eckpunkte: Ressortprinzip (21.09.2026) · Kostenstaffel (Moderationskraft ab 15.000 MAU) · Beschluss Nr. 73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FINANZEN</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Tiefpunkt, Break-even, Kapitalbedarf</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12</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graphicFrame>
        <p:nvGraphicFramePr>
          <p:cNvPr id="8" name="Chart 0" descr=""/>
          <p:cNvGraphicFramePr/>
          <p:nvPr/>
        </p:nvGraphicFramePr>
        <p:xfrm>
          <a:off x="640080" y="1600200"/>
          <a:ext cx="7223760" cy="31089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8138160" y="1600200"/>
            <a:ext cx="3410712" cy="932688"/>
          </a:xfrm>
          <a:prstGeom prst="roundRect">
            <a:avLst>
              <a:gd name="adj" fmla="val 5882"/>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8366760" y="1691640"/>
            <a:ext cx="3108960" cy="365760"/>
          </a:xfrm>
          <a:prstGeom prst="rect">
            <a:avLst/>
          </a:prstGeom>
          <a:noFill/>
          <a:ln/>
        </p:spPr>
        <p:txBody>
          <a:bodyPr wrap="square" lIns="0" tIns="0" rIns="0" bIns="0" rtlCol="0" anchor="ctr"/>
          <a:lstStyle/>
          <a:p>
            <a:pPr indent="0" marL="0">
              <a:buNone/>
            </a:pPr>
            <a:r>
              <a:rPr lang="en-US" sz="2100" b="1" dirty="0">
                <a:solidFill>
                  <a:srgbClr val="9DBAFF"/>
                </a:solidFill>
                <a:latin typeface="Cambria" pitchFamily="34" charset="0"/>
                <a:ea typeface="Cambria" pitchFamily="34" charset="-122"/>
                <a:cs typeface="Cambria" pitchFamily="34" charset="-120"/>
              </a:rPr>
              <a:t>−126.877 €</a:t>
            </a:r>
            <a:endParaRPr lang="en-US" sz="2100" dirty="0"/>
          </a:p>
        </p:txBody>
      </p:sp>
      <p:sp>
        <p:nvSpPr>
          <p:cNvPr id="11" name="Text 7"/>
          <p:cNvSpPr txBox="1"/>
          <p:nvPr/>
        </p:nvSpPr>
        <p:spPr>
          <a:xfrm>
            <a:off x="8366760" y="2057400"/>
            <a:ext cx="3108960"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Tiefpunkt der Kasse, erreicht in Monat 27</a:t>
            </a:r>
            <a:endParaRPr lang="en-US" sz="1050" dirty="0"/>
          </a:p>
        </p:txBody>
      </p:sp>
      <p:sp>
        <p:nvSpPr>
          <p:cNvPr id="12" name="Shape 8"/>
          <p:cNvSpPr/>
          <p:nvPr/>
        </p:nvSpPr>
        <p:spPr>
          <a:xfrm>
            <a:off x="8138160" y="2679192"/>
            <a:ext cx="3410712" cy="932688"/>
          </a:xfrm>
          <a:prstGeom prst="roundRect">
            <a:avLst>
              <a:gd name="adj" fmla="val 5882"/>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9"/>
          <p:cNvSpPr txBox="1"/>
          <p:nvPr/>
        </p:nvSpPr>
        <p:spPr>
          <a:xfrm>
            <a:off x="8366760" y="2770632"/>
            <a:ext cx="3108960" cy="365760"/>
          </a:xfrm>
          <a:prstGeom prst="rect">
            <a:avLst/>
          </a:prstGeom>
          <a:noFill/>
          <a:ln/>
        </p:spPr>
        <p:txBody>
          <a:bodyPr wrap="square" lIns="0" tIns="0" rIns="0" bIns="0" rtlCol="0" anchor="ctr"/>
          <a:lstStyle/>
          <a:p>
            <a:pPr indent="0" marL="0">
              <a:buNone/>
            </a:pPr>
            <a:r>
              <a:rPr lang="en-US" sz="2100" b="1" dirty="0">
                <a:solidFill>
                  <a:srgbClr val="9DBAFF"/>
                </a:solidFill>
                <a:latin typeface="Cambria" pitchFamily="34" charset="0"/>
                <a:ea typeface="Cambria" pitchFamily="34" charset="-122"/>
                <a:cs typeface="Cambria" pitchFamily="34" charset="-120"/>
              </a:rPr>
              <a:t>Monat 28</a:t>
            </a:r>
            <a:endParaRPr lang="en-US" sz="2100" dirty="0"/>
          </a:p>
        </p:txBody>
      </p:sp>
      <p:sp>
        <p:nvSpPr>
          <p:cNvPr id="14" name="Text 10"/>
          <p:cNvSpPr txBox="1"/>
          <p:nvPr/>
        </p:nvSpPr>
        <p:spPr>
          <a:xfrm>
            <a:off x="8366760" y="3136392"/>
            <a:ext cx="3108960"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erster Monat mit positivem Monatsergebnis</a:t>
            </a:r>
            <a:endParaRPr lang="en-US" sz="1050" dirty="0"/>
          </a:p>
        </p:txBody>
      </p:sp>
      <p:sp>
        <p:nvSpPr>
          <p:cNvPr id="15" name="Shape 11"/>
          <p:cNvSpPr/>
          <p:nvPr/>
        </p:nvSpPr>
        <p:spPr>
          <a:xfrm>
            <a:off x="8138160" y="3758184"/>
            <a:ext cx="3410712" cy="932688"/>
          </a:xfrm>
          <a:prstGeom prst="roundRect">
            <a:avLst>
              <a:gd name="adj" fmla="val 5882"/>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6" name="Text 12"/>
          <p:cNvSpPr txBox="1"/>
          <p:nvPr/>
        </p:nvSpPr>
        <p:spPr>
          <a:xfrm>
            <a:off x="8366760" y="3849624"/>
            <a:ext cx="3108960" cy="365760"/>
          </a:xfrm>
          <a:prstGeom prst="rect">
            <a:avLst/>
          </a:prstGeom>
          <a:noFill/>
          <a:ln/>
        </p:spPr>
        <p:txBody>
          <a:bodyPr wrap="square" lIns="0" tIns="0" rIns="0" bIns="0" rtlCol="0" anchor="ctr"/>
          <a:lstStyle/>
          <a:p>
            <a:pPr indent="0" marL="0">
              <a:buNone/>
            </a:pPr>
            <a:r>
              <a:rPr lang="en-US" sz="2100" b="1" dirty="0">
                <a:solidFill>
                  <a:srgbClr val="9DBAFF"/>
                </a:solidFill>
                <a:latin typeface="Cambria" pitchFamily="34" charset="0"/>
                <a:ea typeface="Cambria" pitchFamily="34" charset="-122"/>
                <a:cs typeface="Cambria" pitchFamily="34" charset="-120"/>
              </a:rPr>
              <a:t>160.253 €</a:t>
            </a:r>
            <a:endParaRPr lang="en-US" sz="2100" dirty="0"/>
          </a:p>
        </p:txBody>
      </p:sp>
      <p:sp>
        <p:nvSpPr>
          <p:cNvPr id="17" name="Text 13"/>
          <p:cNvSpPr txBox="1"/>
          <p:nvPr/>
        </p:nvSpPr>
        <p:spPr>
          <a:xfrm>
            <a:off x="8366760" y="4215384"/>
            <a:ext cx="3108960" cy="411480"/>
          </a:xfrm>
          <a:prstGeom prst="rect">
            <a:avLst/>
          </a:prstGeom>
          <a:noFill/>
          <a:ln/>
        </p:spPr>
        <p:txBody>
          <a:bodyPr wrap="square" lIns="0" tIns="0" rIns="0" bIns="0" rtlCol="0" anchor="ctr"/>
          <a:lstStyle/>
          <a:p>
            <a:pPr indent="0" marL="0">
              <a:lnSpc>
                <a:spcPct val="110000"/>
              </a:lnSpc>
              <a:buNone/>
            </a:pPr>
            <a:r>
              <a:rPr lang="en-US" sz="1050" dirty="0">
                <a:solidFill>
                  <a:srgbClr val="98A3B3"/>
                </a:solidFill>
                <a:latin typeface="Calibri" pitchFamily="34" charset="0"/>
                <a:ea typeface="Calibri" pitchFamily="34" charset="-122"/>
                <a:cs typeface="Calibri" pitchFamily="34" charset="-120"/>
              </a:rPr>
              <a:t>Kapitalbedarf der Firma inkl. Rücklage und Puffer</a:t>
            </a:r>
            <a:endParaRPr lang="en-US" sz="1050" dirty="0"/>
          </a:p>
        </p:txBody>
      </p:sp>
      <p:sp>
        <p:nvSpPr>
          <p:cNvPr id="18" name="Shape 14"/>
          <p:cNvSpPr/>
          <p:nvPr/>
        </p:nvSpPr>
        <p:spPr>
          <a:xfrm>
            <a:off x="640080" y="4846320"/>
            <a:ext cx="10908792" cy="960120"/>
          </a:xfrm>
          <a:prstGeom prst="roundRect">
            <a:avLst>
              <a:gd name="adj" fmla="val 5714"/>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9" name="Text 15"/>
          <p:cNvSpPr txBox="1"/>
          <p:nvPr/>
        </p:nvSpPr>
        <p:spPr>
          <a:xfrm>
            <a:off x="896112" y="4956048"/>
            <a:ext cx="5486400" cy="274320"/>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Die eine Rechtsfrage, an der diese Zahl hängt</a:t>
            </a:r>
            <a:endParaRPr lang="en-US" sz="1300" dirty="0"/>
          </a:p>
        </p:txBody>
      </p:sp>
      <p:sp>
        <p:nvSpPr>
          <p:cNvPr id="20" name="Text 16"/>
          <p:cNvSpPr txBox="1"/>
          <p:nvPr/>
        </p:nvSpPr>
        <p:spPr>
          <a:xfrm>
            <a:off x="896112" y="5230368"/>
            <a:ext cx="10396728" cy="502920"/>
          </a:xfrm>
          <a:prstGeom prst="rect">
            <a:avLst/>
          </a:prstGeom>
          <a:noFill/>
          <a:ln/>
        </p:spPr>
        <p:txBody>
          <a:bodyPr wrap="square" lIns="0" tIns="0" rIns="0" bIns="0" rtlCol="0" anchor="ctr"/>
          <a:lstStyle/>
          <a:p>
            <a:pPr indent="0" marL="0">
              <a:lnSpc>
                <a:spcPct val="115000"/>
              </a:lnSpc>
              <a:buNone/>
            </a:pPr>
            <a:r>
              <a:rPr lang="en-US" sz="1150" dirty="0">
                <a:solidFill>
                  <a:srgbClr val="98A3B3"/>
                </a:solidFill>
                <a:latin typeface="Calibri" pitchFamily="34" charset="0"/>
                <a:ea typeface="Calibri" pitchFamily="34" charset="-122"/>
                <a:cs typeface="Calibri" pitchFamily="34" charset="-120"/>
              </a:rPr>
              <a:t>Je nach Prüfweg beim Jugendschutz liegt der Kapitalbedarf der Firma bei 143.397 € (keine volle Identifizierung), 145.888 € (staatliche Brieftasche), 160.253 € (Online-Ausweis) oder 245.841 € (Videoidentifizierung). Geplant wird gegen den Gesamtbedarf mit Lebenshaltung: 233.053 €.</a:t>
            </a:r>
            <a:endParaRPr lang="en-US" sz="1150" dirty="0"/>
          </a:p>
        </p:txBody>
      </p:sp>
      <p:sp>
        <p:nvSpPr>
          <p:cNvPr id="21" name="Text 17"/>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finanzmodell.xlsx, Blätter „Realistisch“ und „Kennzahlen“ · vollständige Nachrechnung vom 21.09.2026 (A-52)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MEILENSTEINE</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Drei Tore, vorher schriftlich festgelegt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13</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45920"/>
            <a:ext cx="3392424" cy="2514600"/>
          </a:xfrm>
          <a:prstGeom prst="roundRect">
            <a:avLst>
              <a:gd name="adj" fmla="val 2182"/>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828800"/>
            <a:ext cx="2880360" cy="41148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Tag 90</a:t>
            </a:r>
            <a:endParaRPr lang="en-US" sz="2400" dirty="0"/>
          </a:p>
        </p:txBody>
      </p:sp>
      <p:sp>
        <p:nvSpPr>
          <p:cNvPr id="10" name="Text 7"/>
          <p:cNvSpPr txBox="1"/>
          <p:nvPr/>
        </p:nvSpPr>
        <p:spPr>
          <a:xfrm>
            <a:off x="896112" y="2240280"/>
            <a:ext cx="2880360" cy="274320"/>
          </a:xfrm>
          <a:prstGeom prst="rect">
            <a:avLst/>
          </a:prstGeom>
          <a:noFill/>
          <a:ln/>
        </p:spPr>
        <p:txBody>
          <a:bodyPr wrap="square" lIns="0" tIns="0" rIns="0" bIns="0" rtlCol="0" anchor="ctr"/>
          <a:lstStyle/>
          <a:p>
            <a:pPr indent="0" marL="0">
              <a:buNone/>
            </a:pPr>
            <a:r>
              <a:rPr lang="en-US" sz="1100" b="1" dirty="0">
                <a:solidFill>
                  <a:srgbClr val="4D7CFE"/>
                </a:solidFill>
                <a:latin typeface="Calibri" pitchFamily="34" charset="0"/>
                <a:ea typeface="Calibri" pitchFamily="34" charset="-122"/>
                <a:cs typeface="Calibri" pitchFamily="34" charset="-120"/>
              </a:rPr>
              <a:t>Tor 1 · Nachfrage</a:t>
            </a:r>
            <a:endParaRPr lang="en-US" sz="1100" dirty="0"/>
          </a:p>
        </p:txBody>
      </p:sp>
      <p:sp>
        <p:nvSpPr>
          <p:cNvPr id="11" name="Text 8"/>
          <p:cNvSpPr txBox="1"/>
          <p:nvPr/>
        </p:nvSpPr>
        <p:spPr>
          <a:xfrm>
            <a:off x="896112" y="2560320"/>
            <a:ext cx="2880360" cy="731520"/>
          </a:xfrm>
          <a:prstGeom prst="rect">
            <a:avLst/>
          </a:prstGeom>
          <a:noFill/>
          <a:ln/>
        </p:spPr>
        <p:txBody>
          <a:bodyPr wrap="square" lIns="0" tIns="0" rIns="0" bIns="0" rtlCol="0" anchor="ctr"/>
          <a:lstStyle/>
          <a:p>
            <a:pPr indent="0" marL="0">
              <a:lnSpc>
                <a:spcPct val="115000"/>
              </a:lnSpc>
              <a:buNone/>
            </a:pPr>
            <a:r>
              <a:rPr lang="en-US" sz="1200" dirty="0">
                <a:solidFill>
                  <a:srgbClr val="F2F5F9"/>
                </a:solidFill>
                <a:latin typeface="Calibri" pitchFamily="34" charset="0"/>
                <a:ea typeface="Calibri" pitchFamily="34" charset="-122"/>
                <a:cs typeface="Calibri" pitchFamily="34" charset="-120"/>
              </a:rPr>
              <a:t>&gt; 1.500 Wartelisten-Anmeldungen, davon ≥ 900 aus einer Stadt</a:t>
            </a:r>
            <a:endParaRPr lang="en-US" sz="1200" dirty="0"/>
          </a:p>
        </p:txBody>
      </p:sp>
      <p:sp>
        <p:nvSpPr>
          <p:cNvPr id="12" name="Text 9"/>
          <p:cNvSpPr txBox="1"/>
          <p:nvPr/>
        </p:nvSpPr>
        <p:spPr>
          <a:xfrm>
            <a:off x="896112" y="3383280"/>
            <a:ext cx="2880360" cy="457200"/>
          </a:xfrm>
          <a:prstGeom prst="rect">
            <a:avLst/>
          </a:prstGeom>
          <a:noFill/>
          <a:ln/>
        </p:spPr>
        <p:txBody>
          <a:bodyPr wrap="square" lIns="0" tIns="0" rIns="0" bIns="0" rtlCol="0" anchor="ctr"/>
          <a:lstStyle/>
          <a:p>
            <a:pPr indent="0" marL="0">
              <a:lnSpc>
                <a:spcPct val="110000"/>
              </a:lnSpc>
              <a:buNone/>
            </a:pPr>
            <a:r>
              <a:rPr lang="en-US" sz="1050" i="1" dirty="0">
                <a:solidFill>
                  <a:srgbClr val="98A3B3"/>
                </a:solidFill>
                <a:latin typeface="Calibri" pitchFamily="34" charset="0"/>
                <a:ea typeface="Calibri" pitchFamily="34" charset="-122"/>
                <a:cs typeface="Calibri" pitchFamily="34" charset="-120"/>
              </a:rPr>
              <a:t>Verfehlt: 90 Tage nur bei steigendem Frühindikator, dann Formatwechsel, dann geordnetes Ende</a:t>
            </a:r>
            <a:endParaRPr lang="en-US" sz="1050" dirty="0"/>
          </a:p>
        </p:txBody>
      </p:sp>
      <p:sp>
        <p:nvSpPr>
          <p:cNvPr id="13" name="Shape 10"/>
          <p:cNvSpPr/>
          <p:nvPr/>
        </p:nvSpPr>
        <p:spPr>
          <a:xfrm>
            <a:off x="4398264" y="1645920"/>
            <a:ext cx="3392424" cy="2514600"/>
          </a:xfrm>
          <a:prstGeom prst="roundRect">
            <a:avLst>
              <a:gd name="adj" fmla="val 2182"/>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4" name="Text 11"/>
          <p:cNvSpPr txBox="1"/>
          <p:nvPr/>
        </p:nvSpPr>
        <p:spPr>
          <a:xfrm>
            <a:off x="4654296" y="1828800"/>
            <a:ext cx="2880360" cy="41148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Monat 12</a:t>
            </a:r>
            <a:endParaRPr lang="en-US" sz="2400" dirty="0"/>
          </a:p>
        </p:txBody>
      </p:sp>
      <p:sp>
        <p:nvSpPr>
          <p:cNvPr id="15" name="Text 12"/>
          <p:cNvSpPr txBox="1"/>
          <p:nvPr/>
        </p:nvSpPr>
        <p:spPr>
          <a:xfrm>
            <a:off x="4654296" y="2240280"/>
            <a:ext cx="2880360" cy="274320"/>
          </a:xfrm>
          <a:prstGeom prst="rect">
            <a:avLst/>
          </a:prstGeom>
          <a:noFill/>
          <a:ln/>
        </p:spPr>
        <p:txBody>
          <a:bodyPr wrap="square" lIns="0" tIns="0" rIns="0" bIns="0" rtlCol="0" anchor="ctr"/>
          <a:lstStyle/>
          <a:p>
            <a:pPr indent="0" marL="0">
              <a:buNone/>
            </a:pPr>
            <a:r>
              <a:rPr lang="en-US" sz="1100" b="1" dirty="0">
                <a:solidFill>
                  <a:srgbClr val="4D7CFE"/>
                </a:solidFill>
                <a:latin typeface="Calibri" pitchFamily="34" charset="0"/>
                <a:ea typeface="Calibri" pitchFamily="34" charset="-122"/>
                <a:cs typeface="Calibri" pitchFamily="34" charset="-120"/>
              </a:rPr>
              <a:t>Tor 2 · Kanal</a:t>
            </a:r>
            <a:endParaRPr lang="en-US" sz="1100" dirty="0"/>
          </a:p>
        </p:txBody>
      </p:sp>
      <p:sp>
        <p:nvSpPr>
          <p:cNvPr id="16" name="Text 13"/>
          <p:cNvSpPr txBox="1"/>
          <p:nvPr/>
        </p:nvSpPr>
        <p:spPr>
          <a:xfrm>
            <a:off x="4654296" y="2560320"/>
            <a:ext cx="2880360" cy="731520"/>
          </a:xfrm>
          <a:prstGeom prst="rect">
            <a:avLst/>
          </a:prstGeom>
          <a:noFill/>
          <a:ln/>
        </p:spPr>
        <p:txBody>
          <a:bodyPr wrap="square" lIns="0" tIns="0" rIns="0" bIns="0" rtlCol="0" anchor="ctr"/>
          <a:lstStyle/>
          <a:p>
            <a:pPr indent="0" marL="0">
              <a:lnSpc>
                <a:spcPct val="115000"/>
              </a:lnSpc>
              <a:buNone/>
            </a:pPr>
            <a:r>
              <a:rPr lang="en-US" sz="1200" dirty="0">
                <a:solidFill>
                  <a:srgbClr val="F2F5F9"/>
                </a:solidFill>
                <a:latin typeface="Calibri" pitchFamily="34" charset="0"/>
                <a:ea typeface="Calibri" pitchFamily="34" charset="-122"/>
                <a:cs typeface="Calibri" pitchFamily="34" charset="-120"/>
              </a:rPr>
              <a:t>≥ 5.000 echte Follower und 800 Installationen über eigene Kanäle</a:t>
            </a:r>
            <a:endParaRPr lang="en-US" sz="1200" dirty="0"/>
          </a:p>
        </p:txBody>
      </p:sp>
      <p:sp>
        <p:nvSpPr>
          <p:cNvPr id="17" name="Text 14"/>
          <p:cNvSpPr txBox="1"/>
          <p:nvPr/>
        </p:nvSpPr>
        <p:spPr>
          <a:xfrm>
            <a:off x="4654296" y="3383280"/>
            <a:ext cx="2880360" cy="457200"/>
          </a:xfrm>
          <a:prstGeom prst="rect">
            <a:avLst/>
          </a:prstGeom>
          <a:noFill/>
          <a:ln/>
        </p:spPr>
        <p:txBody>
          <a:bodyPr wrap="square" lIns="0" tIns="0" rIns="0" bIns="0" rtlCol="0" anchor="ctr"/>
          <a:lstStyle/>
          <a:p>
            <a:pPr indent="0" marL="0">
              <a:lnSpc>
                <a:spcPct val="110000"/>
              </a:lnSpc>
              <a:buNone/>
            </a:pPr>
            <a:r>
              <a:rPr lang="en-US" sz="1050" i="1" dirty="0">
                <a:solidFill>
                  <a:srgbClr val="98A3B3"/>
                </a:solidFill>
                <a:latin typeface="Calibri" pitchFamily="34" charset="0"/>
                <a:ea typeface="Calibri" pitchFamily="34" charset="-122"/>
                <a:cs typeface="Calibri" pitchFamily="34" charset="-120"/>
              </a:rPr>
              <a:t>Verfehlt: Format ändern; nach sechs Monaten ohne Erfolg geordnet beenden</a:t>
            </a:r>
            <a:endParaRPr lang="en-US" sz="1050" dirty="0"/>
          </a:p>
        </p:txBody>
      </p:sp>
      <p:sp>
        <p:nvSpPr>
          <p:cNvPr id="18" name="Shape 15"/>
          <p:cNvSpPr/>
          <p:nvPr/>
        </p:nvSpPr>
        <p:spPr>
          <a:xfrm>
            <a:off x="8156448" y="1645920"/>
            <a:ext cx="3392424" cy="2514600"/>
          </a:xfrm>
          <a:prstGeom prst="roundRect">
            <a:avLst>
              <a:gd name="adj" fmla="val 2182"/>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9" name="Text 16"/>
          <p:cNvSpPr txBox="1"/>
          <p:nvPr/>
        </p:nvSpPr>
        <p:spPr>
          <a:xfrm>
            <a:off x="8412480" y="1828800"/>
            <a:ext cx="2880360" cy="411480"/>
          </a:xfrm>
          <a:prstGeom prst="rect">
            <a:avLst/>
          </a:prstGeom>
          <a:noFill/>
          <a:ln/>
        </p:spPr>
        <p:txBody>
          <a:bodyPr wrap="square" lIns="0" tIns="0" rIns="0" bIns="0" rtlCol="0" anchor="ctr"/>
          <a:lstStyle/>
          <a:p>
            <a:pPr indent="0" marL="0">
              <a:buNone/>
            </a:pPr>
            <a:r>
              <a:rPr lang="en-US" sz="2400" b="1" dirty="0">
                <a:solidFill>
                  <a:srgbClr val="9DBAFF"/>
                </a:solidFill>
                <a:latin typeface="Cambria" pitchFamily="34" charset="0"/>
                <a:ea typeface="Cambria" pitchFamily="34" charset="-122"/>
                <a:cs typeface="Cambria" pitchFamily="34" charset="-120"/>
              </a:rPr>
              <a:t>Monat 15</a:t>
            </a:r>
            <a:endParaRPr lang="en-US" sz="2400" dirty="0"/>
          </a:p>
        </p:txBody>
      </p:sp>
      <p:sp>
        <p:nvSpPr>
          <p:cNvPr id="20" name="Text 17"/>
          <p:cNvSpPr txBox="1"/>
          <p:nvPr/>
        </p:nvSpPr>
        <p:spPr>
          <a:xfrm>
            <a:off x="8412480" y="2240280"/>
            <a:ext cx="2880360" cy="274320"/>
          </a:xfrm>
          <a:prstGeom prst="rect">
            <a:avLst/>
          </a:prstGeom>
          <a:noFill/>
          <a:ln/>
        </p:spPr>
        <p:txBody>
          <a:bodyPr wrap="square" lIns="0" tIns="0" rIns="0" bIns="0" rtlCol="0" anchor="ctr"/>
          <a:lstStyle/>
          <a:p>
            <a:pPr indent="0" marL="0">
              <a:buNone/>
            </a:pPr>
            <a:r>
              <a:rPr lang="en-US" sz="1100" b="1" dirty="0">
                <a:solidFill>
                  <a:srgbClr val="4D7CFE"/>
                </a:solidFill>
                <a:latin typeface="Calibri" pitchFamily="34" charset="0"/>
                <a:ea typeface="Calibri" pitchFamily="34" charset="-122"/>
                <a:cs typeface="Calibri" pitchFamily="34" charset="-120"/>
              </a:rPr>
              <a:t>Tor 3 · Dichte</a:t>
            </a:r>
            <a:endParaRPr lang="en-US" sz="1100" dirty="0"/>
          </a:p>
        </p:txBody>
      </p:sp>
      <p:sp>
        <p:nvSpPr>
          <p:cNvPr id="21" name="Text 18"/>
          <p:cNvSpPr txBox="1"/>
          <p:nvPr/>
        </p:nvSpPr>
        <p:spPr>
          <a:xfrm>
            <a:off x="8412480" y="2560320"/>
            <a:ext cx="2880360" cy="731520"/>
          </a:xfrm>
          <a:prstGeom prst="rect">
            <a:avLst/>
          </a:prstGeom>
          <a:noFill/>
          <a:ln/>
        </p:spPr>
        <p:txBody>
          <a:bodyPr wrap="square" lIns="0" tIns="0" rIns="0" bIns="0" rtlCol="0" anchor="ctr"/>
          <a:lstStyle/>
          <a:p>
            <a:pPr indent="0" marL="0">
              <a:lnSpc>
                <a:spcPct val="115000"/>
              </a:lnSpc>
              <a:buNone/>
            </a:pPr>
            <a:r>
              <a:rPr lang="en-US" sz="1200" dirty="0">
                <a:solidFill>
                  <a:srgbClr val="F2F5F9"/>
                </a:solidFill>
                <a:latin typeface="Calibri" pitchFamily="34" charset="0"/>
                <a:ea typeface="Calibri" pitchFamily="34" charset="-122"/>
                <a:cs typeface="Calibri" pitchFamily="34" charset="-120"/>
              </a:rPr>
              <a:t>≥ 3.500 aktive Nutzer in Köln</a:t>
            </a:r>
            <a:endParaRPr lang="en-US" sz="1200" dirty="0"/>
          </a:p>
        </p:txBody>
      </p:sp>
      <p:sp>
        <p:nvSpPr>
          <p:cNvPr id="22" name="Text 19"/>
          <p:cNvSpPr txBox="1"/>
          <p:nvPr/>
        </p:nvSpPr>
        <p:spPr>
          <a:xfrm>
            <a:off x="8412480" y="3383280"/>
            <a:ext cx="2880360" cy="457200"/>
          </a:xfrm>
          <a:prstGeom prst="rect">
            <a:avLst/>
          </a:prstGeom>
          <a:noFill/>
          <a:ln/>
        </p:spPr>
        <p:txBody>
          <a:bodyPr wrap="square" lIns="0" tIns="0" rIns="0" bIns="0" rtlCol="0" anchor="ctr"/>
          <a:lstStyle/>
          <a:p>
            <a:pPr indent="0" marL="0">
              <a:lnSpc>
                <a:spcPct val="110000"/>
              </a:lnSpc>
              <a:buNone/>
            </a:pPr>
            <a:r>
              <a:rPr lang="en-US" sz="1050" i="1" dirty="0">
                <a:solidFill>
                  <a:srgbClr val="98A3B3"/>
                </a:solidFill>
                <a:latin typeface="Calibri" pitchFamily="34" charset="0"/>
                <a:ea typeface="Calibri" pitchFamily="34" charset="-122"/>
                <a:cs typeface="Calibri" pitchFamily="34" charset="-120"/>
              </a:rPr>
              <a:t>Verfehlt: die These ist widerlegt</a:t>
            </a:r>
            <a:endParaRPr lang="en-US" sz="1050" dirty="0"/>
          </a:p>
        </p:txBody>
      </p:sp>
      <p:sp>
        <p:nvSpPr>
          <p:cNvPr id="23" name="Shape 20"/>
          <p:cNvSpPr/>
          <p:nvPr/>
        </p:nvSpPr>
        <p:spPr>
          <a:xfrm>
            <a:off x="640080" y="4343400"/>
            <a:ext cx="10908792" cy="1325880"/>
          </a:xfrm>
          <a:prstGeom prst="roundRect">
            <a:avLst>
              <a:gd name="adj" fmla="val 4138"/>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4" name="Text 21"/>
          <p:cNvSpPr txBox="1"/>
          <p:nvPr/>
        </p:nvSpPr>
        <p:spPr>
          <a:xfrm>
            <a:off x="896112" y="4480560"/>
            <a:ext cx="5486400" cy="274320"/>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Der Kapitalfahrplan dahinter</a:t>
            </a:r>
            <a:endParaRPr lang="en-US" sz="1300" dirty="0"/>
          </a:p>
        </p:txBody>
      </p:sp>
      <p:sp>
        <p:nvSpPr>
          <p:cNvPr id="25" name="Text 22"/>
          <p:cNvSpPr txBox="1"/>
          <p:nvPr/>
        </p:nvSpPr>
        <p:spPr>
          <a:xfrm>
            <a:off x="896112" y="4800600"/>
            <a:ext cx="10396728" cy="7772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98A3B3"/>
                </a:solidFill>
                <a:latin typeface="Calibri" pitchFamily="34" charset="0"/>
                <a:ea typeface="Calibri" pitchFamily="34" charset="-122"/>
                <a:cs typeface="Calibri" pitchFamily="34" charset="-120"/>
              </a:rPr>
              <a:t>Monat 1–6: Gründungsstipendium, falls es fortgeführt wird, und Gründungswettbewerbe</a:t>
            </a:r>
            <a:endParaRPr lang="en-US" sz="1150" dirty="0"/>
          </a:p>
          <a:p>
            <a:pPr marL="342900" indent="-342900">
              <a:spcAft>
                <a:spcPts val="400"/>
              </a:spcAft>
              <a:buSzPct val="100000"/>
              <a:buChar char="•"/>
            </a:pPr>
            <a:r>
              <a:rPr lang="en-US" sz="1150" dirty="0">
                <a:solidFill>
                  <a:srgbClr val="98A3B3"/>
                </a:solidFill>
                <a:latin typeface="Calibri" pitchFamily="34" charset="0"/>
                <a:ea typeface="Calibri" pitchFamily="34" charset="-122"/>
                <a:cs typeface="Calibri" pitchFamily="34" charset="-120"/>
              </a:rPr>
              <a:t>Monat 6–10: Crowdfunding ab 1.000 Wartelisten-Einträgen — Mindestbetrag 10.800 €</a:t>
            </a:r>
            <a:endParaRPr lang="en-US" sz="1150" dirty="0"/>
          </a:p>
          <a:p>
            <a:pPr marL="342900" indent="-342900">
              <a:spcAft>
                <a:spcPts val="400"/>
              </a:spcAft>
              <a:buSzPct val="100000"/>
              <a:buChar char="•"/>
            </a:pPr>
            <a:r>
              <a:rPr lang="en-US" sz="1150" dirty="0">
                <a:solidFill>
                  <a:srgbClr val="98A3B3"/>
                </a:solidFill>
                <a:latin typeface="Calibri" pitchFamily="34" charset="0"/>
                <a:ea typeface="Calibri" pitchFamily="34" charset="-122"/>
                <a:cs typeface="Calibri" pitchFamily="34" charset="-120"/>
              </a:rPr>
              <a:t>Monat 12–30: Mikromezzanin, danach Angel-Kapital — erst mit belegter Wiederkehr</a:t>
            </a:r>
            <a:endParaRPr lang="en-US" sz="1150" dirty="0"/>
          </a:p>
        </p:txBody>
      </p:sp>
      <p:sp>
        <p:nvSpPr>
          <p:cNvPr id="26" name="Text 23"/>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B, Prüftore und Kapitalfahrplan · Beschluss Nr. 15 · Zeitrechnung für Tor 2 offen (Nr. 57) · crowdfunding-konzept.md, Fassung 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DER ASK</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Was wir suchen — und was wir dafür nicht anbieten</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14</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Investorenpräsentation · ENTWURF · Stand 26.09.2026</a:t>
            </a:r>
            <a:endParaRPr lang="en-US" sz="900" dirty="0"/>
          </a:p>
        </p:txBody>
      </p:sp>
      <p:sp>
        <p:nvSpPr>
          <p:cNvPr id="8" name="Shape 5"/>
          <p:cNvSpPr/>
          <p:nvPr/>
        </p:nvSpPr>
        <p:spPr>
          <a:xfrm>
            <a:off x="640080" y="1600200"/>
            <a:ext cx="5852160" cy="3017520"/>
          </a:xfrm>
          <a:prstGeom prst="roundRect">
            <a:avLst>
              <a:gd name="adj" fmla="val 181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14400" y="1783080"/>
            <a:ext cx="5303520" cy="320040"/>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Die ehrliche Lücke</a:t>
            </a:r>
            <a:endParaRPr lang="en-US" sz="1500" dirty="0"/>
          </a:p>
        </p:txBody>
      </p:sp>
      <p:sp>
        <p:nvSpPr>
          <p:cNvPr id="10" name="Text 7"/>
          <p:cNvSpPr txBox="1"/>
          <p:nvPr/>
        </p:nvSpPr>
        <p:spPr>
          <a:xfrm>
            <a:off x="914400" y="2240280"/>
            <a:ext cx="3840480" cy="32004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Kapitalbedarf der Firma</a:t>
            </a:r>
            <a:endParaRPr lang="en-US" sz="1200" dirty="0"/>
          </a:p>
        </p:txBody>
      </p:sp>
      <p:sp>
        <p:nvSpPr>
          <p:cNvPr id="11" name="Text 8"/>
          <p:cNvSpPr txBox="1"/>
          <p:nvPr/>
        </p:nvSpPr>
        <p:spPr>
          <a:xfrm>
            <a:off x="4663440" y="2240280"/>
            <a:ext cx="1554480" cy="320040"/>
          </a:xfrm>
          <a:prstGeom prst="rect">
            <a:avLst/>
          </a:prstGeom>
          <a:noFill/>
          <a:ln/>
        </p:spPr>
        <p:txBody>
          <a:bodyPr wrap="square" lIns="0" tIns="0" rIns="0" bIns="0" rtlCol="0" anchor="ctr"/>
          <a:lstStyle/>
          <a:p>
            <a:pPr algn="r" indent="0" marL="0">
              <a:buNone/>
            </a:pPr>
            <a:r>
              <a:rPr lang="en-US" sz="1200" b="1" dirty="0">
                <a:solidFill>
                  <a:srgbClr val="F2F5F9"/>
                </a:solidFill>
                <a:latin typeface="Calibri" pitchFamily="34" charset="0"/>
                <a:ea typeface="Calibri" pitchFamily="34" charset="-122"/>
                <a:cs typeface="Calibri" pitchFamily="34" charset="-120"/>
              </a:rPr>
              <a:t>160.253 €</a:t>
            </a:r>
            <a:endParaRPr lang="en-US" sz="1200" dirty="0"/>
          </a:p>
        </p:txBody>
      </p:sp>
      <p:sp>
        <p:nvSpPr>
          <p:cNvPr id="12" name="Text 9"/>
          <p:cNvSpPr txBox="1"/>
          <p:nvPr/>
        </p:nvSpPr>
        <p:spPr>
          <a:xfrm>
            <a:off x="914400" y="2788920"/>
            <a:ext cx="3840480" cy="32004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Lebenshaltung beider Gründer bis Break-even</a:t>
            </a:r>
            <a:endParaRPr lang="en-US" sz="1200" dirty="0"/>
          </a:p>
        </p:txBody>
      </p:sp>
      <p:sp>
        <p:nvSpPr>
          <p:cNvPr id="13" name="Text 10"/>
          <p:cNvSpPr txBox="1"/>
          <p:nvPr/>
        </p:nvSpPr>
        <p:spPr>
          <a:xfrm>
            <a:off x="4663440" y="2788920"/>
            <a:ext cx="1554480" cy="320040"/>
          </a:xfrm>
          <a:prstGeom prst="rect">
            <a:avLst/>
          </a:prstGeom>
          <a:noFill/>
          <a:ln/>
        </p:spPr>
        <p:txBody>
          <a:bodyPr wrap="square" lIns="0" tIns="0" rIns="0" bIns="0" rtlCol="0" anchor="ctr"/>
          <a:lstStyle/>
          <a:p>
            <a:pPr algn="r" indent="0" marL="0">
              <a:buNone/>
            </a:pPr>
            <a:r>
              <a:rPr lang="en-US" sz="1200" b="1" dirty="0">
                <a:solidFill>
                  <a:srgbClr val="F2F5F9"/>
                </a:solidFill>
                <a:latin typeface="Calibri" pitchFamily="34" charset="0"/>
                <a:ea typeface="Calibri" pitchFamily="34" charset="-122"/>
                <a:cs typeface="Calibri" pitchFamily="34" charset="-120"/>
              </a:rPr>
              <a:t>61.600 €</a:t>
            </a:r>
            <a:endParaRPr lang="en-US" sz="1200" dirty="0"/>
          </a:p>
        </p:txBody>
      </p:sp>
      <p:sp>
        <p:nvSpPr>
          <p:cNvPr id="14" name="Text 11"/>
          <p:cNvSpPr txBox="1"/>
          <p:nvPr/>
        </p:nvSpPr>
        <p:spPr>
          <a:xfrm>
            <a:off x="914400" y="3337560"/>
            <a:ext cx="3840480" cy="32004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Krankenversicherung beider Gründer</a:t>
            </a:r>
            <a:endParaRPr lang="en-US" sz="1200" dirty="0"/>
          </a:p>
        </p:txBody>
      </p:sp>
      <p:sp>
        <p:nvSpPr>
          <p:cNvPr id="15" name="Text 12"/>
          <p:cNvSpPr txBox="1"/>
          <p:nvPr/>
        </p:nvSpPr>
        <p:spPr>
          <a:xfrm>
            <a:off x="4663440" y="3337560"/>
            <a:ext cx="1554480" cy="320040"/>
          </a:xfrm>
          <a:prstGeom prst="rect">
            <a:avLst/>
          </a:prstGeom>
          <a:noFill/>
          <a:ln/>
        </p:spPr>
        <p:txBody>
          <a:bodyPr wrap="square" lIns="0" tIns="0" rIns="0" bIns="0" rtlCol="0" anchor="ctr"/>
          <a:lstStyle/>
          <a:p>
            <a:pPr algn="r" indent="0" marL="0">
              <a:buNone/>
            </a:pPr>
            <a:r>
              <a:rPr lang="en-US" sz="1200" b="1" dirty="0">
                <a:solidFill>
                  <a:srgbClr val="F2F5F9"/>
                </a:solidFill>
                <a:latin typeface="Calibri" pitchFamily="34" charset="0"/>
                <a:ea typeface="Calibri" pitchFamily="34" charset="-122"/>
                <a:cs typeface="Calibri" pitchFamily="34" charset="-120"/>
              </a:rPr>
              <a:t>11.200 €</a:t>
            </a:r>
            <a:endParaRPr lang="en-US" sz="1200" dirty="0"/>
          </a:p>
        </p:txBody>
      </p:sp>
      <p:sp>
        <p:nvSpPr>
          <p:cNvPr id="16" name="Text 13"/>
          <p:cNvSpPr txBox="1"/>
          <p:nvPr/>
        </p:nvSpPr>
        <p:spPr>
          <a:xfrm>
            <a:off x="914400" y="3886200"/>
            <a:ext cx="3840480" cy="32004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Gesamtlücke im realistischen Fall</a:t>
            </a:r>
            <a:endParaRPr lang="en-US" sz="1200" dirty="0"/>
          </a:p>
        </p:txBody>
      </p:sp>
      <p:sp>
        <p:nvSpPr>
          <p:cNvPr id="17" name="Text 14"/>
          <p:cNvSpPr txBox="1"/>
          <p:nvPr/>
        </p:nvSpPr>
        <p:spPr>
          <a:xfrm>
            <a:off x="4663440" y="3886200"/>
            <a:ext cx="1554480" cy="320040"/>
          </a:xfrm>
          <a:prstGeom prst="rect">
            <a:avLst/>
          </a:prstGeom>
          <a:noFill/>
          <a:ln/>
        </p:spPr>
        <p:txBody>
          <a:bodyPr wrap="square" lIns="0" tIns="0" rIns="0" bIns="0" rtlCol="0" anchor="ctr"/>
          <a:lstStyle/>
          <a:p>
            <a:pPr algn="r" indent="0" marL="0">
              <a:buNone/>
            </a:pPr>
            <a:r>
              <a:rPr lang="en-US" sz="1200" b="1" dirty="0">
                <a:solidFill>
                  <a:srgbClr val="F2F5F9"/>
                </a:solidFill>
                <a:latin typeface="Calibri" pitchFamily="34" charset="0"/>
                <a:ea typeface="Calibri" pitchFamily="34" charset="-122"/>
                <a:cs typeface="Calibri" pitchFamily="34" charset="-120"/>
              </a:rPr>
              <a:t>233.053 €</a:t>
            </a:r>
            <a:endParaRPr lang="en-US" sz="1200" dirty="0"/>
          </a:p>
        </p:txBody>
      </p:sp>
      <p:sp>
        <p:nvSpPr>
          <p:cNvPr id="18" name="Text 15"/>
          <p:cNvSpPr txBox="1"/>
          <p:nvPr/>
        </p:nvSpPr>
        <p:spPr>
          <a:xfrm>
            <a:off x="914400" y="4434840"/>
            <a:ext cx="3840480" cy="320040"/>
          </a:xfrm>
          <a:prstGeom prst="rect">
            <a:avLst/>
          </a:prstGeom>
          <a:noFill/>
          <a:ln/>
        </p:spPr>
        <p:txBody>
          <a:bodyPr wrap="square" lIns="0" tIns="0" rIns="0" bIns="0" rtlCol="0" anchor="ctr"/>
          <a:lstStyle/>
          <a:p>
            <a:pPr indent="0" marL="0">
              <a:buNone/>
            </a:pPr>
            <a:r>
              <a:rPr lang="en-US" sz="1200" b="1" dirty="0">
                <a:solidFill>
                  <a:srgbClr val="F2F5F9"/>
                </a:solidFill>
                <a:latin typeface="Calibri" pitchFamily="34" charset="0"/>
                <a:ea typeface="Calibri" pitchFamily="34" charset="-122"/>
                <a:cs typeface="Calibri" pitchFamily="34" charset="-120"/>
              </a:rPr>
              <a:t>dazu benannte Reserve bis zum pessimistischen Fall</a:t>
            </a:r>
            <a:endParaRPr lang="en-US" sz="1200" dirty="0"/>
          </a:p>
        </p:txBody>
      </p:sp>
      <p:sp>
        <p:nvSpPr>
          <p:cNvPr id="19" name="Text 16"/>
          <p:cNvSpPr txBox="1"/>
          <p:nvPr/>
        </p:nvSpPr>
        <p:spPr>
          <a:xfrm>
            <a:off x="4663440" y="4434840"/>
            <a:ext cx="1554480" cy="320040"/>
          </a:xfrm>
          <a:prstGeom prst="rect">
            <a:avLst/>
          </a:prstGeom>
          <a:noFill/>
          <a:ln/>
        </p:spPr>
        <p:txBody>
          <a:bodyPr wrap="square" lIns="0" tIns="0" rIns="0" bIns="0" rtlCol="0" anchor="ctr"/>
          <a:lstStyle/>
          <a:p>
            <a:pPr algn="r" indent="0" marL="0">
              <a:buNone/>
            </a:pPr>
            <a:r>
              <a:rPr lang="en-US" sz="1400" b="1" dirty="0">
                <a:solidFill>
                  <a:srgbClr val="9DBAFF"/>
                </a:solidFill>
                <a:latin typeface="Calibri" pitchFamily="34" charset="0"/>
                <a:ea typeface="Calibri" pitchFamily="34" charset="-122"/>
                <a:cs typeface="Calibri" pitchFamily="34" charset="-120"/>
              </a:rPr>
              <a:t>42.808 €</a:t>
            </a:r>
            <a:endParaRPr lang="en-US" sz="1400" dirty="0"/>
          </a:p>
        </p:txBody>
      </p:sp>
      <p:sp>
        <p:nvSpPr>
          <p:cNvPr id="20" name="Shape 17"/>
          <p:cNvSpPr/>
          <p:nvPr/>
        </p:nvSpPr>
        <p:spPr>
          <a:xfrm>
            <a:off x="6766560" y="1600200"/>
            <a:ext cx="4782312" cy="3017520"/>
          </a:xfrm>
          <a:prstGeom prst="roundRect">
            <a:avLst>
              <a:gd name="adj" fmla="val 1818"/>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1" name="Text 18"/>
          <p:cNvSpPr txBox="1"/>
          <p:nvPr/>
        </p:nvSpPr>
        <p:spPr>
          <a:xfrm>
            <a:off x="7040880" y="1783080"/>
            <a:ext cx="4572000" cy="320040"/>
          </a:xfrm>
          <a:prstGeom prst="rect">
            <a:avLst/>
          </a:prstGeom>
          <a:noFill/>
          <a:ln/>
        </p:spPr>
        <p:txBody>
          <a:bodyPr wrap="square" lIns="0" tIns="0" rIns="0" bIns="0" rtlCol="0" anchor="ctr"/>
          <a:lstStyle/>
          <a:p>
            <a:pPr indent="0" marL="0">
              <a:buNone/>
            </a:pPr>
            <a:r>
              <a:rPr lang="en-US" sz="1500" b="1" dirty="0">
                <a:solidFill>
                  <a:srgbClr val="F2F5F9"/>
                </a:solidFill>
                <a:latin typeface="Calibri" pitchFamily="34" charset="0"/>
                <a:ea typeface="Calibri" pitchFamily="34" charset="-122"/>
                <a:cs typeface="Calibri" pitchFamily="34" charset="-120"/>
              </a:rPr>
              <a:t>Womit die Lücke kleiner wird — zugesagt ist nichts</a:t>
            </a:r>
            <a:endParaRPr lang="en-US" sz="1500" dirty="0"/>
          </a:p>
        </p:txBody>
      </p:sp>
      <p:sp>
        <p:nvSpPr>
          <p:cNvPr id="22" name="Text 19"/>
          <p:cNvSpPr txBox="1"/>
          <p:nvPr/>
        </p:nvSpPr>
        <p:spPr>
          <a:xfrm>
            <a:off x="7040880" y="2194560"/>
            <a:ext cx="4251960" cy="219456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Eigenmittel der Gründer: offen — sie entscheiden über die Startbahn; allein die Stammeinlage beträgt 25.000 €</a:t>
            </a:r>
            <a:endParaRPr lang="en-US" sz="1150" dirty="0"/>
          </a:p>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Crowdfunding: Mindestbetrag 10.800 €, Wunschbetrag 38.900 €</a:t>
            </a:r>
            <a:endParaRPr lang="en-US" sz="1150" dirty="0"/>
          </a:p>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Vorverkauf von Jahresabos an die Warteliste: rechnerisch bis 35.000 € — rechtlich noch zu prüfen</a:t>
            </a:r>
            <a:endParaRPr lang="en-US" sz="1150" dirty="0"/>
          </a:p>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Gründungsstipendium: rund 22.000 € für zwei Personen, nur Lebensunterhalt — falls es fortgeführt wird</a:t>
            </a:r>
            <a:endParaRPr lang="en-US" sz="1150" dirty="0"/>
          </a:p>
        </p:txBody>
      </p:sp>
      <p:sp>
        <p:nvSpPr>
          <p:cNvPr id="23" name="Shape 20"/>
          <p:cNvSpPr/>
          <p:nvPr/>
        </p:nvSpPr>
        <p:spPr>
          <a:xfrm>
            <a:off x="640080" y="4800600"/>
            <a:ext cx="10908792" cy="1005840"/>
          </a:xfrm>
          <a:prstGeom prst="roundRect">
            <a:avLst>
              <a:gd name="adj" fmla="val 5455"/>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4" name="Text 21"/>
          <p:cNvSpPr txBox="1"/>
          <p:nvPr/>
        </p:nvSpPr>
        <p:spPr>
          <a:xfrm>
            <a:off x="914400" y="4983480"/>
            <a:ext cx="10360152" cy="685800"/>
          </a:xfrm>
          <a:prstGeom prst="rect">
            <a:avLst/>
          </a:prstGeom>
          <a:noFill/>
          <a:ln/>
        </p:spPr>
        <p:txBody>
          <a:bodyPr wrap="square" lIns="0" tIns="0" rIns="0" bIns="0" rtlCol="0" anchor="ctr"/>
          <a:lstStyle/>
          <a:p>
            <a:pPr indent="0" marL="0">
              <a:lnSpc>
                <a:spcPct val="115000"/>
              </a:lnSpc>
              <a:buNone/>
            </a:pPr>
            <a:r>
              <a:rPr lang="en-US" sz="1250" dirty="0">
                <a:solidFill>
                  <a:srgbClr val="F2F5F9"/>
                </a:solidFill>
                <a:latin typeface="Calibri" pitchFamily="34" charset="0"/>
                <a:ea typeface="Calibri" pitchFamily="34" charset="-122"/>
                <a:cs typeface="Calibri" pitchFamily="34" charset="-120"/>
              </a:rPr>
              <a:t>Was wir nicht anbieten: Wachstum um jeden Preis. Dieses Produkt begrenzt seine Erlöse bewusst — keine Werbung, kein Datenverkauf, keine bezahlte Sichtbarkeit. Wer das als Fehler liest, ist der falsche Partner.</a:t>
            </a:r>
            <a:endParaRPr lang="en-US" sz="1250" dirty="0"/>
          </a:p>
        </p:txBody>
      </p:sp>
      <p:sp>
        <p:nvSpPr>
          <p:cNvPr id="25" name="Text 22"/>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finanzmodell.xlsx, Blätter „Kennzahlen“ und „Finanzierungswege“ · crowdfunding-konzept.md, Fassung 2 · Anwaltsfrage R16 (Vorverkauf)</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Cruizy — Investorenpräsentation (ENTWURF)</dc:title>
  <dc:subject>PptxGenJS Presentation</dc:subject>
  <dc:creator>Henry Luca Kurz, Nicolas Greulich</dc:creator>
  <cp:lastModifiedBy>Henry Luca Kurz, Nicolas Greulich</cp:lastModifiedBy>
  <cp:revision>1</cp:revision>
  <dcterms:created xsi:type="dcterms:W3CDTF">2026-09-27T16:00:40Z</dcterms:created>
  <dcterms:modified xsi:type="dcterms:W3CDTF">2026-09-27T16:00:40Z</dcterms:modified>
</cp:coreProperties>
</file>